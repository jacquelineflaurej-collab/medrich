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78" r:id="rId2"/>
    <p:sldId id="267" r:id="rId3"/>
    <p:sldId id="274" r:id="rId4"/>
    <p:sldId id="275" r:id="rId5"/>
    <p:sldId id="276" r:id="rId6"/>
    <p:sldId id="277" r:id="rId7"/>
    <p:sldId id="279" r:id="rId8"/>
    <p:sldId id="280" r:id="rId9"/>
    <p:sldId id="281" r:id="rId10"/>
    <p:sldId id="282" r:id="rId11"/>
    <p:sldId id="283" r:id="rId12"/>
    <p:sldId id="286" r:id="rId13"/>
    <p:sldId id="287" r:id="rId14"/>
    <p:sldId id="288" r:id="rId15"/>
    <p:sldId id="289" r:id="rId16"/>
    <p:sldId id="290" r:id="rId17"/>
    <p:sldId id="291" r:id="rId18"/>
    <p:sldId id="292" r:id="rId19"/>
    <p:sldId id="301" r:id="rId20"/>
    <p:sldId id="302" r:id="rId21"/>
    <p:sldId id="300"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722E6"/>
    <a:srgbClr val="E523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Style léger 3 - Accentuation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1290"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HT"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CA4DCC-BA13-4020-9357-34E2B7E8A644}" type="datetimeFigureOut">
              <a:rPr lang="fr-HT" smtClean="0"/>
              <a:t>15/01/2024</a:t>
            </a:fld>
            <a:endParaRPr lang="fr-HT" dirty="0"/>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HT"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HT"/>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HT"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B24712-DA39-4F21-AA9A-F3F9719499C9}" type="slidenum">
              <a:rPr lang="fr-HT" smtClean="0"/>
              <a:t>‹#›</a:t>
            </a:fld>
            <a:endParaRPr lang="fr-HT" dirty="0"/>
          </a:p>
        </p:txBody>
      </p:sp>
    </p:spTree>
    <p:extLst>
      <p:ext uri="{BB962C8B-B14F-4D97-AF65-F5344CB8AC3E}">
        <p14:creationId xmlns:p14="http://schemas.microsoft.com/office/powerpoint/2010/main" val="255612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F9776480-86C7-4A0F-A860-179F2BD6549C}" type="datetime1">
              <a:rPr lang="fr-HT" smtClean="0"/>
              <a:t>15/01/2024</a:t>
            </a:fld>
            <a:endParaRPr lang="fr-HT" dirty="0"/>
          </a:p>
        </p:txBody>
      </p:sp>
      <p:sp>
        <p:nvSpPr>
          <p:cNvPr id="5" name="Footer Placeholder 4"/>
          <p:cNvSpPr>
            <a:spLocks noGrp="1"/>
          </p:cNvSpPr>
          <p:nvPr>
            <p:ph type="ftr" sz="quarter" idx="11"/>
          </p:nvPr>
        </p:nvSpPr>
        <p:spPr/>
        <p:txBody>
          <a:bodyPr/>
          <a:lstStyle/>
          <a:p>
            <a:endParaRPr lang="fr-HT" dirty="0"/>
          </a:p>
        </p:txBody>
      </p:sp>
      <p:sp>
        <p:nvSpPr>
          <p:cNvPr id="6" name="Slide Number Placeholder 5"/>
          <p:cNvSpPr>
            <a:spLocks noGrp="1"/>
          </p:cNvSpPr>
          <p:nvPr>
            <p:ph type="sldNum" sz="quarter" idx="12"/>
          </p:nvPr>
        </p:nvSpPr>
        <p:spPr/>
        <p:txBody>
          <a:bodyPr/>
          <a:lstStyle/>
          <a:p>
            <a:fld id="{26AFC765-89FB-4D41-BDFD-C70A1B65DB29}" type="slidenum">
              <a:rPr lang="fr-HT" smtClean="0"/>
              <a:t>‹#›</a:t>
            </a:fld>
            <a:endParaRPr lang="fr-HT" dirty="0"/>
          </a:p>
        </p:txBody>
      </p:sp>
    </p:spTree>
    <p:extLst>
      <p:ext uri="{BB962C8B-B14F-4D97-AF65-F5344CB8AC3E}">
        <p14:creationId xmlns:p14="http://schemas.microsoft.com/office/powerpoint/2010/main" val="253469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16CD229-3BBD-4368-A8AB-5DE5B2D7AC36}" type="datetime1">
              <a:rPr lang="fr-HT" smtClean="0"/>
              <a:t>15/01/2024</a:t>
            </a:fld>
            <a:endParaRPr lang="fr-HT" dirty="0"/>
          </a:p>
        </p:txBody>
      </p:sp>
      <p:sp>
        <p:nvSpPr>
          <p:cNvPr id="5" name="Footer Placeholder 4"/>
          <p:cNvSpPr>
            <a:spLocks noGrp="1"/>
          </p:cNvSpPr>
          <p:nvPr>
            <p:ph type="ftr" sz="quarter" idx="11"/>
          </p:nvPr>
        </p:nvSpPr>
        <p:spPr/>
        <p:txBody>
          <a:bodyPr/>
          <a:lstStyle/>
          <a:p>
            <a:endParaRPr lang="fr-HT" dirty="0"/>
          </a:p>
        </p:txBody>
      </p:sp>
      <p:sp>
        <p:nvSpPr>
          <p:cNvPr id="6" name="Slide Number Placeholder 5"/>
          <p:cNvSpPr>
            <a:spLocks noGrp="1"/>
          </p:cNvSpPr>
          <p:nvPr>
            <p:ph type="sldNum" sz="quarter" idx="12"/>
          </p:nvPr>
        </p:nvSpPr>
        <p:spPr/>
        <p:txBody>
          <a:bodyPr/>
          <a:lstStyle/>
          <a:p>
            <a:fld id="{26AFC765-89FB-4D41-BDFD-C70A1B65DB29}" type="slidenum">
              <a:rPr lang="fr-HT" smtClean="0"/>
              <a:t>‹#›</a:t>
            </a:fld>
            <a:endParaRPr lang="fr-HT" dirty="0"/>
          </a:p>
        </p:txBody>
      </p:sp>
    </p:spTree>
    <p:extLst>
      <p:ext uri="{BB962C8B-B14F-4D97-AF65-F5344CB8AC3E}">
        <p14:creationId xmlns:p14="http://schemas.microsoft.com/office/powerpoint/2010/main" val="281517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8E9ADC55-28B4-4E78-B55F-AD763BD3A286}" type="datetime1">
              <a:rPr lang="fr-HT" smtClean="0"/>
              <a:t>15/01/2024</a:t>
            </a:fld>
            <a:endParaRPr lang="fr-HT" dirty="0"/>
          </a:p>
        </p:txBody>
      </p:sp>
      <p:sp>
        <p:nvSpPr>
          <p:cNvPr id="5" name="Footer Placeholder 4"/>
          <p:cNvSpPr>
            <a:spLocks noGrp="1"/>
          </p:cNvSpPr>
          <p:nvPr>
            <p:ph type="ftr" sz="quarter" idx="11"/>
          </p:nvPr>
        </p:nvSpPr>
        <p:spPr/>
        <p:txBody>
          <a:bodyPr/>
          <a:lstStyle/>
          <a:p>
            <a:endParaRPr lang="fr-HT" dirty="0"/>
          </a:p>
        </p:txBody>
      </p:sp>
      <p:sp>
        <p:nvSpPr>
          <p:cNvPr id="6" name="Slide Number Placeholder 5"/>
          <p:cNvSpPr>
            <a:spLocks noGrp="1"/>
          </p:cNvSpPr>
          <p:nvPr>
            <p:ph type="sldNum" sz="quarter" idx="12"/>
          </p:nvPr>
        </p:nvSpPr>
        <p:spPr/>
        <p:txBody>
          <a:bodyPr/>
          <a:lstStyle/>
          <a:p>
            <a:fld id="{26AFC765-89FB-4D41-BDFD-C70A1B65DB29}" type="slidenum">
              <a:rPr lang="fr-HT" smtClean="0"/>
              <a:t>‹#›</a:t>
            </a:fld>
            <a:endParaRPr lang="fr-HT" dirty="0"/>
          </a:p>
        </p:txBody>
      </p:sp>
    </p:spTree>
    <p:extLst>
      <p:ext uri="{BB962C8B-B14F-4D97-AF65-F5344CB8AC3E}">
        <p14:creationId xmlns:p14="http://schemas.microsoft.com/office/powerpoint/2010/main" val="3117648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4CD5F1F-3050-4E82-A835-17323099FFFD}" type="datetime1">
              <a:rPr lang="fr-HT" smtClean="0"/>
              <a:t>15/01/2024</a:t>
            </a:fld>
            <a:endParaRPr lang="fr-HT" dirty="0"/>
          </a:p>
        </p:txBody>
      </p:sp>
      <p:sp>
        <p:nvSpPr>
          <p:cNvPr id="6" name="Footer Placeholder 5"/>
          <p:cNvSpPr>
            <a:spLocks noGrp="1"/>
          </p:cNvSpPr>
          <p:nvPr>
            <p:ph type="ftr" sz="quarter" idx="11"/>
          </p:nvPr>
        </p:nvSpPr>
        <p:spPr/>
        <p:txBody>
          <a:bodyPr/>
          <a:lstStyle/>
          <a:p>
            <a:endParaRPr lang="fr-HT" dirty="0"/>
          </a:p>
        </p:txBody>
      </p:sp>
      <p:sp>
        <p:nvSpPr>
          <p:cNvPr id="7" name="Slide Number Placeholder 6"/>
          <p:cNvSpPr>
            <a:spLocks noGrp="1"/>
          </p:cNvSpPr>
          <p:nvPr>
            <p:ph type="sldNum" sz="quarter" idx="12"/>
          </p:nvPr>
        </p:nvSpPr>
        <p:spPr/>
        <p:txBody>
          <a:bodyPr/>
          <a:lstStyle/>
          <a:p>
            <a:fld id="{26AFC765-89FB-4D41-BDFD-C70A1B65DB29}" type="slidenum">
              <a:rPr lang="fr-HT" smtClean="0"/>
              <a:t>‹#›</a:t>
            </a:fld>
            <a:endParaRPr lang="fr-HT" dirty="0"/>
          </a:p>
        </p:txBody>
      </p:sp>
    </p:spTree>
    <p:extLst>
      <p:ext uri="{BB962C8B-B14F-4D97-AF65-F5344CB8AC3E}">
        <p14:creationId xmlns:p14="http://schemas.microsoft.com/office/powerpoint/2010/main" val="1297006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629842" y="2505075"/>
            <a:ext cx="3868340"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4629150" y="2505075"/>
            <a:ext cx="3887391"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F4A5425-7A40-43B5-B229-A6620F2E3A36}" type="datetime1">
              <a:rPr lang="fr-HT" smtClean="0"/>
              <a:t>15/01/2024</a:t>
            </a:fld>
            <a:endParaRPr lang="fr-HT" dirty="0"/>
          </a:p>
        </p:txBody>
      </p:sp>
      <p:sp>
        <p:nvSpPr>
          <p:cNvPr id="8" name="Footer Placeholder 7"/>
          <p:cNvSpPr>
            <a:spLocks noGrp="1"/>
          </p:cNvSpPr>
          <p:nvPr>
            <p:ph type="ftr" sz="quarter" idx="11"/>
          </p:nvPr>
        </p:nvSpPr>
        <p:spPr/>
        <p:txBody>
          <a:bodyPr/>
          <a:lstStyle/>
          <a:p>
            <a:endParaRPr lang="fr-HT" dirty="0"/>
          </a:p>
        </p:txBody>
      </p:sp>
      <p:sp>
        <p:nvSpPr>
          <p:cNvPr id="9" name="Slide Number Placeholder 8"/>
          <p:cNvSpPr>
            <a:spLocks noGrp="1"/>
          </p:cNvSpPr>
          <p:nvPr>
            <p:ph type="sldNum" sz="quarter" idx="12"/>
          </p:nvPr>
        </p:nvSpPr>
        <p:spPr/>
        <p:txBody>
          <a:bodyPr/>
          <a:lstStyle/>
          <a:p>
            <a:fld id="{26AFC765-89FB-4D41-BDFD-C70A1B65DB29}" type="slidenum">
              <a:rPr lang="fr-HT" smtClean="0"/>
              <a:t>‹#›</a:t>
            </a:fld>
            <a:endParaRPr lang="fr-HT" dirty="0"/>
          </a:p>
        </p:txBody>
      </p:sp>
    </p:spTree>
    <p:extLst>
      <p:ext uri="{BB962C8B-B14F-4D97-AF65-F5344CB8AC3E}">
        <p14:creationId xmlns:p14="http://schemas.microsoft.com/office/powerpoint/2010/main" val="3637289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392E96D8-7F56-4864-B229-CB442BB0B782}" type="datetime1">
              <a:rPr lang="fr-HT" smtClean="0"/>
              <a:t>15/01/2024</a:t>
            </a:fld>
            <a:endParaRPr lang="fr-HT" dirty="0"/>
          </a:p>
        </p:txBody>
      </p:sp>
      <p:sp>
        <p:nvSpPr>
          <p:cNvPr id="4" name="Footer Placeholder 3"/>
          <p:cNvSpPr>
            <a:spLocks noGrp="1"/>
          </p:cNvSpPr>
          <p:nvPr>
            <p:ph type="ftr" sz="quarter" idx="11"/>
          </p:nvPr>
        </p:nvSpPr>
        <p:spPr/>
        <p:txBody>
          <a:bodyPr/>
          <a:lstStyle/>
          <a:p>
            <a:endParaRPr lang="fr-HT" dirty="0"/>
          </a:p>
        </p:txBody>
      </p:sp>
      <p:sp>
        <p:nvSpPr>
          <p:cNvPr id="5" name="Slide Number Placeholder 4"/>
          <p:cNvSpPr>
            <a:spLocks noGrp="1"/>
          </p:cNvSpPr>
          <p:nvPr>
            <p:ph type="sldNum" sz="quarter" idx="12"/>
          </p:nvPr>
        </p:nvSpPr>
        <p:spPr/>
        <p:txBody>
          <a:bodyPr/>
          <a:lstStyle/>
          <a:p>
            <a:fld id="{26AFC765-89FB-4D41-BDFD-C70A1B65DB29}" type="slidenum">
              <a:rPr lang="fr-HT" smtClean="0"/>
              <a:t>‹#›</a:t>
            </a:fld>
            <a:endParaRPr lang="fr-HT" dirty="0"/>
          </a:p>
        </p:txBody>
      </p:sp>
    </p:spTree>
    <p:extLst>
      <p:ext uri="{BB962C8B-B14F-4D97-AF65-F5344CB8AC3E}">
        <p14:creationId xmlns:p14="http://schemas.microsoft.com/office/powerpoint/2010/main" val="1479569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C6C261-6E7B-42ED-8187-3F449599C0F0}" type="datetime1">
              <a:rPr lang="fr-HT" smtClean="0"/>
              <a:t>15/01/2024</a:t>
            </a:fld>
            <a:endParaRPr lang="fr-HT" dirty="0"/>
          </a:p>
        </p:txBody>
      </p:sp>
      <p:sp>
        <p:nvSpPr>
          <p:cNvPr id="3" name="Footer Placeholder 2"/>
          <p:cNvSpPr>
            <a:spLocks noGrp="1"/>
          </p:cNvSpPr>
          <p:nvPr>
            <p:ph type="ftr" sz="quarter" idx="11"/>
          </p:nvPr>
        </p:nvSpPr>
        <p:spPr/>
        <p:txBody>
          <a:bodyPr/>
          <a:lstStyle/>
          <a:p>
            <a:endParaRPr lang="fr-HT" dirty="0"/>
          </a:p>
        </p:txBody>
      </p:sp>
      <p:sp>
        <p:nvSpPr>
          <p:cNvPr id="4" name="Slide Number Placeholder 3"/>
          <p:cNvSpPr>
            <a:spLocks noGrp="1"/>
          </p:cNvSpPr>
          <p:nvPr>
            <p:ph type="sldNum" sz="quarter" idx="12"/>
          </p:nvPr>
        </p:nvSpPr>
        <p:spPr/>
        <p:txBody>
          <a:bodyPr/>
          <a:lstStyle/>
          <a:p>
            <a:fld id="{26AFC765-89FB-4D41-BDFD-C70A1B65DB29}" type="slidenum">
              <a:rPr lang="fr-HT" smtClean="0"/>
              <a:t>‹#›</a:t>
            </a:fld>
            <a:endParaRPr lang="fr-HT" dirty="0"/>
          </a:p>
        </p:txBody>
      </p:sp>
    </p:spTree>
    <p:extLst>
      <p:ext uri="{BB962C8B-B14F-4D97-AF65-F5344CB8AC3E}">
        <p14:creationId xmlns:p14="http://schemas.microsoft.com/office/powerpoint/2010/main" val="2033511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DDDBA395-41CE-4CF6-8F27-56F327D010B0}" type="datetime1">
              <a:rPr lang="fr-HT" smtClean="0"/>
              <a:t>15/01/2024</a:t>
            </a:fld>
            <a:endParaRPr lang="fr-HT" dirty="0"/>
          </a:p>
        </p:txBody>
      </p:sp>
      <p:sp>
        <p:nvSpPr>
          <p:cNvPr id="6" name="Footer Placeholder 5"/>
          <p:cNvSpPr>
            <a:spLocks noGrp="1"/>
          </p:cNvSpPr>
          <p:nvPr>
            <p:ph type="ftr" sz="quarter" idx="11"/>
          </p:nvPr>
        </p:nvSpPr>
        <p:spPr/>
        <p:txBody>
          <a:bodyPr/>
          <a:lstStyle/>
          <a:p>
            <a:endParaRPr lang="fr-HT" dirty="0"/>
          </a:p>
        </p:txBody>
      </p:sp>
      <p:sp>
        <p:nvSpPr>
          <p:cNvPr id="7" name="Slide Number Placeholder 6"/>
          <p:cNvSpPr>
            <a:spLocks noGrp="1"/>
          </p:cNvSpPr>
          <p:nvPr>
            <p:ph type="sldNum" sz="quarter" idx="12"/>
          </p:nvPr>
        </p:nvSpPr>
        <p:spPr/>
        <p:txBody>
          <a:bodyPr/>
          <a:lstStyle/>
          <a:p>
            <a:fld id="{26AFC765-89FB-4D41-BDFD-C70A1B65DB29}" type="slidenum">
              <a:rPr lang="fr-HT" smtClean="0"/>
              <a:t>‹#›</a:t>
            </a:fld>
            <a:endParaRPr lang="fr-HT" dirty="0"/>
          </a:p>
        </p:txBody>
      </p:sp>
    </p:spTree>
    <p:extLst>
      <p:ext uri="{BB962C8B-B14F-4D97-AF65-F5344CB8AC3E}">
        <p14:creationId xmlns:p14="http://schemas.microsoft.com/office/powerpoint/2010/main" val="602316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9298F6E1-1B40-4070-86C4-795B0B81B926}" type="datetime1">
              <a:rPr lang="fr-HT" smtClean="0"/>
              <a:t>15/01/2024</a:t>
            </a:fld>
            <a:endParaRPr lang="fr-HT" dirty="0"/>
          </a:p>
        </p:txBody>
      </p:sp>
      <p:sp>
        <p:nvSpPr>
          <p:cNvPr id="6" name="Footer Placeholder 5"/>
          <p:cNvSpPr>
            <a:spLocks noGrp="1"/>
          </p:cNvSpPr>
          <p:nvPr>
            <p:ph type="ftr" sz="quarter" idx="11"/>
          </p:nvPr>
        </p:nvSpPr>
        <p:spPr/>
        <p:txBody>
          <a:bodyPr/>
          <a:lstStyle/>
          <a:p>
            <a:endParaRPr lang="fr-HT" dirty="0"/>
          </a:p>
        </p:txBody>
      </p:sp>
      <p:sp>
        <p:nvSpPr>
          <p:cNvPr id="7" name="Slide Number Placeholder 6"/>
          <p:cNvSpPr>
            <a:spLocks noGrp="1"/>
          </p:cNvSpPr>
          <p:nvPr>
            <p:ph type="sldNum" sz="quarter" idx="12"/>
          </p:nvPr>
        </p:nvSpPr>
        <p:spPr/>
        <p:txBody>
          <a:bodyPr/>
          <a:lstStyle/>
          <a:p>
            <a:fld id="{26AFC765-89FB-4D41-BDFD-C70A1B65DB29}" type="slidenum">
              <a:rPr lang="fr-HT" smtClean="0"/>
              <a:t>‹#›</a:t>
            </a:fld>
            <a:endParaRPr lang="fr-HT" dirty="0"/>
          </a:p>
        </p:txBody>
      </p:sp>
    </p:spTree>
    <p:extLst>
      <p:ext uri="{BB962C8B-B14F-4D97-AF65-F5344CB8AC3E}">
        <p14:creationId xmlns:p14="http://schemas.microsoft.com/office/powerpoint/2010/main" val="2607299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6E3FDAD-59EB-49FE-9112-A5C9E406FB16}" type="datetime1">
              <a:rPr lang="fr-HT" smtClean="0"/>
              <a:t>15/01/2024</a:t>
            </a:fld>
            <a:endParaRPr lang="fr-HT" dirty="0"/>
          </a:p>
        </p:txBody>
      </p:sp>
      <p:sp>
        <p:nvSpPr>
          <p:cNvPr id="5" name="Footer Placeholder 4"/>
          <p:cNvSpPr>
            <a:spLocks noGrp="1"/>
          </p:cNvSpPr>
          <p:nvPr>
            <p:ph type="ftr" sz="quarter" idx="11"/>
          </p:nvPr>
        </p:nvSpPr>
        <p:spPr/>
        <p:txBody>
          <a:bodyPr/>
          <a:lstStyle/>
          <a:p>
            <a:endParaRPr lang="fr-HT" dirty="0"/>
          </a:p>
        </p:txBody>
      </p:sp>
      <p:sp>
        <p:nvSpPr>
          <p:cNvPr id="6" name="Slide Number Placeholder 5"/>
          <p:cNvSpPr>
            <a:spLocks noGrp="1"/>
          </p:cNvSpPr>
          <p:nvPr>
            <p:ph type="sldNum" sz="quarter" idx="12"/>
          </p:nvPr>
        </p:nvSpPr>
        <p:spPr/>
        <p:txBody>
          <a:bodyPr/>
          <a:lstStyle/>
          <a:p>
            <a:fld id="{26AFC765-89FB-4D41-BDFD-C70A1B65DB29}" type="slidenum">
              <a:rPr lang="fr-HT" smtClean="0"/>
              <a:t>‹#›</a:t>
            </a:fld>
            <a:endParaRPr lang="fr-HT" dirty="0"/>
          </a:p>
        </p:txBody>
      </p:sp>
    </p:spTree>
    <p:extLst>
      <p:ext uri="{BB962C8B-B14F-4D97-AF65-F5344CB8AC3E}">
        <p14:creationId xmlns:p14="http://schemas.microsoft.com/office/powerpoint/2010/main" val="1492776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5B758A2-3138-425D-A169-922CC6BE1A32}" type="datetime1">
              <a:rPr lang="fr-HT" smtClean="0"/>
              <a:t>15/01/2024</a:t>
            </a:fld>
            <a:endParaRPr lang="fr-HT" dirty="0"/>
          </a:p>
        </p:txBody>
      </p:sp>
      <p:sp>
        <p:nvSpPr>
          <p:cNvPr id="5" name="Footer Placeholder 4"/>
          <p:cNvSpPr>
            <a:spLocks noGrp="1"/>
          </p:cNvSpPr>
          <p:nvPr>
            <p:ph type="ftr" sz="quarter" idx="11"/>
          </p:nvPr>
        </p:nvSpPr>
        <p:spPr/>
        <p:txBody>
          <a:bodyPr/>
          <a:lstStyle/>
          <a:p>
            <a:endParaRPr lang="fr-HT" dirty="0"/>
          </a:p>
        </p:txBody>
      </p:sp>
      <p:sp>
        <p:nvSpPr>
          <p:cNvPr id="6" name="Slide Number Placeholder 5"/>
          <p:cNvSpPr>
            <a:spLocks noGrp="1"/>
          </p:cNvSpPr>
          <p:nvPr>
            <p:ph type="sldNum" sz="quarter" idx="12"/>
          </p:nvPr>
        </p:nvSpPr>
        <p:spPr/>
        <p:txBody>
          <a:bodyPr/>
          <a:lstStyle/>
          <a:p>
            <a:fld id="{26AFC765-89FB-4D41-BDFD-C70A1B65DB29}" type="slidenum">
              <a:rPr lang="fr-HT" smtClean="0"/>
              <a:t>‹#›</a:t>
            </a:fld>
            <a:endParaRPr lang="fr-HT" dirty="0"/>
          </a:p>
        </p:txBody>
      </p:sp>
    </p:spTree>
    <p:extLst>
      <p:ext uri="{BB962C8B-B14F-4D97-AF65-F5344CB8AC3E}">
        <p14:creationId xmlns:p14="http://schemas.microsoft.com/office/powerpoint/2010/main" val="2298723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F93BC-BA0D-4462-8D53-95AA99220CE4}" type="datetime1">
              <a:rPr lang="fr-HT" smtClean="0"/>
              <a:t>15/01/2024</a:t>
            </a:fld>
            <a:endParaRPr lang="fr-HT"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HT"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AFC765-89FB-4D41-BDFD-C70A1B65DB29}" type="slidenum">
              <a:rPr lang="fr-HT" smtClean="0"/>
              <a:t>‹#›</a:t>
            </a:fld>
            <a:endParaRPr lang="fr-HT" dirty="0"/>
          </a:p>
        </p:txBody>
      </p:sp>
    </p:spTree>
    <p:extLst>
      <p:ext uri="{BB962C8B-B14F-4D97-AF65-F5344CB8AC3E}">
        <p14:creationId xmlns:p14="http://schemas.microsoft.com/office/powerpoint/2010/main" val="22783101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1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xmlns="" id="{3392AE97-93FD-436F-AB2C-3BEB17094732}"/>
              </a:ext>
            </a:extLst>
          </p:cNvPr>
          <p:cNvSpPr txBox="1"/>
          <p:nvPr/>
        </p:nvSpPr>
        <p:spPr>
          <a:xfrm>
            <a:off x="-888642" y="-128528"/>
            <a:ext cx="10419008" cy="7725192"/>
          </a:xfrm>
          <a:prstGeom prst="rect">
            <a:avLst/>
          </a:prstGeom>
          <a:solidFill>
            <a:schemeClr val="accent2">
              <a:lumMod val="40000"/>
              <a:lumOff val="60000"/>
            </a:schemeClr>
          </a:solidFill>
        </p:spPr>
        <p:txBody>
          <a:bodyPr wrap="square" rtlCol="0">
            <a:spAutoFit/>
          </a:bodyPr>
          <a:lstStyle/>
          <a:p>
            <a:pPr algn="ctr"/>
            <a:r>
              <a:rPr lang="fr-HT" sz="6600" dirty="0">
                <a:latin typeface="AR BLANCA" pitchFamily="2" charset="0"/>
              </a:rPr>
              <a:t>Cours de physique générale</a:t>
            </a:r>
          </a:p>
          <a:p>
            <a:pPr algn="ctr"/>
            <a:r>
              <a:rPr lang="fr-HT" sz="6000" dirty="0" smtClean="0">
                <a:latin typeface="AR BLANCA" pitchFamily="2" charset="0"/>
              </a:rPr>
              <a:t>FMP/PCM1</a:t>
            </a:r>
          </a:p>
          <a:p>
            <a:pPr algn="ctr"/>
            <a:endParaRPr lang="fr-HT" sz="8800" dirty="0">
              <a:latin typeface="AR BLANCA" pitchFamily="2" charset="0"/>
            </a:endParaRPr>
          </a:p>
          <a:p>
            <a:pPr algn="ctr"/>
            <a:r>
              <a:rPr lang="fr-HT" sz="8800" dirty="0" smtClean="0">
                <a:latin typeface="AR BLANCA" pitchFamily="2" charset="0"/>
              </a:rPr>
              <a:t>2023-2024</a:t>
            </a:r>
            <a:endParaRPr lang="fr-HT" sz="8800" dirty="0">
              <a:latin typeface="AR BLANCA" pitchFamily="2" charset="0"/>
            </a:endParaRPr>
          </a:p>
          <a:p>
            <a:pPr algn="r"/>
            <a:endParaRPr lang="fr-HT" sz="3200" dirty="0" smtClean="0">
              <a:latin typeface="AR BLANCA" pitchFamily="2" charset="0"/>
            </a:endParaRPr>
          </a:p>
          <a:p>
            <a:pPr algn="r"/>
            <a:r>
              <a:rPr lang="fr-HT" sz="3200" dirty="0" smtClean="0">
                <a:latin typeface="AR BLANCA" pitchFamily="2" charset="0"/>
              </a:rPr>
              <a:t>Intervenant :MOMPREMIER REGINALD </a:t>
            </a:r>
          </a:p>
          <a:p>
            <a:pPr algn="r"/>
            <a:r>
              <a:rPr lang="fr-HT" sz="3200" dirty="0">
                <a:latin typeface="AR BLANCA" pitchFamily="2" charset="0"/>
              </a:rPr>
              <a:t> </a:t>
            </a:r>
            <a:r>
              <a:rPr lang="fr-HT" sz="3200" dirty="0" smtClean="0">
                <a:latin typeface="AR BLANCA" pitchFamily="2" charset="0"/>
              </a:rPr>
              <a:t>  Physicien M2   </a:t>
            </a:r>
            <a:endParaRPr lang="fr-HT" sz="3200" dirty="0">
              <a:latin typeface="AR BLANCA" pitchFamily="2" charset="0"/>
            </a:endParaRPr>
          </a:p>
          <a:p>
            <a:pPr algn="r"/>
            <a:endParaRPr lang="fr-HT" sz="3200" dirty="0">
              <a:latin typeface="AR BLANCA" pitchFamily="2" charset="0"/>
            </a:endParaRPr>
          </a:p>
        </p:txBody>
      </p:sp>
      <p:sp>
        <p:nvSpPr>
          <p:cNvPr id="7" name="Espace réservé du numéro de diapositive 6">
            <a:extLst>
              <a:ext uri="{FF2B5EF4-FFF2-40B4-BE49-F238E27FC236}">
                <a16:creationId xmlns:a16="http://schemas.microsoft.com/office/drawing/2014/main" xmlns="" id="{8F4DA755-F849-40EF-91F4-E981100082B4}"/>
              </a:ext>
            </a:extLst>
          </p:cNvPr>
          <p:cNvSpPr>
            <a:spLocks noGrp="1"/>
          </p:cNvSpPr>
          <p:nvPr>
            <p:ph type="sldNum" sz="quarter" idx="12"/>
          </p:nvPr>
        </p:nvSpPr>
        <p:spPr/>
        <p:txBody>
          <a:bodyPr/>
          <a:lstStyle/>
          <a:p>
            <a:fld id="{26AFC765-89FB-4D41-BDFD-C70A1B65DB29}" type="slidenum">
              <a:rPr lang="fr-HT" smtClean="0"/>
              <a:t>1</a:t>
            </a:fld>
            <a:endParaRPr lang="fr-HT" dirty="0"/>
          </a:p>
        </p:txBody>
      </p:sp>
    </p:spTree>
    <p:extLst>
      <p:ext uri="{BB962C8B-B14F-4D97-AF65-F5344CB8AC3E}">
        <p14:creationId xmlns:p14="http://schemas.microsoft.com/office/powerpoint/2010/main" val="41816537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902E14EE-3404-455F-998D-5F0390951D5C}"/>
              </a:ext>
            </a:extLst>
          </p:cNvPr>
          <p:cNvSpPr/>
          <p:nvPr/>
        </p:nvSpPr>
        <p:spPr>
          <a:xfrm>
            <a:off x="0" y="30353"/>
            <a:ext cx="9144000" cy="52322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fr-HT" sz="2800" b="1" dirty="0">
                <a:latin typeface="Times-Roman"/>
              </a:rPr>
              <a:t>Introduction : Objet et méthodes de la physique</a:t>
            </a:r>
            <a:endParaRPr lang="fr-HT" sz="2800" b="1" dirty="0"/>
          </a:p>
        </p:txBody>
      </p:sp>
      <p:sp>
        <p:nvSpPr>
          <p:cNvPr id="3" name="Rectangle 2">
            <a:extLst>
              <a:ext uri="{FF2B5EF4-FFF2-40B4-BE49-F238E27FC236}">
                <a16:creationId xmlns:a16="http://schemas.microsoft.com/office/drawing/2014/main" xmlns="" id="{60788A6C-8DBE-4BF8-A97B-DAE0D0C755CA}"/>
              </a:ext>
            </a:extLst>
          </p:cNvPr>
          <p:cNvSpPr/>
          <p:nvPr/>
        </p:nvSpPr>
        <p:spPr>
          <a:xfrm>
            <a:off x="0" y="553573"/>
            <a:ext cx="9144000" cy="865173"/>
          </a:xfrm>
          <a:prstGeom prst="rect">
            <a:avLst/>
          </a:prstGeom>
        </p:spPr>
        <p:txBody>
          <a:bodyPr wrap="square">
            <a:spAutoFit/>
          </a:bodyPr>
          <a:lstStyle/>
          <a:p>
            <a:pPr marL="342900" indent="-342900">
              <a:lnSpc>
                <a:spcPct val="107000"/>
              </a:lnSpc>
              <a:spcAft>
                <a:spcPts val="800"/>
              </a:spcAft>
              <a:buFont typeface="Wingdings" panose="05000000000000000000" pitchFamily="2" charset="2"/>
              <a:buChar char="v"/>
            </a:pPr>
            <a:r>
              <a:rPr lang="fr-FR" sz="2400" b="1" dirty="0">
                <a:latin typeface="Calibri" panose="020F0502020204030204" pitchFamily="34" charset="0"/>
                <a:ea typeface="Calibri" panose="020F0502020204030204" pitchFamily="34" charset="0"/>
                <a:cs typeface="Times New Roman" panose="02020603050405020304" pitchFamily="18" charset="0"/>
              </a:rPr>
              <a:t>Rappels sur les puissances de 10, la notation scientifique et les chiffres significatifs.</a:t>
            </a:r>
            <a:endParaRPr lang="fr-HT"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xmlns="" id="{0BF85B7E-4D88-4544-9ECD-3D013C0178B4}"/>
              </a:ext>
            </a:extLst>
          </p:cNvPr>
          <p:cNvSpPr/>
          <p:nvPr/>
        </p:nvSpPr>
        <p:spPr>
          <a:xfrm>
            <a:off x="0" y="1471966"/>
            <a:ext cx="2618024" cy="470000"/>
          </a:xfrm>
          <a:prstGeom prst="rect">
            <a:avLst/>
          </a:prstGeom>
        </p:spPr>
        <p:txBody>
          <a:bodyPr wrap="none">
            <a:spAutoFit/>
          </a:bodyPr>
          <a:lstStyle/>
          <a:p>
            <a:pPr marL="285750" lvl="0" indent="-285750" algn="just">
              <a:lnSpc>
                <a:spcPct val="107000"/>
              </a:lnSpc>
              <a:spcAft>
                <a:spcPts val="800"/>
              </a:spcAft>
              <a:buFont typeface="Wingdings" panose="05000000000000000000" pitchFamily="2" charset="2"/>
              <a:buChar char="Ø"/>
            </a:pPr>
            <a:r>
              <a:rPr lang="fr-FR" sz="2400" b="1" dirty="0">
                <a:latin typeface="Calibri" panose="020F0502020204030204" pitchFamily="34" charset="0"/>
                <a:ea typeface="Calibri" panose="020F0502020204030204" pitchFamily="34" charset="0"/>
                <a:cs typeface="Times New Roman" panose="02020603050405020304" pitchFamily="18" charset="0"/>
              </a:rPr>
              <a:t>Puissances de 10</a:t>
            </a:r>
            <a:endParaRPr lang="fr-HT"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xmlns="" id="{A43433E8-9C96-43FB-AE97-1937AC7F6F66}"/>
              </a:ext>
            </a:extLst>
          </p:cNvPr>
          <p:cNvSpPr/>
          <p:nvPr/>
        </p:nvSpPr>
        <p:spPr>
          <a:xfrm>
            <a:off x="0" y="1910591"/>
            <a:ext cx="9143999" cy="799065"/>
          </a:xfrm>
          <a:prstGeom prst="rect">
            <a:avLst/>
          </a:prstGeom>
        </p:spPr>
        <p:txBody>
          <a:bodyPr wrap="square">
            <a:spAutoFit/>
          </a:bodyPr>
          <a:lstStyle/>
          <a:p>
            <a:pPr algn="just">
              <a:lnSpc>
                <a:spcPct val="107000"/>
              </a:lnSpc>
              <a:spcAft>
                <a:spcPts val="800"/>
              </a:spcAft>
            </a:pPr>
            <a:r>
              <a:rPr lang="fr-FR" sz="2200" dirty="0">
                <a:latin typeface="Times New Roman" panose="02020603050405020304" pitchFamily="18" charset="0"/>
                <a:ea typeface="Calibri" panose="020F0502020204030204" pitchFamily="34" charset="0"/>
                <a:cs typeface="Times New Roman" panose="02020603050405020304" pitchFamily="18" charset="0"/>
              </a:rPr>
              <a:t>Les puissances de 10 sont, en général, utilisées pour l’écriture des (très) grands et petits nombres. </a:t>
            </a:r>
            <a:endParaRPr lang="fr-HT" sz="22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xmlns="" id="{B89E1CA3-0444-4DCC-A357-CB92A65C318C}"/>
              </a:ext>
            </a:extLst>
          </p:cNvPr>
          <p:cNvSpPr/>
          <p:nvPr/>
        </p:nvSpPr>
        <p:spPr>
          <a:xfrm>
            <a:off x="7346" y="3000210"/>
            <a:ext cx="9144000" cy="1915011"/>
          </a:xfrm>
          <a:prstGeom prst="rect">
            <a:avLst/>
          </a:prstGeom>
        </p:spPr>
        <p:txBody>
          <a:bodyPr wrap="square">
            <a:spAutoFit/>
          </a:bodyPr>
          <a:lstStyle/>
          <a:p>
            <a:pPr algn="just">
              <a:lnSpc>
                <a:spcPct val="107000"/>
              </a:lnSpc>
              <a:spcAft>
                <a:spcPts val="800"/>
              </a:spcAft>
            </a:pPr>
            <a:r>
              <a:rPr lang="fr-FR" sz="22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Exemples :</a:t>
            </a:r>
            <a:endParaRPr lang="fr-HT" sz="22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FR" sz="2200" dirty="0" smtClean="0">
                <a:latin typeface="Times New Roman" panose="02020603050405020304" pitchFamily="18" charset="0"/>
                <a:ea typeface="Calibri" panose="020F0502020204030204" pitchFamily="34" charset="0"/>
                <a:cs typeface="Times New Roman" panose="02020603050405020304" pitchFamily="18" charset="0"/>
              </a:rPr>
              <a:t>Épaisseur </a:t>
            </a:r>
            <a:r>
              <a:rPr lang="fr-FR" sz="2200" dirty="0">
                <a:latin typeface="Times New Roman" panose="02020603050405020304" pitchFamily="18" charset="0"/>
                <a:ea typeface="Calibri" panose="020F0502020204030204" pitchFamily="34" charset="0"/>
                <a:cs typeface="Times New Roman" panose="02020603050405020304" pitchFamily="18" charset="0"/>
              </a:rPr>
              <a:t>d'un cheveu : </a:t>
            </a:r>
            <a:r>
              <a:rPr lang="fr-FR" sz="2200" i="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0,000 05 </a:t>
            </a:r>
            <a:r>
              <a:rPr lang="fr-FR" sz="2200" i="1"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m = 5 x </a:t>
            </a:r>
            <a:r>
              <a:rPr lang="fr-FR" sz="2400" dirty="0" smtClean="0">
                <a:solidFill>
                  <a:srgbClr val="FF0000"/>
                </a:solidFill>
              </a:rPr>
              <a:t>10</a:t>
            </a:r>
            <a:r>
              <a:rPr lang="fr-FR" sz="2400" baseline="30000" dirty="0" smtClean="0">
                <a:solidFill>
                  <a:srgbClr val="FF0000"/>
                </a:solidFill>
              </a:rPr>
              <a:t>-5</a:t>
            </a:r>
            <a:r>
              <a:rPr lang="fr-FR" sz="2400" dirty="0" smtClean="0">
                <a:solidFill>
                  <a:srgbClr val="FF0000"/>
                </a:solidFill>
              </a:rPr>
              <a:t> m</a:t>
            </a:r>
            <a:endParaRPr lang="fr-HT" sz="22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FR" sz="2200" dirty="0">
                <a:latin typeface="Times New Roman" panose="02020603050405020304" pitchFamily="18" charset="0"/>
                <a:ea typeface="Calibri" panose="020F0502020204030204" pitchFamily="34" charset="0"/>
                <a:cs typeface="Times New Roman" panose="02020603050405020304" pitchFamily="18" charset="0"/>
              </a:rPr>
              <a:t>Diamètre d'un virus : </a:t>
            </a:r>
            <a:r>
              <a:rPr lang="fr-FR" sz="2200" i="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0,000 000 000 1 </a:t>
            </a:r>
            <a:r>
              <a:rPr lang="fr-FR" sz="2200" i="1"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m = 1 x </a:t>
            </a:r>
            <a:r>
              <a:rPr lang="fr-FR" sz="2400" dirty="0" smtClean="0">
                <a:solidFill>
                  <a:srgbClr val="FF0000"/>
                </a:solidFill>
              </a:rPr>
              <a:t>10</a:t>
            </a:r>
            <a:r>
              <a:rPr lang="fr-FR" sz="2400" baseline="30000" dirty="0" smtClean="0">
                <a:solidFill>
                  <a:srgbClr val="FF0000"/>
                </a:solidFill>
              </a:rPr>
              <a:t>-10</a:t>
            </a:r>
            <a:r>
              <a:rPr lang="fr-FR" sz="2400" dirty="0" smtClean="0">
                <a:solidFill>
                  <a:srgbClr val="FF0000"/>
                </a:solidFill>
              </a:rPr>
              <a:t> m</a:t>
            </a:r>
            <a:endParaRPr lang="fr-FR" sz="2400" dirty="0">
              <a:solidFill>
                <a:srgbClr val="FF0000"/>
              </a:solidFill>
            </a:endParaRPr>
          </a:p>
          <a:p>
            <a:pPr algn="just">
              <a:lnSpc>
                <a:spcPct val="107000"/>
              </a:lnSpc>
              <a:spcAft>
                <a:spcPts val="800"/>
              </a:spcAft>
            </a:pPr>
            <a:endParaRPr lang="fr-HT" sz="2200" dirty="0">
              <a:solidFill>
                <a:schemeClr val="accent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xmlns="" id="{5FC6099A-AAAC-4B72-8FEC-F35BF23059C5}"/>
              </a:ext>
            </a:extLst>
          </p:cNvPr>
          <p:cNvSpPr/>
          <p:nvPr/>
        </p:nvSpPr>
        <p:spPr>
          <a:xfrm>
            <a:off x="605308" y="4915221"/>
            <a:ext cx="7547020" cy="882678"/>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lnSpc>
                <a:spcPct val="107000"/>
              </a:lnSpc>
              <a:spcAft>
                <a:spcPts val="800"/>
              </a:spcAft>
            </a:pPr>
            <a:r>
              <a:rPr lang="fr-FR" sz="24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Cependant, tout nombre peut être exprimé à l’aide de puissance de 10 !</a:t>
            </a:r>
            <a:endParaRPr lang="fr-HT"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Espace réservé du numéro de diapositive 8">
            <a:extLst>
              <a:ext uri="{FF2B5EF4-FFF2-40B4-BE49-F238E27FC236}">
                <a16:creationId xmlns:a16="http://schemas.microsoft.com/office/drawing/2014/main" xmlns="" id="{DA8FF999-4417-41E1-B693-362F2C8F418A}"/>
              </a:ext>
            </a:extLst>
          </p:cNvPr>
          <p:cNvSpPr>
            <a:spLocks noGrp="1"/>
          </p:cNvSpPr>
          <p:nvPr>
            <p:ph type="sldNum" sz="quarter" idx="12"/>
          </p:nvPr>
        </p:nvSpPr>
        <p:spPr/>
        <p:txBody>
          <a:bodyPr/>
          <a:lstStyle/>
          <a:p>
            <a:fld id="{26AFC765-89FB-4D41-BDFD-C70A1B65DB29}" type="slidenum">
              <a:rPr lang="fr-HT" smtClean="0"/>
              <a:t>2</a:t>
            </a:fld>
            <a:endParaRPr lang="fr-HT" dirty="0"/>
          </a:p>
        </p:txBody>
      </p:sp>
    </p:spTree>
    <p:extLst>
      <p:ext uri="{BB962C8B-B14F-4D97-AF65-F5344CB8AC3E}">
        <p14:creationId xmlns:p14="http://schemas.microsoft.com/office/powerpoint/2010/main" val="3751244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AE1FCA9F-B23B-43F2-9803-2CCCFDF7E605}"/>
              </a:ext>
            </a:extLst>
          </p:cNvPr>
          <p:cNvSpPr/>
          <p:nvPr/>
        </p:nvSpPr>
        <p:spPr>
          <a:xfrm>
            <a:off x="-1" y="1226194"/>
            <a:ext cx="9143999" cy="734688"/>
          </a:xfrm>
          <a:prstGeom prst="rect">
            <a:avLst/>
          </a:prstGeom>
        </p:spPr>
        <p:txBody>
          <a:bodyPr wrap="square">
            <a:spAutoFit/>
          </a:bodyPr>
          <a:lstStyle/>
          <a:p>
            <a:pPr marL="342900" lvl="0" indent="-342900" algn="just">
              <a:lnSpc>
                <a:spcPct val="107000"/>
              </a:lnSpc>
              <a:spcAft>
                <a:spcPts val="0"/>
              </a:spcAft>
              <a:buFont typeface="Wingdings" panose="05000000000000000000" pitchFamily="2" charset="2"/>
              <a:buChar char="Ø"/>
            </a:pPr>
            <a:r>
              <a:rPr lang="fr-FR" sz="2000" b="1" dirty="0">
                <a:latin typeface="Calibri" panose="020F0502020204030204" pitchFamily="34" charset="0"/>
                <a:ea typeface="Calibri" panose="020F0502020204030204" pitchFamily="34" charset="0"/>
                <a:cs typeface="Calibri" panose="020F0502020204030204" pitchFamily="34" charset="0"/>
              </a:rPr>
              <a:t>Ordre de grandeur </a:t>
            </a:r>
            <a:endParaRPr lang="fr-HT" sz="20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fr-FR" sz="2000" dirty="0">
                <a:latin typeface="Times New Roman" panose="02020603050405020304" pitchFamily="18" charset="0"/>
                <a:ea typeface="Calibri" panose="020F0502020204030204" pitchFamily="34" charset="0"/>
                <a:cs typeface="Times New Roman" panose="02020603050405020304" pitchFamily="18" charset="0"/>
              </a:rPr>
              <a:t>L’ordre de grandeur d’un nombre est égal à sa puissance de 10 la plus proche.</a:t>
            </a:r>
            <a:endParaRPr lang="fr-HT"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xmlns="" id="{9047BC83-3C0B-4AE8-8903-EB91B6D65672}"/>
              </a:ext>
            </a:extLst>
          </p:cNvPr>
          <p:cNvSpPr/>
          <p:nvPr/>
        </p:nvSpPr>
        <p:spPr>
          <a:xfrm>
            <a:off x="0" y="30353"/>
            <a:ext cx="9144000" cy="52322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fr-HT" sz="2800" b="1" dirty="0">
                <a:latin typeface="Times-Roman"/>
              </a:rPr>
              <a:t>Introduction : Objet et méthodes de la physique</a:t>
            </a:r>
            <a:endParaRPr lang="fr-HT" sz="2800" b="1" dirty="0"/>
          </a:p>
        </p:txBody>
      </p:sp>
      <p:sp>
        <p:nvSpPr>
          <p:cNvPr id="4" name="Rectangle 3">
            <a:extLst>
              <a:ext uri="{FF2B5EF4-FFF2-40B4-BE49-F238E27FC236}">
                <a16:creationId xmlns:a16="http://schemas.microsoft.com/office/drawing/2014/main" xmlns="" id="{467C583F-7183-4898-8147-9FE32D6CA9D4}"/>
              </a:ext>
            </a:extLst>
          </p:cNvPr>
          <p:cNvSpPr/>
          <p:nvPr/>
        </p:nvSpPr>
        <p:spPr>
          <a:xfrm>
            <a:off x="0" y="461624"/>
            <a:ext cx="9144000" cy="487506"/>
          </a:xfrm>
          <a:prstGeom prst="rect">
            <a:avLst/>
          </a:prstGeom>
        </p:spPr>
        <p:txBody>
          <a:bodyPr wrap="square">
            <a:spAutoFit/>
          </a:bodyPr>
          <a:lstStyle/>
          <a:p>
            <a:pPr marL="342900" indent="-342900">
              <a:lnSpc>
                <a:spcPct val="107000"/>
              </a:lnSpc>
              <a:spcAft>
                <a:spcPts val="800"/>
              </a:spcAft>
              <a:buFont typeface="Wingdings" panose="05000000000000000000" pitchFamily="2" charset="2"/>
              <a:buChar char="v"/>
            </a:pPr>
            <a:r>
              <a:rPr lang="fr-FR" sz="2400" b="1" dirty="0">
                <a:latin typeface="Calibri" panose="020F0502020204030204" pitchFamily="34" charset="0"/>
                <a:ea typeface="Calibri" panose="020F0502020204030204" pitchFamily="34" charset="0"/>
                <a:cs typeface="Times New Roman" panose="02020603050405020304" pitchFamily="18" charset="0"/>
              </a:rPr>
              <a:t>Rappels sur </a:t>
            </a:r>
            <a:r>
              <a:rPr lang="fr-FR" sz="2400" b="1" dirty="0" smtClean="0">
                <a:latin typeface="Calibri" panose="020F0502020204030204" pitchFamily="34" charset="0"/>
                <a:ea typeface="Calibri" panose="020F0502020204030204" pitchFamily="34" charset="0"/>
                <a:cs typeface="Times New Roman" panose="02020603050405020304" pitchFamily="18" charset="0"/>
              </a:rPr>
              <a:t>la </a:t>
            </a:r>
            <a:r>
              <a:rPr lang="fr-FR" sz="2400" b="1" dirty="0">
                <a:latin typeface="Calibri" panose="020F0502020204030204" pitchFamily="34" charset="0"/>
                <a:ea typeface="Calibri" panose="020F0502020204030204" pitchFamily="34" charset="0"/>
                <a:cs typeface="Times New Roman" panose="02020603050405020304" pitchFamily="18" charset="0"/>
              </a:rPr>
              <a:t>notation scientifique et les chiffres significatifs.</a:t>
            </a:r>
            <a:endParaRPr lang="fr-HT"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xmlns="" id="{9239E3A8-CEE7-4FBF-B891-D32FDA810775}"/>
                  </a:ext>
                </a:extLst>
              </p:cNvPr>
              <p:cNvSpPr/>
              <p:nvPr/>
            </p:nvSpPr>
            <p:spPr>
              <a:xfrm>
                <a:off x="0" y="1999418"/>
                <a:ext cx="9143998" cy="1701107"/>
              </a:xfrm>
              <a:prstGeom prst="rect">
                <a:avLst/>
              </a:prstGeom>
            </p:spPr>
            <p:txBody>
              <a:bodyPr wrap="square">
                <a:spAutoFit/>
              </a:bodyPr>
              <a:lstStyle/>
              <a:p>
                <a:pPr marL="342900" lvl="0" indent="-342900" algn="just">
                  <a:lnSpc>
                    <a:spcPct val="107000"/>
                  </a:lnSpc>
                  <a:spcAft>
                    <a:spcPts val="800"/>
                  </a:spcAft>
                  <a:buFont typeface="Wingdings" panose="05000000000000000000" pitchFamily="2" charset="2"/>
                  <a:buChar char=""/>
                </a:pPr>
                <a:r>
                  <a:rPr lang="fr-FR" sz="2000" b="1" dirty="0">
                    <a:latin typeface="Calibri" panose="020F0502020204030204" pitchFamily="34" charset="0"/>
                    <a:ea typeface="Calibri" panose="020F0502020204030204" pitchFamily="34" charset="0"/>
                    <a:cs typeface="Calibri" panose="020F0502020204030204" pitchFamily="34" charset="0"/>
                  </a:rPr>
                  <a:t>Règles pour trouver l’ordre de grandeur</a:t>
                </a:r>
                <a:endParaRPr lang="fr-HT" sz="20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fr-FR" sz="2000" dirty="0">
                    <a:latin typeface="Times New Roman" panose="02020603050405020304" pitchFamily="18" charset="0"/>
                    <a:ea typeface="Calibri" panose="020F0502020204030204" pitchFamily="34" charset="0"/>
                    <a:cs typeface="Times New Roman" panose="02020603050405020304" pitchFamily="18" charset="0"/>
                  </a:rPr>
                  <a:t>Ecrire le nombre en notation scientifique </a:t>
                </a:r>
                <a14:m>
                  <m:oMath xmlns:m="http://schemas.openxmlformats.org/officeDocument/2006/math">
                    <m:d>
                      <m:dPr>
                        <m:ctrlPr>
                          <a:rPr lang="fr-HT" sz="2000" i="1">
                            <a:latin typeface="Cambria Math"/>
                            <a:ea typeface="Calibri" panose="020F0502020204030204" pitchFamily="34" charset="0"/>
                            <a:cs typeface="Times New Roman" panose="02020603050405020304" pitchFamily="18" charset="0"/>
                          </a:rPr>
                        </m:ctrlPr>
                      </m:dPr>
                      <m:e>
                        <m:r>
                          <a:rPr lang="fr-FR" sz="2000" b="1" i="1">
                            <a:latin typeface="Cambria Math" panose="02040503050406030204" pitchFamily="18" charset="0"/>
                            <a:ea typeface="Calibri" panose="020F0502020204030204" pitchFamily="34" charset="0"/>
                            <a:cs typeface="Times New Roman" panose="02020603050405020304" pitchFamily="18" charset="0"/>
                          </a:rPr>
                          <m:t>𝒂</m:t>
                        </m:r>
                        <m:r>
                          <a:rPr lang="fr-FR" sz="2000" i="1">
                            <a:latin typeface="Cambria Math" panose="02040503050406030204" pitchFamily="18" charset="0"/>
                            <a:ea typeface="Calibri" panose="020F0502020204030204" pitchFamily="34" charset="0"/>
                            <a:cs typeface="Times New Roman" panose="02020603050405020304" pitchFamily="18" charset="0"/>
                          </a:rPr>
                          <m:t>×</m:t>
                        </m:r>
                        <m:sSup>
                          <m:sSupPr>
                            <m:ctrlPr>
                              <a:rPr lang="fr-HT" sz="2000" i="1">
                                <a:latin typeface="Cambria Math"/>
                                <a:ea typeface="Calibri" panose="020F0502020204030204" pitchFamily="34" charset="0"/>
                                <a:cs typeface="Times New Roman" panose="02020603050405020304" pitchFamily="18" charset="0"/>
                              </a:rPr>
                            </m:ctrlPr>
                          </m:sSupPr>
                          <m:e>
                            <m:r>
                              <a:rPr lang="fr-FR" sz="2000" i="1">
                                <a:latin typeface="Cambria Math" panose="02040503050406030204" pitchFamily="18" charset="0"/>
                                <a:ea typeface="Calibri" panose="020F0502020204030204" pitchFamily="34" charset="0"/>
                                <a:cs typeface="Times New Roman" panose="02020603050405020304" pitchFamily="18" charset="0"/>
                              </a:rPr>
                              <m:t>10</m:t>
                            </m:r>
                          </m:e>
                          <m:sup>
                            <m:r>
                              <a:rPr lang="fr-FR" sz="2000" i="1">
                                <a:latin typeface="Cambria Math" panose="02040503050406030204" pitchFamily="18" charset="0"/>
                                <a:ea typeface="Calibri" panose="020F0502020204030204" pitchFamily="34" charset="0"/>
                                <a:cs typeface="Times New Roman" panose="02020603050405020304" pitchFamily="18" charset="0"/>
                              </a:rPr>
                              <m:t>𝑛</m:t>
                            </m:r>
                          </m:sup>
                        </m:sSup>
                      </m:e>
                    </m:d>
                  </m:oMath>
                </a14:m>
                <a:endParaRPr lang="fr-HT"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
                  <a:tabLst>
                    <a:tab pos="457200" algn="l"/>
                  </a:tabLst>
                </a:pPr>
                <a:r>
                  <a:rPr lang="fr-FR" sz="2000" dirty="0">
                    <a:latin typeface="Times New Roman" panose="02020603050405020304" pitchFamily="18" charset="0"/>
                    <a:ea typeface="Calibri" panose="020F0502020204030204" pitchFamily="34" charset="0"/>
                    <a:cs typeface="Times New Roman" panose="02020603050405020304" pitchFamily="18" charset="0"/>
                  </a:rPr>
                  <a:t>Si </a:t>
                </a:r>
                <a14:m>
                  <m:oMath xmlns:m="http://schemas.openxmlformats.org/officeDocument/2006/math">
                    <m:r>
                      <a:rPr lang="fr-FR" sz="2000" i="1">
                        <a:latin typeface="Cambria Math" panose="02040503050406030204" pitchFamily="18" charset="0"/>
                        <a:ea typeface="Calibri" panose="020F0502020204030204" pitchFamily="34" charset="0"/>
                        <a:cs typeface="Times New Roman" panose="02020603050405020304" pitchFamily="18" charset="0"/>
                      </a:rPr>
                      <m:t>1≤</m:t>
                    </m:r>
                    <m:r>
                      <a:rPr lang="fr-FR" sz="2000" b="1" i="1">
                        <a:latin typeface="Cambria Math" panose="02040503050406030204" pitchFamily="18" charset="0"/>
                        <a:ea typeface="Calibri" panose="020F0502020204030204" pitchFamily="34" charset="0"/>
                        <a:cs typeface="Times New Roman" panose="02020603050405020304" pitchFamily="18" charset="0"/>
                      </a:rPr>
                      <m:t>𝒂</m:t>
                    </m:r>
                    <m:r>
                      <a:rPr lang="fr-FR" sz="2000" i="1">
                        <a:latin typeface="Cambria Math" panose="02040503050406030204" pitchFamily="18" charset="0"/>
                        <a:ea typeface="Calibri" panose="020F0502020204030204" pitchFamily="34" charset="0"/>
                        <a:cs typeface="Times New Roman" panose="02020603050405020304" pitchFamily="18" charset="0"/>
                      </a:rPr>
                      <m:t>&lt;5 →</m:t>
                    </m:r>
                  </m:oMath>
                </a14:m>
                <a:r>
                  <a:rPr lang="fr-FR" sz="2000" dirty="0">
                    <a:latin typeface="Times New Roman" panose="02020603050405020304" pitchFamily="18" charset="0"/>
                    <a:ea typeface="Calibri" panose="020F0502020204030204" pitchFamily="34" charset="0"/>
                    <a:cs typeface="Times New Roman" panose="02020603050405020304" pitchFamily="18" charset="0"/>
                  </a:rPr>
                  <a:t> on remplace </a:t>
                </a:r>
                <a:r>
                  <a:rPr lang="fr-FR" sz="2000" b="1" dirty="0">
                    <a:latin typeface="Times New Roman" panose="02020603050405020304" pitchFamily="18" charset="0"/>
                    <a:ea typeface="Calibri" panose="020F0502020204030204" pitchFamily="34" charset="0"/>
                    <a:cs typeface="Times New Roman" panose="02020603050405020304" pitchFamily="18" charset="0"/>
                  </a:rPr>
                  <a:t>a</a:t>
                </a:r>
                <a:r>
                  <a:rPr lang="fr-FR" sz="2000" dirty="0">
                    <a:latin typeface="Times New Roman" panose="02020603050405020304" pitchFamily="18" charset="0"/>
                    <a:ea typeface="Calibri" panose="020F0502020204030204" pitchFamily="34" charset="0"/>
                    <a:cs typeface="Times New Roman" panose="02020603050405020304" pitchFamily="18" charset="0"/>
                  </a:rPr>
                  <a:t> par 1</a:t>
                </a:r>
                <a:endParaRPr lang="fr-HT"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
                  <a:tabLst>
                    <a:tab pos="457200" algn="l"/>
                  </a:tabLst>
                </a:pPr>
                <a:r>
                  <a:rPr lang="fr-FR" sz="2000" dirty="0">
                    <a:latin typeface="Times New Roman" panose="02020603050405020304" pitchFamily="18" charset="0"/>
                    <a:ea typeface="Calibri" panose="020F0502020204030204" pitchFamily="34" charset="0"/>
                    <a:cs typeface="Times New Roman" panose="02020603050405020304" pitchFamily="18" charset="0"/>
                  </a:rPr>
                  <a:t>Si </a:t>
                </a:r>
                <a14:m>
                  <m:oMath xmlns:m="http://schemas.openxmlformats.org/officeDocument/2006/math">
                    <m:r>
                      <a:rPr lang="fr-FR" sz="2000" i="1">
                        <a:latin typeface="Cambria Math" panose="02040503050406030204" pitchFamily="18" charset="0"/>
                        <a:ea typeface="Calibri" panose="020F0502020204030204" pitchFamily="34" charset="0"/>
                        <a:cs typeface="Times New Roman" panose="02020603050405020304" pitchFamily="18" charset="0"/>
                      </a:rPr>
                      <m:t>5≤</m:t>
                    </m:r>
                    <m:r>
                      <a:rPr lang="fr-FR" sz="2000" b="1" i="1">
                        <a:latin typeface="Cambria Math" panose="02040503050406030204" pitchFamily="18" charset="0"/>
                        <a:ea typeface="Calibri" panose="020F0502020204030204" pitchFamily="34" charset="0"/>
                        <a:cs typeface="Times New Roman" panose="02020603050405020304" pitchFamily="18" charset="0"/>
                      </a:rPr>
                      <m:t>𝒂</m:t>
                    </m:r>
                    <m:r>
                      <a:rPr lang="fr-FR" sz="2000" i="1">
                        <a:latin typeface="Cambria Math" panose="02040503050406030204" pitchFamily="18" charset="0"/>
                        <a:ea typeface="Calibri" panose="020F0502020204030204" pitchFamily="34" charset="0"/>
                        <a:cs typeface="Times New Roman" panose="02020603050405020304" pitchFamily="18" charset="0"/>
                      </a:rPr>
                      <m:t>&lt;10 → </m:t>
                    </m:r>
                  </m:oMath>
                </a14:m>
                <a:r>
                  <a:rPr lang="fr-FR" sz="2000" dirty="0">
                    <a:latin typeface="Times New Roman" panose="02020603050405020304" pitchFamily="18" charset="0"/>
                    <a:ea typeface="Calibri" panose="020F0502020204030204" pitchFamily="34" charset="0"/>
                    <a:cs typeface="Times New Roman" panose="02020603050405020304" pitchFamily="18" charset="0"/>
                  </a:rPr>
                  <a:t>on remplace </a:t>
                </a:r>
                <a:r>
                  <a:rPr lang="fr-FR" sz="2000" b="1" dirty="0">
                    <a:latin typeface="Times New Roman" panose="02020603050405020304" pitchFamily="18" charset="0"/>
                    <a:ea typeface="Calibri" panose="020F0502020204030204" pitchFamily="34" charset="0"/>
                    <a:cs typeface="Times New Roman" panose="02020603050405020304" pitchFamily="18" charset="0"/>
                  </a:rPr>
                  <a:t>a</a:t>
                </a:r>
                <a:r>
                  <a:rPr lang="fr-FR" sz="2000" dirty="0">
                    <a:latin typeface="Times New Roman" panose="02020603050405020304" pitchFamily="18" charset="0"/>
                    <a:ea typeface="Calibri" panose="020F0502020204030204" pitchFamily="34" charset="0"/>
                    <a:cs typeface="Times New Roman" panose="02020603050405020304" pitchFamily="18" charset="0"/>
                  </a:rPr>
                  <a:t> par 10</a:t>
                </a:r>
                <a:endParaRPr lang="fr-HT" sz="20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Rectangle 4">
                <a:extLst>
                  <a:ext uri="{FF2B5EF4-FFF2-40B4-BE49-F238E27FC236}">
                    <a16:creationId xmlns:a16="http://schemas.microsoft.com/office/drawing/2014/main" id="{9239E3A8-CEE7-4FBF-B891-D32FDA810775}"/>
                  </a:ext>
                </a:extLst>
              </p:cNvPr>
              <p:cNvSpPr>
                <a:spLocks noRot="1" noChangeAspect="1" noMove="1" noResize="1" noEditPoints="1" noAdjustHandles="1" noChangeArrowheads="1" noChangeShapeType="1" noTextEdit="1"/>
              </p:cNvSpPr>
              <p:nvPr/>
            </p:nvSpPr>
            <p:spPr>
              <a:xfrm>
                <a:off x="0" y="1999418"/>
                <a:ext cx="9143998" cy="1701107"/>
              </a:xfrm>
              <a:prstGeom prst="rect">
                <a:avLst/>
              </a:prstGeom>
              <a:blipFill>
                <a:blip r:embed="rId2"/>
                <a:stretch>
                  <a:fillRect l="-600" t="-1792" b="-5376"/>
                </a:stretch>
              </a:blipFill>
            </p:spPr>
            <p:txBody>
              <a:bodyPr/>
              <a:lstStyle/>
              <a:p>
                <a:r>
                  <a:rPr lang="fr-HT">
                    <a:noFill/>
                  </a:rPr>
                  <a:t> </a:t>
                </a:r>
              </a:p>
            </p:txBody>
          </p:sp>
        </mc:Fallback>
      </mc:AlternateContent>
      <p:sp>
        <p:nvSpPr>
          <p:cNvPr id="6" name="Rectangle 5">
            <a:extLst>
              <a:ext uri="{FF2B5EF4-FFF2-40B4-BE49-F238E27FC236}">
                <a16:creationId xmlns:a16="http://schemas.microsoft.com/office/drawing/2014/main" xmlns="" id="{FC18E45E-7AC8-47CE-89D5-D562D9F76D2A}"/>
              </a:ext>
            </a:extLst>
          </p:cNvPr>
          <p:cNvSpPr/>
          <p:nvPr/>
        </p:nvSpPr>
        <p:spPr>
          <a:xfrm>
            <a:off x="-125895" y="3594664"/>
            <a:ext cx="9269893" cy="853567"/>
          </a:xfrm>
          <a:prstGeom prst="rect">
            <a:avLst/>
          </a:prstGeom>
        </p:spPr>
        <p:txBody>
          <a:bodyPr wrap="square">
            <a:spAutoFit/>
          </a:bodyPr>
          <a:lstStyle/>
          <a:p>
            <a:pPr marL="228600" algn="just">
              <a:lnSpc>
                <a:spcPct val="107000"/>
              </a:lnSpc>
              <a:spcAft>
                <a:spcPts val="800"/>
              </a:spcAft>
            </a:pPr>
            <a:r>
              <a:rPr lang="fr-FR" sz="20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Exemple :</a:t>
            </a:r>
            <a:endParaRPr lang="fr-HT" sz="2000"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fr-FR" sz="20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D</a:t>
            </a:r>
            <a:r>
              <a:rPr lang="fr-FR" sz="2000"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éterminer </a:t>
            </a:r>
            <a:r>
              <a:rPr lang="fr-FR" sz="20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l’ordre de grandeur </a:t>
            </a:r>
            <a:r>
              <a:rPr lang="fr-FR" sz="2000"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d'un virus dont le diamètre est de </a:t>
            </a:r>
            <a:r>
              <a:rPr lang="fr-FR" sz="2000" i="1"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0,000 </a:t>
            </a:r>
            <a:r>
              <a:rPr lang="fr-FR" sz="2000" i="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000  0001 m .</a:t>
            </a:r>
            <a:r>
              <a:rPr lang="fr-FR" sz="2000"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endParaRPr lang="fr-HT"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xmlns="" id="{49F107E0-A023-495E-B77E-270078EABCDA}"/>
                  </a:ext>
                </a:extLst>
              </p:cNvPr>
              <p:cNvSpPr/>
              <p:nvPr/>
            </p:nvSpPr>
            <p:spPr>
              <a:xfrm>
                <a:off x="0" y="4431944"/>
                <a:ext cx="9144003" cy="1717393"/>
              </a:xfrm>
              <a:prstGeom prst="rect">
                <a:avLst/>
              </a:prstGeom>
            </p:spPr>
            <p:txBody>
              <a:bodyPr wrap="square">
                <a:spAutoFit/>
              </a:bodyPr>
              <a:lstStyle/>
              <a:p>
                <a:pPr marL="228600" algn="just">
                  <a:lnSpc>
                    <a:spcPct val="107000"/>
                  </a:lnSpc>
                  <a:spcAft>
                    <a:spcPts val="800"/>
                  </a:spcAft>
                </a:pPr>
                <a:r>
                  <a:rPr lang="fr-FR" sz="2000" b="1" u="sng" dirty="0"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rPr>
                  <a:t>Réponse :</a:t>
                </a:r>
                <a:endParaRPr lang="fr-HT" sz="20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Arial" panose="020B0604020202020204" pitchFamily="34" charset="0"/>
                  <a:buChar char="•"/>
                  <a:tabLst>
                    <a:tab pos="457200" algn="l"/>
                  </a:tabLst>
                </a:pPr>
                <a:r>
                  <a:rPr lang="fr-FR" sz="2000" dirty="0"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rPr>
                  <a:t>Ecriture </a:t>
                </a:r>
                <a:r>
                  <a:rPr lang="fr-FR" sz="20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scientifique de </a:t>
                </a:r>
                <a:r>
                  <a:rPr lang="fr-FR" sz="2000" b="1" dirty="0" err="1"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rPr>
                  <a:t>D</a:t>
                </a:r>
                <a:r>
                  <a:rPr lang="fr-FR" sz="2000" b="1" baseline="-25000" dirty="0" err="1"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rPr>
                  <a:t>v</a:t>
                </a:r>
                <a:r>
                  <a:rPr lang="fr-FR" sz="2000" b="1" baseline="-25000" dirty="0"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r>
                  <a:rPr lang="fr-FR" sz="20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a:t>
                </a:r>
                <a:r>
                  <a:rPr lang="fr-HT" sz="2000" b="1" dirty="0">
                    <a:solidFill>
                      <a:srgbClr val="0070C0"/>
                    </a:solidFill>
                    <a:latin typeface="Calibri" panose="020F0502020204030204" pitchFamily="34" charset="0"/>
                    <a:ea typeface="Calibri" panose="020F0502020204030204" pitchFamily="34" charset="0"/>
                    <a:cs typeface="Times New Roman" panose="02020603050405020304" pitchFamily="18" charset="0"/>
                  </a:rPr>
                  <a:t> </a:t>
                </a:r>
                <a:r>
                  <a:rPr lang="fr-FR" sz="2000" dirty="0" err="1"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rPr>
                  <a:t>D</a:t>
                </a:r>
                <a:r>
                  <a:rPr lang="fr-FR" sz="2000" baseline="-25000" dirty="0" err="1"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rPr>
                  <a:t>v</a:t>
                </a:r>
                <a:r>
                  <a:rPr lang="fr-FR" sz="2000" dirty="0"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r>
                  <a:rPr lang="fr-FR" sz="20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1</a:t>
                </a:r>
                <a:r>
                  <a:rPr lang="fr-FR" sz="2000" dirty="0"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x 10-</a:t>
                </a:r>
                <a:r>
                  <a:rPr lang="fr-FR" sz="2000" baseline="30000" dirty="0"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rPr>
                  <a:t>10</a:t>
                </a:r>
                <a:endParaRPr lang="fr-HT" sz="20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Arial" panose="020B0604020202020204" pitchFamily="34" charset="0"/>
                  <a:buChar char="•"/>
                  <a:tabLst>
                    <a:tab pos="457200" algn="l"/>
                  </a:tabLst>
                </a:pPr>
                <a14:m>
                  <m:oMath xmlns:m="http://schemas.openxmlformats.org/officeDocument/2006/math">
                    <m:r>
                      <a:rPr lang="fr-FR" sz="2000" i="1">
                        <a:solidFill>
                          <a:srgbClr val="0070C0"/>
                        </a:solidFill>
                        <a:latin typeface="Cambria Math" panose="02040503050406030204" pitchFamily="18" charset="0"/>
                        <a:ea typeface="Calibri" panose="020F0502020204030204" pitchFamily="34" charset="0"/>
                        <a:cs typeface="Times New Roman" panose="02020603050405020304" pitchFamily="18" charset="0"/>
                      </a:rPr>
                      <m:t>1≤</m:t>
                    </m:r>
                    <m:r>
                      <a:rPr lang="fr-FR" sz="2000" b="1" i="1">
                        <a:solidFill>
                          <a:srgbClr val="0070C0"/>
                        </a:solidFill>
                        <a:latin typeface="Cambria Math" panose="02040503050406030204" pitchFamily="18" charset="0"/>
                        <a:ea typeface="Calibri" panose="020F0502020204030204" pitchFamily="34" charset="0"/>
                        <a:cs typeface="Times New Roman" panose="02020603050405020304" pitchFamily="18" charset="0"/>
                      </a:rPr>
                      <m:t>𝒂</m:t>
                    </m:r>
                    <m:r>
                      <a:rPr lang="fr-FR" sz="2000" i="1">
                        <a:solidFill>
                          <a:srgbClr val="0070C0"/>
                        </a:solidFill>
                        <a:latin typeface="Cambria Math" panose="02040503050406030204" pitchFamily="18" charset="0"/>
                        <a:ea typeface="Calibri" panose="020F0502020204030204" pitchFamily="34" charset="0"/>
                        <a:cs typeface="Times New Roman" panose="02020603050405020304" pitchFamily="18" charset="0"/>
                      </a:rPr>
                      <m:t>&lt;5</m:t>
                    </m:r>
                  </m:oMath>
                </a14:m>
                <a:r>
                  <a:rPr lang="fr-FR" sz="2000" baseline="300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r>
                  <a:rPr lang="fr-FR" sz="20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 on a </a:t>
                </a:r>
                <a:r>
                  <a:rPr lang="fr-FR" sz="2000" b="1" dirty="0" err="1"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rPr>
                  <a:t>D</a:t>
                </a:r>
                <a:r>
                  <a:rPr lang="fr-FR" sz="2000" b="1" baseline="-25000" dirty="0" err="1">
                    <a:solidFill>
                      <a:srgbClr val="0070C0"/>
                    </a:solidFill>
                    <a:latin typeface="Times New Roman" panose="02020603050405020304" pitchFamily="18" charset="0"/>
                    <a:ea typeface="Calibri" panose="020F0502020204030204" pitchFamily="34" charset="0"/>
                    <a:cs typeface="Times New Roman" panose="02020603050405020304" pitchFamily="18" charset="0"/>
                  </a:rPr>
                  <a:t>v</a:t>
                </a:r>
                <a:r>
                  <a:rPr lang="fr-FR" sz="2000" b="1" baseline="-25000" dirty="0"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fr-FR" sz="2000" b="1" i="1">
                        <a:solidFill>
                          <a:srgbClr val="0070C0"/>
                        </a:solidFill>
                        <a:latin typeface="Cambria Math" panose="02040503050406030204" pitchFamily="18" charset="0"/>
                        <a:ea typeface="Calibri" panose="020F0502020204030204" pitchFamily="34" charset="0"/>
                        <a:cs typeface="Times New Roman" panose="02020603050405020304" pitchFamily="18" charset="0"/>
                      </a:rPr>
                      <m:t>≈</m:t>
                    </m:r>
                    <m:r>
                      <a:rPr lang="fr-FR" sz="2000">
                        <a:solidFill>
                          <a:srgbClr val="0070C0"/>
                        </a:solidFill>
                        <a:latin typeface="Cambria Math" panose="02040503050406030204" pitchFamily="18" charset="0"/>
                        <a:ea typeface="Calibri" panose="020F0502020204030204" pitchFamily="34" charset="0"/>
                        <a:cs typeface="Times New Roman" panose="02020603050405020304" pitchFamily="18" charset="0"/>
                      </a:rPr>
                      <m:t>1</m:t>
                    </m:r>
                    <m:r>
                      <a:rPr lang="fr-FR" sz="2000" i="1">
                        <a:solidFill>
                          <a:srgbClr val="0070C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fr-HT" sz="2000" i="1">
                            <a:solidFill>
                              <a:srgbClr val="0070C0"/>
                            </a:solidFill>
                            <a:latin typeface="Cambria Math"/>
                            <a:ea typeface="Calibri" panose="020F0502020204030204" pitchFamily="34" charset="0"/>
                            <a:cs typeface="Times New Roman" panose="02020603050405020304" pitchFamily="18" charset="0"/>
                          </a:rPr>
                        </m:ctrlPr>
                      </m:sSupPr>
                      <m:e>
                        <m:r>
                          <a:rPr lang="fr-FR" sz="2000" i="1">
                            <a:solidFill>
                              <a:srgbClr val="0070C0"/>
                            </a:solidFill>
                            <a:latin typeface="Cambria Math" panose="02040503050406030204" pitchFamily="18" charset="0"/>
                            <a:ea typeface="Calibri" panose="020F0502020204030204" pitchFamily="34" charset="0"/>
                            <a:cs typeface="Times New Roman" panose="02020603050405020304" pitchFamily="18" charset="0"/>
                          </a:rPr>
                          <m:t>10</m:t>
                        </m:r>
                      </m:e>
                      <m:sup>
                        <m:r>
                          <a:rPr lang="fr-FR" sz="2000" b="0" i="1" smtClean="0">
                            <a:solidFill>
                              <a:srgbClr val="0070C0"/>
                            </a:solidFill>
                            <a:latin typeface="Cambria Math"/>
                            <a:ea typeface="Calibri" panose="020F0502020204030204" pitchFamily="34" charset="0"/>
                            <a:cs typeface="Times New Roman" panose="02020603050405020304" pitchFamily="18" charset="0"/>
                          </a:rPr>
                          <m:t>10</m:t>
                        </m:r>
                      </m:sup>
                    </m:sSup>
                    <m:r>
                      <a:rPr lang="fr-FR" sz="2000" i="1">
                        <a:solidFill>
                          <a:srgbClr val="0070C0"/>
                        </a:solidFill>
                        <a:latin typeface="Cambria Math" panose="02040503050406030204" pitchFamily="18" charset="0"/>
                        <a:ea typeface="Calibri" panose="020F0502020204030204" pitchFamily="34" charset="0"/>
                        <a:cs typeface="Times New Roman" panose="02020603050405020304" pitchFamily="18" charset="0"/>
                      </a:rPr>
                      <m:t>=</m:t>
                    </m:r>
                  </m:oMath>
                </a14:m>
                <a:r>
                  <a:rPr lang="fr-FR" sz="20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sSup>
                      <m:sSupPr>
                        <m:ctrlPr>
                          <a:rPr lang="fr-HT" sz="2000" i="1">
                            <a:solidFill>
                              <a:srgbClr val="0070C0"/>
                            </a:solidFill>
                            <a:latin typeface="Cambria Math"/>
                            <a:ea typeface="Calibri" panose="020F0502020204030204" pitchFamily="34" charset="0"/>
                            <a:cs typeface="Times New Roman" panose="02020603050405020304" pitchFamily="18" charset="0"/>
                          </a:rPr>
                        </m:ctrlPr>
                      </m:sSupPr>
                      <m:e>
                        <m:r>
                          <a:rPr lang="fr-FR" sz="2000" i="1">
                            <a:solidFill>
                              <a:srgbClr val="0070C0"/>
                            </a:solidFill>
                            <a:latin typeface="Cambria Math" panose="02040503050406030204" pitchFamily="18" charset="0"/>
                            <a:ea typeface="Calibri" panose="020F0502020204030204" pitchFamily="34" charset="0"/>
                            <a:cs typeface="Times New Roman" panose="02020603050405020304" pitchFamily="18" charset="0"/>
                          </a:rPr>
                          <m:t>10</m:t>
                        </m:r>
                      </m:e>
                      <m:sup>
                        <m:r>
                          <a:rPr lang="fr-FR" sz="2000" b="0" i="1" smtClean="0">
                            <a:solidFill>
                              <a:srgbClr val="0070C0"/>
                            </a:solidFill>
                            <a:latin typeface="Cambria Math"/>
                            <a:ea typeface="Calibri" panose="020F0502020204030204" pitchFamily="34" charset="0"/>
                            <a:cs typeface="Times New Roman" panose="02020603050405020304" pitchFamily="18" charset="0"/>
                          </a:rPr>
                          <m:t>−10</m:t>
                        </m:r>
                      </m:sup>
                    </m:sSup>
                  </m:oMath>
                </a14:m>
                <a:r>
                  <a:rPr lang="fr-FR" sz="20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m</a:t>
                </a:r>
                <a:endParaRPr lang="fr-HT" sz="20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fr-FR" sz="2000" b="1" dirty="0"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rPr>
                  <a:t>D’où :  l’ordre de grandeur est de 10-</a:t>
                </a:r>
                <a:r>
                  <a:rPr lang="fr-FR" sz="2000" b="1" baseline="30000" dirty="0"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rPr>
                  <a:t>10</a:t>
                </a:r>
                <a:r>
                  <a:rPr lang="fr-FR" sz="2000" b="1" dirty="0" smtClean="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r>
                  <a:rPr lang="fr-FR" sz="20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m.</a:t>
                </a:r>
                <a:endParaRPr lang="fr-HT" sz="20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Rectangle 6">
                <a:extLst>
                  <a:ext uri="{FF2B5EF4-FFF2-40B4-BE49-F238E27FC236}">
                    <a16:creationId xmlns:a16="http://schemas.microsoft.com/office/drawing/2014/main" xmlns="" xmlns:a14="http://schemas.microsoft.com/office/drawing/2010/main" id="{49F107E0-A023-495E-B77E-270078EABCDA}"/>
                  </a:ext>
                </a:extLst>
              </p:cNvPr>
              <p:cNvSpPr>
                <a:spLocks noRot="1" noChangeAspect="1" noMove="1" noResize="1" noEditPoints="1" noAdjustHandles="1" noChangeArrowheads="1" noChangeShapeType="1" noTextEdit="1"/>
              </p:cNvSpPr>
              <p:nvPr/>
            </p:nvSpPr>
            <p:spPr>
              <a:xfrm>
                <a:off x="0" y="4431944"/>
                <a:ext cx="9144003" cy="1717393"/>
              </a:xfrm>
              <a:prstGeom prst="rect">
                <a:avLst/>
              </a:prstGeom>
              <a:blipFill rotWithShape="1">
                <a:blip r:embed="rId3"/>
                <a:stretch>
                  <a:fillRect l="-533" t="-1773" b="-4255"/>
                </a:stretch>
              </a:blipFill>
            </p:spPr>
            <p:txBody>
              <a:bodyPr/>
              <a:lstStyle/>
              <a:p>
                <a:r>
                  <a:rPr lang="fr-FR">
                    <a:noFill/>
                  </a:rPr>
                  <a:t> </a:t>
                </a:r>
              </a:p>
            </p:txBody>
          </p:sp>
        </mc:Fallback>
      </mc:AlternateContent>
      <p:sp>
        <p:nvSpPr>
          <p:cNvPr id="9" name="Espace réservé du numéro de diapositive 8">
            <a:extLst>
              <a:ext uri="{FF2B5EF4-FFF2-40B4-BE49-F238E27FC236}">
                <a16:creationId xmlns:a16="http://schemas.microsoft.com/office/drawing/2014/main" xmlns="" id="{F357E1CE-6039-4800-B7A1-69F7F63E3CF2}"/>
              </a:ext>
            </a:extLst>
          </p:cNvPr>
          <p:cNvSpPr>
            <a:spLocks noGrp="1"/>
          </p:cNvSpPr>
          <p:nvPr>
            <p:ph type="sldNum" sz="quarter" idx="12"/>
          </p:nvPr>
        </p:nvSpPr>
        <p:spPr/>
        <p:txBody>
          <a:bodyPr/>
          <a:lstStyle/>
          <a:p>
            <a:fld id="{26AFC765-89FB-4D41-BDFD-C70A1B65DB29}" type="slidenum">
              <a:rPr lang="fr-HT" smtClean="0"/>
              <a:t>3</a:t>
            </a:fld>
            <a:endParaRPr lang="fr-HT"/>
          </a:p>
        </p:txBody>
      </p:sp>
      <p:pic>
        <p:nvPicPr>
          <p:cNvPr id="10" name="Picture 9"/>
          <p:cNvPicPr/>
          <p:nvPr/>
        </p:nvPicPr>
        <p:blipFill>
          <a:blip r:embed="rId4">
            <a:extLst>
              <a:ext uri="{28A0092B-C50C-407E-A947-70E740481C1C}">
                <a14:useLocalDpi xmlns:a14="http://schemas.microsoft.com/office/drawing/2010/main" val="0"/>
              </a:ext>
            </a:extLst>
          </a:blip>
          <a:srcRect/>
          <a:stretch>
            <a:fillRect/>
          </a:stretch>
        </p:blipFill>
        <p:spPr bwMode="auto">
          <a:xfrm>
            <a:off x="5834130" y="2382591"/>
            <a:ext cx="2665926" cy="1729008"/>
          </a:xfrm>
          <a:prstGeom prst="rect">
            <a:avLst/>
          </a:prstGeom>
          <a:noFill/>
          <a:ln>
            <a:noFill/>
          </a:ln>
        </p:spPr>
      </p:pic>
    </p:spTree>
    <p:extLst>
      <p:ext uri="{BB962C8B-B14F-4D97-AF65-F5344CB8AC3E}">
        <p14:creationId xmlns:p14="http://schemas.microsoft.com/office/powerpoint/2010/main" val="2997541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800A6C8F-6FB6-46DF-82C0-C7EFBB51823B}"/>
              </a:ext>
            </a:extLst>
          </p:cNvPr>
          <p:cNvSpPr/>
          <p:nvPr/>
        </p:nvSpPr>
        <p:spPr>
          <a:xfrm>
            <a:off x="0" y="1326797"/>
            <a:ext cx="9144000" cy="1161344"/>
          </a:xfrm>
          <a:prstGeom prst="rect">
            <a:avLst/>
          </a:prstGeom>
        </p:spPr>
        <p:txBody>
          <a:bodyPr wrap="square">
            <a:spAutoFit/>
          </a:bodyPr>
          <a:lstStyle/>
          <a:p>
            <a:pPr marL="342900" lvl="0" indent="-342900" algn="just">
              <a:lnSpc>
                <a:spcPct val="107000"/>
              </a:lnSpc>
              <a:spcAft>
                <a:spcPts val="0"/>
              </a:spcAft>
              <a:buFont typeface="Wingdings" panose="05000000000000000000" pitchFamily="2" charset="2"/>
              <a:buChar char="Ø"/>
            </a:pPr>
            <a:r>
              <a:rPr lang="fr-FR" sz="2200" b="1" dirty="0">
                <a:latin typeface="Calibri" panose="020F0502020204030204" pitchFamily="34" charset="0"/>
                <a:ea typeface="Calibri" panose="020F0502020204030204" pitchFamily="34" charset="0"/>
                <a:cs typeface="Calibri" panose="020F0502020204030204" pitchFamily="34" charset="0"/>
              </a:rPr>
              <a:t>Chiffres significatifs</a:t>
            </a:r>
            <a:endParaRPr lang="fr-HT" sz="22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fr-FR" sz="2200" dirty="0">
                <a:latin typeface="Times New Roman" panose="02020603050405020304" pitchFamily="18" charset="0"/>
                <a:ea typeface="Calibri" panose="020F0502020204030204" pitchFamily="34" charset="0"/>
                <a:cs typeface="Times New Roman" panose="02020603050405020304" pitchFamily="18" charset="0"/>
              </a:rPr>
              <a:t>Les chiffres significatifs d’une mesure sont les </a:t>
            </a:r>
            <a:r>
              <a:rPr lang="fr-FR" sz="2200" b="1" dirty="0">
                <a:latin typeface="Times New Roman" panose="02020603050405020304" pitchFamily="18" charset="0"/>
                <a:ea typeface="Calibri" panose="020F0502020204030204" pitchFamily="34" charset="0"/>
                <a:cs typeface="Times New Roman" panose="02020603050405020304" pitchFamily="18" charset="0"/>
              </a:rPr>
              <a:t>chiffres certains </a:t>
            </a:r>
            <a:r>
              <a:rPr lang="fr-FR" sz="2200" dirty="0">
                <a:latin typeface="Times New Roman" panose="02020603050405020304" pitchFamily="18" charset="0"/>
                <a:ea typeface="Calibri" panose="020F0502020204030204" pitchFamily="34" charset="0"/>
                <a:cs typeface="Times New Roman" panose="02020603050405020304" pitchFamily="18" charset="0"/>
              </a:rPr>
              <a:t>plus le </a:t>
            </a:r>
            <a:r>
              <a:rPr lang="fr-FR" sz="2200" b="1" dirty="0">
                <a:latin typeface="Times New Roman" panose="02020603050405020304" pitchFamily="18" charset="0"/>
                <a:ea typeface="Calibri" panose="020F0502020204030204" pitchFamily="34" charset="0"/>
                <a:cs typeface="Times New Roman" panose="02020603050405020304" pitchFamily="18" charset="0"/>
              </a:rPr>
              <a:t>premier chiffre qui peut être incertain</a:t>
            </a:r>
            <a:r>
              <a:rPr lang="fr-FR" sz="2200" dirty="0">
                <a:latin typeface="Times New Roman" panose="02020603050405020304" pitchFamily="18" charset="0"/>
                <a:ea typeface="Calibri" panose="020F0502020204030204" pitchFamily="34" charset="0"/>
                <a:cs typeface="Times New Roman" panose="02020603050405020304" pitchFamily="18" charset="0"/>
              </a:rPr>
              <a:t>.</a:t>
            </a:r>
            <a:endParaRPr lang="fr-HT" sz="220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xmlns="" id="{C644AB46-48CC-472F-B82E-F06468D11FE6}"/>
              </a:ext>
            </a:extLst>
          </p:cNvPr>
          <p:cNvSpPr/>
          <p:nvPr/>
        </p:nvSpPr>
        <p:spPr>
          <a:xfrm>
            <a:off x="0" y="30353"/>
            <a:ext cx="9144000" cy="52322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fr-HT" sz="2800" b="1" dirty="0">
                <a:latin typeface="Times-Roman"/>
              </a:rPr>
              <a:t>Introduction : Objet et méthodes de la physique</a:t>
            </a:r>
            <a:endParaRPr lang="fr-HT" sz="2800" b="1" dirty="0"/>
          </a:p>
        </p:txBody>
      </p:sp>
      <p:sp>
        <p:nvSpPr>
          <p:cNvPr id="4" name="Rectangle 3">
            <a:extLst>
              <a:ext uri="{FF2B5EF4-FFF2-40B4-BE49-F238E27FC236}">
                <a16:creationId xmlns:a16="http://schemas.microsoft.com/office/drawing/2014/main" xmlns="" id="{186594C2-E76A-43DB-A041-BE5CCCE4208F}"/>
              </a:ext>
            </a:extLst>
          </p:cNvPr>
          <p:cNvSpPr/>
          <p:nvPr/>
        </p:nvSpPr>
        <p:spPr>
          <a:xfrm>
            <a:off x="0" y="461624"/>
            <a:ext cx="9144000" cy="2083391"/>
          </a:xfrm>
          <a:prstGeom prst="rect">
            <a:avLst/>
          </a:prstGeom>
        </p:spPr>
        <p:txBody>
          <a:bodyPr wrap="square">
            <a:spAutoFit/>
          </a:bodyPr>
          <a:lstStyle/>
          <a:p>
            <a:pPr marL="342900" indent="-342900">
              <a:lnSpc>
                <a:spcPct val="107000"/>
              </a:lnSpc>
              <a:spcAft>
                <a:spcPts val="800"/>
              </a:spcAft>
              <a:buFont typeface="Wingdings" panose="05000000000000000000" pitchFamily="2" charset="2"/>
              <a:buChar char="v"/>
            </a:pPr>
            <a:r>
              <a:rPr lang="fr-FR" sz="2400" b="1" dirty="0">
                <a:latin typeface="Calibri" panose="020F0502020204030204" pitchFamily="34" charset="0"/>
                <a:ea typeface="Calibri" panose="020F0502020204030204" pitchFamily="34" charset="0"/>
                <a:cs typeface="Times New Roman" panose="02020603050405020304" pitchFamily="18" charset="0"/>
              </a:rPr>
              <a:t>Rappels sur </a:t>
            </a:r>
            <a:r>
              <a:rPr lang="fr-FR" sz="2400" b="1" dirty="0" smtClean="0">
                <a:latin typeface="Calibri" panose="020F0502020204030204" pitchFamily="34" charset="0"/>
                <a:ea typeface="Calibri" panose="020F0502020204030204" pitchFamily="34" charset="0"/>
                <a:cs typeface="Times New Roman" panose="02020603050405020304" pitchFamily="18" charset="0"/>
              </a:rPr>
              <a:t>la </a:t>
            </a:r>
            <a:r>
              <a:rPr lang="fr-FR" sz="2400" b="1" dirty="0">
                <a:latin typeface="Calibri" panose="020F0502020204030204" pitchFamily="34" charset="0"/>
                <a:ea typeface="Calibri" panose="020F0502020204030204" pitchFamily="34" charset="0"/>
                <a:cs typeface="Times New Roman" panose="02020603050405020304" pitchFamily="18" charset="0"/>
              </a:rPr>
              <a:t>notation scientifique et les chiffres significatifs</a:t>
            </a:r>
            <a:r>
              <a:rPr lang="fr-FR" sz="2400" b="1" dirty="0" smtClean="0">
                <a:latin typeface="Calibri" panose="020F0502020204030204" pitchFamily="34" charset="0"/>
                <a:ea typeface="Calibri" panose="020F0502020204030204" pitchFamily="34" charset="0"/>
                <a:cs typeface="Times New Roman" panose="02020603050405020304" pitchFamily="18" charset="0"/>
              </a:rPr>
              <a:t>.</a:t>
            </a:r>
          </a:p>
          <a:p>
            <a:pPr marL="342900" indent="-342900">
              <a:lnSpc>
                <a:spcPct val="107000"/>
              </a:lnSpc>
              <a:spcAft>
                <a:spcPts val="800"/>
              </a:spcAft>
              <a:buFont typeface="Wingdings" panose="05000000000000000000" pitchFamily="2" charset="2"/>
              <a:buChar char="v"/>
            </a:pPr>
            <a:endParaRPr lang="fr-FR" sz="2400" b="1"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Aft>
                <a:spcPts val="800"/>
              </a:spcAft>
              <a:buFont typeface="Wingdings" panose="05000000000000000000" pitchFamily="2" charset="2"/>
              <a:buChar char="v"/>
            </a:pPr>
            <a:endParaRPr lang="fr-FR" sz="2400" b="1"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fr-FR" sz="2400" b="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xmlns="" id="{0384765B-587C-40D0-B706-C84B9BDA0AC7}"/>
              </a:ext>
            </a:extLst>
          </p:cNvPr>
          <p:cNvSpPr/>
          <p:nvPr/>
        </p:nvSpPr>
        <p:spPr>
          <a:xfrm>
            <a:off x="264015" y="2691164"/>
            <a:ext cx="8545133" cy="1146148"/>
          </a:xfrm>
          <a:prstGeom prst="rect">
            <a:avLst/>
          </a:prstGeom>
        </p:spPr>
        <p:txBody>
          <a:bodyPr wrap="square">
            <a:spAutoFit/>
          </a:bodyPr>
          <a:lstStyle/>
          <a:p>
            <a:pPr marL="342900" lvl="0" indent="-342900" algn="just">
              <a:lnSpc>
                <a:spcPct val="107000"/>
              </a:lnSpc>
              <a:spcAft>
                <a:spcPts val="0"/>
              </a:spcAft>
              <a:buFont typeface="Wingdings" panose="05000000000000000000" pitchFamily="2" charset="2"/>
              <a:buChar char="q"/>
            </a:pPr>
            <a:r>
              <a:rPr lang="fr-FR" sz="2400" b="1" dirty="0">
                <a:latin typeface="Calibri" panose="020F0502020204030204" pitchFamily="34" charset="0"/>
                <a:ea typeface="Calibri" panose="020F0502020204030204" pitchFamily="34" charset="0"/>
                <a:cs typeface="Calibri" panose="020F0502020204030204" pitchFamily="34" charset="0"/>
              </a:rPr>
              <a:t>Règles pour le dénombrement des chiffres significatifs </a:t>
            </a:r>
            <a:r>
              <a:rPr lang="fr-FR" sz="2400" dirty="0" smtClean="0">
                <a:latin typeface="Calibri" panose="020F0502020204030204" pitchFamily="34" charset="0"/>
                <a:ea typeface="Calibri" panose="020F0502020204030204" pitchFamily="34" charset="0"/>
                <a:cs typeface="Calibri" panose="020F0502020204030204" pitchFamily="34" charset="0"/>
              </a:rPr>
              <a:t>:</a:t>
            </a:r>
            <a:endParaRPr lang="fr-HT"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Wingdings" panose="05000000000000000000" pitchFamily="2" charset="2"/>
              <a:buChar char="v"/>
            </a:pPr>
            <a:r>
              <a:rPr lang="fr-FR" sz="2000" dirty="0" smtClean="0">
                <a:latin typeface="Times New Roman" panose="02020603050405020304" pitchFamily="18" charset="0"/>
                <a:ea typeface="Calibri" panose="020F0502020204030204" pitchFamily="34" charset="0"/>
                <a:cs typeface="Times New Roman" panose="02020603050405020304" pitchFamily="18" charset="0"/>
              </a:rPr>
              <a:t>	Tout </a:t>
            </a:r>
            <a:r>
              <a:rPr lang="fr-FR" sz="2000" dirty="0">
                <a:latin typeface="Times New Roman" panose="02020603050405020304" pitchFamily="18" charset="0"/>
                <a:ea typeface="Calibri" panose="020F0502020204030204" pitchFamily="34" charset="0"/>
                <a:cs typeface="Times New Roman" panose="02020603050405020304" pitchFamily="18" charset="0"/>
              </a:rPr>
              <a:t>chiffre différent de zéro est significatif</a:t>
            </a:r>
            <a:endParaRPr lang="fr-HT"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FR" sz="20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Exemple : </a:t>
            </a:r>
            <a:r>
              <a:rPr lang="fr-FR" sz="20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34,2764 comporte 6 chiffres significatifs</a:t>
            </a:r>
            <a:endParaRPr lang="fr-HT"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Espace réservé du numéro de diapositive 8">
            <a:extLst>
              <a:ext uri="{FF2B5EF4-FFF2-40B4-BE49-F238E27FC236}">
                <a16:creationId xmlns:a16="http://schemas.microsoft.com/office/drawing/2014/main" xmlns="" id="{3B4AA3A6-FEEE-4DDF-905A-94FA06412752}"/>
              </a:ext>
            </a:extLst>
          </p:cNvPr>
          <p:cNvSpPr>
            <a:spLocks noGrp="1"/>
          </p:cNvSpPr>
          <p:nvPr>
            <p:ph type="sldNum" sz="quarter" idx="12"/>
          </p:nvPr>
        </p:nvSpPr>
        <p:spPr/>
        <p:txBody>
          <a:bodyPr/>
          <a:lstStyle/>
          <a:p>
            <a:fld id="{26AFC765-89FB-4D41-BDFD-C70A1B65DB29}" type="slidenum">
              <a:rPr lang="fr-HT" smtClean="0"/>
              <a:t>4</a:t>
            </a:fld>
            <a:endParaRPr lang="fr-HT"/>
          </a:p>
        </p:txBody>
      </p:sp>
      <p:sp>
        <p:nvSpPr>
          <p:cNvPr id="5" name="Rectangle 4"/>
          <p:cNvSpPr/>
          <p:nvPr/>
        </p:nvSpPr>
        <p:spPr>
          <a:xfrm>
            <a:off x="-154546" y="3896815"/>
            <a:ext cx="8963694" cy="707886"/>
          </a:xfrm>
          <a:prstGeom prst="rect">
            <a:avLst/>
          </a:prstGeom>
        </p:spPr>
        <p:txBody>
          <a:bodyPr wrap="square">
            <a:spAutoFit/>
          </a:bodyPr>
          <a:lstStyle/>
          <a:p>
            <a:pPr marL="800100" lvl="1" indent="-342900">
              <a:buFont typeface="Wingdings" panose="05000000000000000000" pitchFamily="2" charset="2"/>
              <a:buChar char="v"/>
            </a:pPr>
            <a:r>
              <a:rPr lang="fr-FR" sz="2000" dirty="0" smtClean="0">
                <a:latin typeface="Times New Roman" panose="02020603050405020304" pitchFamily="18" charset="0"/>
                <a:cs typeface="Times New Roman" panose="02020603050405020304" pitchFamily="18" charset="0"/>
              </a:rPr>
              <a:t>  Seuls </a:t>
            </a:r>
            <a:r>
              <a:rPr lang="fr-FR" sz="2000" dirty="0">
                <a:latin typeface="Times New Roman" panose="02020603050405020304" pitchFamily="18" charset="0"/>
                <a:cs typeface="Times New Roman" panose="02020603050405020304" pitchFamily="18" charset="0"/>
              </a:rPr>
              <a:t>les zéros apparaissant après le premier chiffre non nul sont significatifs</a:t>
            </a:r>
          </a:p>
          <a:p>
            <a:r>
              <a:rPr lang="fr-FR" sz="2000" dirty="0" smtClean="0">
                <a:latin typeface="Times New Roman" panose="02020603050405020304" pitchFamily="18" charset="0"/>
                <a:cs typeface="Times New Roman" panose="02020603050405020304" pitchFamily="18" charset="0"/>
              </a:rPr>
              <a:t>	</a:t>
            </a:r>
            <a:r>
              <a:rPr lang="fr-FR" sz="2000" b="1" dirty="0" smtClean="0">
                <a:solidFill>
                  <a:srgbClr val="FF0000"/>
                </a:solidFill>
                <a:latin typeface="Times New Roman" panose="02020603050405020304" pitchFamily="18" charset="0"/>
                <a:cs typeface="Times New Roman" panose="02020603050405020304" pitchFamily="18" charset="0"/>
              </a:rPr>
              <a:t>Exemple</a:t>
            </a:r>
            <a:r>
              <a:rPr lang="fr-FR" sz="2000" dirty="0" smtClean="0">
                <a:solidFill>
                  <a:srgbClr val="FF0000"/>
                </a:solidFill>
                <a:latin typeface="Times New Roman" panose="02020603050405020304" pitchFamily="18" charset="0"/>
                <a:cs typeface="Times New Roman" panose="02020603050405020304" pitchFamily="18" charset="0"/>
              </a:rPr>
              <a:t> </a:t>
            </a:r>
            <a:r>
              <a:rPr lang="fr-FR" sz="2000" dirty="0">
                <a:solidFill>
                  <a:srgbClr val="FF0000"/>
                </a:solidFill>
                <a:latin typeface="Times New Roman" panose="02020603050405020304" pitchFamily="18" charset="0"/>
                <a:cs typeface="Times New Roman" panose="02020603050405020304" pitchFamily="18" charset="0"/>
              </a:rPr>
              <a:t>: 0,070640 comporte 5 chiffres significatifs</a:t>
            </a:r>
          </a:p>
        </p:txBody>
      </p:sp>
      <p:sp>
        <p:nvSpPr>
          <p:cNvPr id="6" name="Rectangle 5"/>
          <p:cNvSpPr/>
          <p:nvPr/>
        </p:nvSpPr>
        <p:spPr>
          <a:xfrm>
            <a:off x="302652" y="4630459"/>
            <a:ext cx="8912180" cy="707886"/>
          </a:xfrm>
          <a:prstGeom prst="rect">
            <a:avLst/>
          </a:prstGeom>
        </p:spPr>
        <p:txBody>
          <a:bodyPr wrap="square">
            <a:spAutoFit/>
          </a:bodyPr>
          <a:lstStyle/>
          <a:p>
            <a:pPr marL="342900" indent="-342900">
              <a:buFont typeface="Wingdings" panose="05000000000000000000" pitchFamily="2" charset="2"/>
              <a:buChar char="v"/>
            </a:pPr>
            <a:r>
              <a:rPr lang="fr-FR" sz="2000" dirty="0">
                <a:latin typeface="Times New Roman" panose="02020603050405020304" pitchFamily="18" charset="0"/>
                <a:cs typeface="Times New Roman" panose="02020603050405020304" pitchFamily="18" charset="0"/>
              </a:rPr>
              <a:t>En notation scientifique, le (s) zéro(s) de la puissance de 10 ne compte (nt) pas</a:t>
            </a:r>
          </a:p>
          <a:p>
            <a:r>
              <a:rPr lang="fr-FR" sz="2000" b="1" dirty="0">
                <a:solidFill>
                  <a:srgbClr val="FF0000"/>
                </a:solidFill>
                <a:latin typeface="Times New Roman" panose="02020603050405020304" pitchFamily="18" charset="0"/>
                <a:cs typeface="Times New Roman" panose="02020603050405020304" pitchFamily="18" charset="0"/>
              </a:rPr>
              <a:t>Exemple</a:t>
            </a:r>
            <a:r>
              <a:rPr lang="fr-FR" sz="2000" dirty="0">
                <a:solidFill>
                  <a:srgbClr val="FF0000"/>
                </a:solidFill>
                <a:latin typeface="Times New Roman" panose="02020603050405020304" pitchFamily="18" charset="0"/>
                <a:cs typeface="Times New Roman" panose="02020603050405020304" pitchFamily="18" charset="0"/>
              </a:rPr>
              <a:t> : 3,40 x 106 comporte 3 chiffres significatifs</a:t>
            </a:r>
          </a:p>
        </p:txBody>
      </p:sp>
    </p:spTree>
    <p:extLst>
      <p:ext uri="{BB962C8B-B14F-4D97-AF65-F5344CB8AC3E}">
        <p14:creationId xmlns:p14="http://schemas.microsoft.com/office/powerpoint/2010/main" val="2139629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C644AB46-48CC-472F-B82E-F06468D11FE6}"/>
              </a:ext>
            </a:extLst>
          </p:cNvPr>
          <p:cNvSpPr/>
          <p:nvPr/>
        </p:nvSpPr>
        <p:spPr>
          <a:xfrm>
            <a:off x="0" y="30353"/>
            <a:ext cx="9144000" cy="52322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fr-HT" sz="2800" b="1" dirty="0">
                <a:latin typeface="Times-Roman"/>
              </a:rPr>
              <a:t>Introduction : Objet et méthodes de la physique</a:t>
            </a:r>
            <a:endParaRPr lang="fr-HT" sz="2800" b="1" dirty="0"/>
          </a:p>
        </p:txBody>
      </p:sp>
      <p:sp>
        <p:nvSpPr>
          <p:cNvPr id="10" name="Rectangle 9">
            <a:extLst>
              <a:ext uri="{FF2B5EF4-FFF2-40B4-BE49-F238E27FC236}">
                <a16:creationId xmlns:a16="http://schemas.microsoft.com/office/drawing/2014/main" xmlns="" id="{9FA4D99A-39CA-4105-B5BA-93FFF779ECA2}"/>
              </a:ext>
            </a:extLst>
          </p:cNvPr>
          <p:cNvSpPr/>
          <p:nvPr/>
        </p:nvSpPr>
        <p:spPr>
          <a:xfrm>
            <a:off x="0" y="711775"/>
            <a:ext cx="8757634" cy="2091085"/>
          </a:xfrm>
          <a:prstGeom prst="rect">
            <a:avLst/>
          </a:prstGeom>
        </p:spPr>
        <p:txBody>
          <a:bodyPr wrap="square">
            <a:spAutoFit/>
          </a:bodyPr>
          <a:lstStyle/>
          <a:p>
            <a:pPr marL="1200150" lvl="2" indent="-285750" algn="just">
              <a:lnSpc>
                <a:spcPct val="107000"/>
              </a:lnSpc>
              <a:buFont typeface="Wingdings" panose="05000000000000000000" pitchFamily="2" charset="2"/>
              <a:buChar char="q"/>
            </a:pPr>
            <a:r>
              <a:rPr lang="fr-FR" sz="2200" b="1" dirty="0">
                <a:latin typeface="Times New Roman" panose="02020603050405020304" pitchFamily="18" charset="0"/>
                <a:ea typeface="Calibri" panose="020F0502020204030204" pitchFamily="34" charset="0"/>
                <a:cs typeface="Times New Roman" panose="02020603050405020304" pitchFamily="18" charset="0"/>
              </a:rPr>
              <a:t>Chiffres significatifs d’un résultat de calcul :</a:t>
            </a:r>
            <a:endParaRPr lang="fr-HT" sz="22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v"/>
            </a:pPr>
            <a:r>
              <a:rPr lang="fr-FR" sz="2200" b="1" dirty="0">
                <a:latin typeface="Times New Roman" panose="02020603050405020304" pitchFamily="18" charset="0"/>
                <a:ea typeface="Calibri" panose="020F0502020204030204" pitchFamily="34" charset="0"/>
                <a:cs typeface="Times New Roman" panose="02020603050405020304" pitchFamily="18" charset="0"/>
              </a:rPr>
              <a:t>Addition et soustraction</a:t>
            </a:r>
            <a:endParaRPr lang="fr-HT" sz="2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FR" sz="2200" dirty="0" smtClean="0">
                <a:latin typeface="Times New Roman" panose="02020603050405020304" pitchFamily="18" charset="0"/>
                <a:ea typeface="Calibri" panose="020F0502020204030204" pitchFamily="34" charset="0"/>
                <a:cs typeface="Times New Roman" panose="02020603050405020304" pitchFamily="18" charset="0"/>
              </a:rPr>
              <a:t>	Le </a:t>
            </a:r>
            <a:r>
              <a:rPr lang="fr-FR" sz="2200" dirty="0">
                <a:latin typeface="Times New Roman" panose="02020603050405020304" pitchFamily="18" charset="0"/>
                <a:ea typeface="Calibri" panose="020F0502020204030204" pitchFamily="34" charset="0"/>
                <a:cs typeface="Times New Roman" panose="02020603050405020304" pitchFamily="18" charset="0"/>
              </a:rPr>
              <a:t>résultat d’une addition ou d’une soustraction a autant de décimales </a:t>
            </a:r>
            <a:r>
              <a:rPr lang="fr-FR" sz="2200" dirty="0" smtClean="0">
                <a:latin typeface="Times New Roman" panose="02020603050405020304" pitchFamily="18" charset="0"/>
                <a:ea typeface="Calibri" panose="020F0502020204030204" pitchFamily="34" charset="0"/>
                <a:cs typeface="Times New Roman" panose="02020603050405020304" pitchFamily="18" charset="0"/>
              </a:rPr>
              <a:t>	que la </a:t>
            </a:r>
            <a:r>
              <a:rPr lang="fr-FR" sz="2200" dirty="0">
                <a:latin typeface="Times New Roman" panose="02020603050405020304" pitchFamily="18" charset="0"/>
                <a:ea typeface="Calibri" panose="020F0502020204030204" pitchFamily="34" charset="0"/>
                <a:cs typeface="Times New Roman" panose="02020603050405020304" pitchFamily="18" charset="0"/>
              </a:rPr>
              <a:t>mesure (utilisée dans le calcul) qui en a le moins</a:t>
            </a:r>
            <a:endParaRPr lang="fr-HT" sz="2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FR" sz="22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Exemple :</a:t>
            </a:r>
            <a:r>
              <a:rPr lang="fr-FR" sz="2200" i="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r>
              <a:rPr lang="fr-FR" sz="2200" dirty="0">
                <a:latin typeface="Times New Roman" panose="02020603050405020304" pitchFamily="18" charset="0"/>
                <a:ea typeface="Calibri" panose="020F0502020204030204" pitchFamily="34" charset="0"/>
                <a:cs typeface="Times New Roman" panose="02020603050405020304" pitchFamily="18" charset="0"/>
              </a:rPr>
              <a:t>85,3 + 11,235 = 96, 5</a:t>
            </a:r>
            <a:r>
              <a:rPr lang="fr-FR" sz="22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35</a:t>
            </a:r>
            <a:endParaRPr lang="fr-HT"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Espace réservé du numéro de diapositive 5">
            <a:extLst>
              <a:ext uri="{FF2B5EF4-FFF2-40B4-BE49-F238E27FC236}">
                <a16:creationId xmlns:a16="http://schemas.microsoft.com/office/drawing/2014/main" xmlns="" id="{791CD448-501E-4CBC-B9F7-8670C95E4F7D}"/>
              </a:ext>
            </a:extLst>
          </p:cNvPr>
          <p:cNvSpPr>
            <a:spLocks noGrp="1"/>
          </p:cNvSpPr>
          <p:nvPr>
            <p:ph type="sldNum" sz="quarter" idx="12"/>
          </p:nvPr>
        </p:nvSpPr>
        <p:spPr/>
        <p:txBody>
          <a:bodyPr/>
          <a:lstStyle/>
          <a:p>
            <a:fld id="{26AFC765-89FB-4D41-BDFD-C70A1B65DB29}" type="slidenum">
              <a:rPr lang="fr-HT" smtClean="0"/>
              <a:t>5</a:t>
            </a:fld>
            <a:endParaRPr lang="fr-HT"/>
          </a:p>
        </p:txBody>
      </p:sp>
      <p:sp>
        <p:nvSpPr>
          <p:cNvPr id="11" name="Rectangle 10">
            <a:extLst>
              <a:ext uri="{FF2B5EF4-FFF2-40B4-BE49-F238E27FC236}">
                <a16:creationId xmlns:a16="http://schemas.microsoft.com/office/drawing/2014/main" xmlns="" id="{AB887DA2-8BF0-4FCD-9526-82B9F7467B5F}"/>
              </a:ext>
            </a:extLst>
          </p:cNvPr>
          <p:cNvSpPr/>
          <p:nvPr/>
        </p:nvSpPr>
        <p:spPr>
          <a:xfrm>
            <a:off x="0" y="2802861"/>
            <a:ext cx="9144000" cy="750975"/>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lnSpc>
                <a:spcPct val="107000"/>
              </a:lnSpc>
              <a:spcAft>
                <a:spcPts val="800"/>
              </a:spcAft>
            </a:pPr>
            <a:r>
              <a:rPr lang="fr-FR" sz="2000" dirty="0">
                <a:latin typeface="Times New Roman" panose="02020603050405020304" pitchFamily="18" charset="0"/>
                <a:ea typeface="Calibri" panose="020F0502020204030204" pitchFamily="34" charset="0"/>
                <a:cs typeface="Times New Roman" panose="02020603050405020304" pitchFamily="18" charset="0"/>
              </a:rPr>
              <a:t>Le résultat est </a:t>
            </a:r>
            <a:r>
              <a:rPr lang="fr-FR" sz="2000" b="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96,5</a:t>
            </a:r>
            <a:r>
              <a:rPr lang="fr-FR" sz="2000" dirty="0">
                <a:latin typeface="Times New Roman" panose="02020603050405020304" pitchFamily="18" charset="0"/>
                <a:ea typeface="Calibri" panose="020F0502020204030204" pitchFamily="34" charset="0"/>
                <a:cs typeface="Times New Roman" panose="02020603050405020304" pitchFamily="18" charset="0"/>
              </a:rPr>
              <a:t> car il ne doit comporter que </a:t>
            </a:r>
            <a:r>
              <a:rPr lang="fr-FR" sz="2000" b="1" dirty="0">
                <a:latin typeface="Times New Roman" panose="02020603050405020304" pitchFamily="18" charset="0"/>
                <a:ea typeface="Calibri" panose="020F0502020204030204" pitchFamily="34" charset="0"/>
                <a:cs typeface="Times New Roman" panose="02020603050405020304" pitchFamily="18" charset="0"/>
              </a:rPr>
              <a:t>3 chiffres </a:t>
            </a:r>
            <a:r>
              <a:rPr lang="fr-FR" sz="2000" b="1" dirty="0" smtClean="0">
                <a:latin typeface="Times New Roman" panose="02020603050405020304" pitchFamily="18" charset="0"/>
                <a:ea typeface="Calibri" panose="020F0502020204030204" pitchFamily="34" charset="0"/>
                <a:cs typeface="Times New Roman" panose="02020603050405020304" pitchFamily="18" charset="0"/>
              </a:rPr>
              <a:t>significatifs </a:t>
            </a:r>
            <a:r>
              <a:rPr lang="fr-FR" sz="2000" b="1" dirty="0">
                <a:latin typeface="Times New Roman" panose="02020603050405020304" pitchFamily="18" charset="0"/>
                <a:ea typeface="Calibri" panose="020F0502020204030204" pitchFamily="34" charset="0"/>
                <a:cs typeface="Times New Roman" panose="02020603050405020304" pitchFamily="18" charset="0"/>
              </a:rPr>
              <a:t>(le nombre de chiffres significatifs de la donnée la moins précise).</a:t>
            </a:r>
            <a:endParaRPr lang="fr-HT"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1" y="3553836"/>
            <a:ext cx="9040969" cy="2251194"/>
          </a:xfrm>
          <a:prstGeom prst="rect">
            <a:avLst/>
          </a:prstGeom>
        </p:spPr>
        <p:txBody>
          <a:bodyPr wrap="square">
            <a:spAutoFit/>
          </a:bodyPr>
          <a:lstStyle/>
          <a:p>
            <a:pPr marL="285750" lvl="0" indent="-285750" algn="just">
              <a:lnSpc>
                <a:spcPct val="107000"/>
              </a:lnSpc>
              <a:spcAft>
                <a:spcPts val="800"/>
              </a:spcAft>
              <a:buFont typeface="Wingdings" panose="05000000000000000000" pitchFamily="2" charset="2"/>
              <a:buChar char="v"/>
            </a:pPr>
            <a:r>
              <a:rPr lang="fr-FR" sz="2000" b="1" dirty="0" smtClean="0">
                <a:latin typeface="Times New Roman" panose="02020603050405020304" pitchFamily="18" charset="0"/>
                <a:ea typeface="Calibri" panose="020F0502020204030204" pitchFamily="34" charset="0"/>
                <a:cs typeface="Times New Roman" panose="02020603050405020304" pitchFamily="18" charset="0"/>
              </a:rPr>
              <a:t> Multiplication </a:t>
            </a:r>
            <a:r>
              <a:rPr lang="fr-FR" sz="2000" b="1" dirty="0">
                <a:latin typeface="Times New Roman" panose="02020603050405020304" pitchFamily="18" charset="0"/>
                <a:ea typeface="Calibri" panose="020F0502020204030204" pitchFamily="34" charset="0"/>
                <a:cs typeface="Times New Roman" panose="02020603050405020304" pitchFamily="18" charset="0"/>
              </a:rPr>
              <a:t>et division</a:t>
            </a:r>
            <a:endParaRPr lang="fr-HT"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fr-FR" sz="2000" dirty="0">
                <a:latin typeface="Times New Roman" panose="02020603050405020304" pitchFamily="18" charset="0"/>
                <a:ea typeface="Calibri" panose="020F0502020204030204" pitchFamily="34" charset="0"/>
                <a:cs typeface="Times New Roman" panose="02020603050405020304" pitchFamily="18" charset="0"/>
              </a:rPr>
              <a:t>Le résultat d’une multiplication ou d’une division a autant de chiffres significatifs que la donnée (utilisée dans le calcul) qui en possède le moins</a:t>
            </a:r>
            <a:endParaRPr lang="fr-HT"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fr-FR" sz="2000" b="1" dirty="0">
                <a:latin typeface="Times New Roman" panose="02020603050405020304" pitchFamily="18" charset="0"/>
                <a:ea typeface="Calibri" panose="020F0502020204030204" pitchFamily="34" charset="0"/>
                <a:cs typeface="Times New Roman" panose="02020603050405020304" pitchFamily="18" charset="0"/>
              </a:rPr>
              <a:t>Exemple :</a:t>
            </a:r>
            <a:r>
              <a:rPr lang="fr-FR" sz="2000" i="1" dirty="0">
                <a:latin typeface="Times New Roman" panose="02020603050405020304" pitchFamily="18" charset="0"/>
                <a:ea typeface="Calibri" panose="020F0502020204030204" pitchFamily="34" charset="0"/>
                <a:cs typeface="Times New Roman" panose="02020603050405020304" pitchFamily="18" charset="0"/>
              </a:rPr>
              <a:t> </a:t>
            </a:r>
            <a:r>
              <a:rPr lang="fr-FR" sz="2000" dirty="0">
                <a:latin typeface="Times New Roman" panose="02020603050405020304" pitchFamily="18" charset="0"/>
                <a:ea typeface="Calibri" panose="020F0502020204030204" pitchFamily="34" charset="0"/>
                <a:cs typeface="Times New Roman" panose="02020603050405020304" pitchFamily="18" charset="0"/>
              </a:rPr>
              <a:t>Un</a:t>
            </a:r>
            <a:r>
              <a:rPr lang="fr-FR" sz="2000" i="1" dirty="0">
                <a:latin typeface="Times New Roman" panose="02020603050405020304" pitchFamily="18" charset="0"/>
                <a:ea typeface="Calibri" panose="020F0502020204030204" pitchFamily="34" charset="0"/>
                <a:cs typeface="Times New Roman" panose="02020603050405020304" pitchFamily="18" charset="0"/>
              </a:rPr>
              <a:t> </a:t>
            </a:r>
            <a:r>
              <a:rPr lang="fr-FR" sz="2000" dirty="0">
                <a:latin typeface="Times New Roman" panose="02020603050405020304" pitchFamily="18" charset="0"/>
                <a:ea typeface="Calibri" panose="020F0502020204030204" pitchFamily="34" charset="0"/>
                <a:cs typeface="Times New Roman" panose="02020603050405020304" pitchFamily="18" charset="0"/>
              </a:rPr>
              <a:t>mobile se déplace à vitesse constante v = 5,254 m.s</a:t>
            </a:r>
            <a:r>
              <a:rPr lang="fr-FR" sz="2000" baseline="30000" dirty="0">
                <a:latin typeface="Times New Roman" panose="02020603050405020304" pitchFamily="18" charset="0"/>
                <a:ea typeface="Calibri" panose="020F0502020204030204" pitchFamily="34" charset="0"/>
                <a:cs typeface="Times New Roman" panose="02020603050405020304" pitchFamily="18" charset="0"/>
              </a:rPr>
              <a:t>-1</a:t>
            </a:r>
            <a:r>
              <a:rPr lang="fr-FR" sz="2000" dirty="0">
                <a:latin typeface="Times New Roman" panose="02020603050405020304" pitchFamily="18" charset="0"/>
                <a:ea typeface="Calibri" panose="020F0502020204030204" pitchFamily="34" charset="0"/>
                <a:cs typeface="Times New Roman" panose="02020603050405020304" pitchFamily="18" charset="0"/>
              </a:rPr>
              <a:t> sur un trajet rectiligne pendant 10,2s. Calculer en mètres la distance parcourue. Calculer la durée nécessaire pour parcourir 220 m. </a:t>
            </a:r>
            <a:endParaRPr lang="fr-HT" sz="20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14566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xmlns="" id="{89616317-55B5-4D5B-806F-C6B3398F051A}"/>
                  </a:ext>
                </a:extLst>
              </p:cNvPr>
              <p:cNvSpPr/>
              <p:nvPr/>
            </p:nvSpPr>
            <p:spPr>
              <a:xfrm>
                <a:off x="135228" y="566233"/>
                <a:ext cx="8873544" cy="3338222"/>
              </a:xfrm>
              <a:prstGeom prst="rect">
                <a:avLst/>
              </a:prstGeom>
            </p:spPr>
            <p:txBody>
              <a:bodyPr wrap="square">
                <a:spAutoFit/>
              </a:bodyPr>
              <a:lstStyle/>
              <a:p>
                <a:pPr algn="just">
                  <a:lnSpc>
                    <a:spcPct val="107000"/>
                  </a:lnSpc>
                  <a:spcAft>
                    <a:spcPts val="800"/>
                  </a:spcAft>
                </a:pPr>
                <a:r>
                  <a:rPr lang="fr-FR" sz="2200" b="1"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Réponse </a:t>
                </a:r>
                <a:r>
                  <a:rPr lang="fr-FR" sz="22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t>
                </a:r>
                <a:endParaRPr lang="fr-HT" sz="2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
                  <a:tabLst>
                    <a:tab pos="457200" algn="l"/>
                  </a:tabLst>
                </a:pPr>
                <a:r>
                  <a:rPr lang="fr-FR" sz="2200" dirty="0">
                    <a:latin typeface="Times New Roman" panose="02020603050405020304" pitchFamily="18" charset="0"/>
                    <a:ea typeface="Calibri" panose="020F0502020204030204" pitchFamily="34" charset="0"/>
                    <a:cs typeface="Times New Roman" panose="02020603050405020304" pitchFamily="18" charset="0"/>
                  </a:rPr>
                  <a:t>La distance parcourue s’obtient par la relation : </a:t>
                </a:r>
                <a14:m>
                  <m:oMath xmlns:m="http://schemas.openxmlformats.org/officeDocument/2006/math">
                    <m:r>
                      <a:rPr lang="fr-FR" sz="2200" i="1">
                        <a:latin typeface="Cambria Math" panose="02040503050406030204" pitchFamily="18" charset="0"/>
                        <a:ea typeface="Calibri" panose="020F0502020204030204" pitchFamily="34" charset="0"/>
                        <a:cs typeface="Times New Roman" panose="02020603050405020304" pitchFamily="18" charset="0"/>
                      </a:rPr>
                      <m:t>𝑑</m:t>
                    </m:r>
                    <m:r>
                      <a:rPr lang="fr-FR" sz="2200" i="1">
                        <a:latin typeface="Cambria Math" panose="02040503050406030204" pitchFamily="18" charset="0"/>
                        <a:ea typeface="Calibri" panose="020F0502020204030204" pitchFamily="34" charset="0"/>
                        <a:cs typeface="Times New Roman" panose="02020603050405020304" pitchFamily="18" charset="0"/>
                      </a:rPr>
                      <m:t> = </m:t>
                    </m:r>
                    <m:r>
                      <a:rPr lang="fr-FR" sz="2200" i="1">
                        <a:latin typeface="Cambria Math" panose="02040503050406030204" pitchFamily="18" charset="0"/>
                        <a:ea typeface="Calibri" panose="020F0502020204030204" pitchFamily="34" charset="0"/>
                        <a:cs typeface="Times New Roman" panose="02020603050405020304" pitchFamily="18" charset="0"/>
                      </a:rPr>
                      <m:t>𝑣</m:t>
                    </m:r>
                    <m:r>
                      <a:rPr lang="fr-FR" sz="2200" i="1">
                        <a:latin typeface="Cambria Math" panose="02040503050406030204" pitchFamily="18" charset="0"/>
                        <a:ea typeface="Calibri" panose="020F0502020204030204" pitchFamily="34" charset="0"/>
                        <a:cs typeface="Times New Roman" panose="02020603050405020304" pitchFamily="18" charset="0"/>
                      </a:rPr>
                      <m:t> × </m:t>
                    </m:r>
                    <m:r>
                      <a:rPr lang="el-GR" sz="2200" i="1">
                        <a:latin typeface="Cambria Math" panose="02040503050406030204" pitchFamily="18" charset="0"/>
                        <a:ea typeface="Calibri" panose="020F0502020204030204" pitchFamily="34" charset="0"/>
                        <a:cs typeface="Times New Roman" panose="02020603050405020304" pitchFamily="18" charset="0"/>
                      </a:rPr>
                      <m:t>𝛥</m:t>
                    </m:r>
                    <m:r>
                      <a:rPr lang="fr-FR" sz="2200" i="1">
                        <a:latin typeface="Cambria Math" panose="02040503050406030204" pitchFamily="18" charset="0"/>
                        <a:ea typeface="Calibri" panose="020F0502020204030204" pitchFamily="34" charset="0"/>
                        <a:cs typeface="Times New Roman" panose="02020603050405020304" pitchFamily="18" charset="0"/>
                      </a:rPr>
                      <m:t>𝑡</m:t>
                    </m:r>
                  </m:oMath>
                </a14:m>
                <a:endParaRPr lang="fr-HT" sz="2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14:m>
                  <m:oMathPara xmlns:m="http://schemas.openxmlformats.org/officeDocument/2006/math">
                    <m:oMathParaPr>
                      <m:jc m:val="centerGroup"/>
                    </m:oMathParaPr>
                    <m:oMath xmlns:m="http://schemas.openxmlformats.org/officeDocument/2006/math">
                      <m:r>
                        <a:rPr lang="fr-FR" sz="2200" i="1">
                          <a:latin typeface="Cambria Math" panose="02040503050406030204" pitchFamily="18" charset="0"/>
                          <a:ea typeface="Calibri" panose="020F0502020204030204" pitchFamily="34" charset="0"/>
                          <a:cs typeface="Times New Roman" panose="02020603050405020304" pitchFamily="18" charset="0"/>
                        </a:rPr>
                        <m:t>𝑑</m:t>
                      </m:r>
                      <m:r>
                        <a:rPr lang="fr-FR" sz="2200" i="1">
                          <a:latin typeface="Cambria Math" panose="02040503050406030204" pitchFamily="18" charset="0"/>
                          <a:ea typeface="Calibri" panose="020F0502020204030204" pitchFamily="34" charset="0"/>
                          <a:cs typeface="Times New Roman" panose="02020603050405020304" pitchFamily="18" charset="0"/>
                        </a:rPr>
                        <m:t> = 2,254 × 10,2 = 53,5908 </m:t>
                      </m:r>
                      <m:r>
                        <a:rPr lang="fr-FR" sz="2200" i="1">
                          <a:latin typeface="Cambria Math" panose="02040503050406030204" pitchFamily="18" charset="0"/>
                          <a:ea typeface="Calibri" panose="020F0502020204030204" pitchFamily="34" charset="0"/>
                          <a:cs typeface="Times New Roman" panose="02020603050405020304" pitchFamily="18" charset="0"/>
                        </a:rPr>
                        <m:t>𝑚</m:t>
                      </m:r>
                    </m:oMath>
                  </m:oMathPara>
                </a14:m>
                <a:endParaRPr lang="fr-HT" sz="2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FR" sz="2200" dirty="0">
                    <a:latin typeface="Times New Roman" panose="02020603050405020304" pitchFamily="18" charset="0"/>
                    <a:ea typeface="Calibri" panose="020F0502020204030204" pitchFamily="34" charset="0"/>
                    <a:cs typeface="Times New Roman" panose="02020603050405020304" pitchFamily="18" charset="0"/>
                  </a:rPr>
                  <a:t>Le résultat est </a:t>
                </a:r>
                <a:r>
                  <a:rPr lang="fr-FR" sz="2200" b="1" dirty="0">
                    <a:latin typeface="Times New Roman" panose="02020603050405020304" pitchFamily="18" charset="0"/>
                    <a:ea typeface="Calibri" panose="020F0502020204030204" pitchFamily="34" charset="0"/>
                    <a:cs typeface="Times New Roman" panose="02020603050405020304" pitchFamily="18" charset="0"/>
                  </a:rPr>
                  <a:t>d =</a:t>
                </a:r>
                <a:r>
                  <a:rPr lang="fr-FR" sz="2200" dirty="0">
                    <a:latin typeface="Times New Roman" panose="02020603050405020304" pitchFamily="18" charset="0"/>
                    <a:ea typeface="Calibri" panose="020F0502020204030204" pitchFamily="34" charset="0"/>
                    <a:cs typeface="Times New Roman" panose="02020603050405020304" pitchFamily="18" charset="0"/>
                  </a:rPr>
                  <a:t> </a:t>
                </a:r>
                <a:r>
                  <a:rPr lang="fr-FR" sz="2200" b="1" dirty="0">
                    <a:latin typeface="Times New Roman" panose="02020603050405020304" pitchFamily="18" charset="0"/>
                    <a:ea typeface="Calibri" panose="020F0502020204030204" pitchFamily="34" charset="0"/>
                    <a:cs typeface="Times New Roman" panose="02020603050405020304" pitchFamily="18" charset="0"/>
                  </a:rPr>
                  <a:t>53,6 m</a:t>
                </a:r>
                <a:r>
                  <a:rPr lang="fr-FR" sz="2200" dirty="0">
                    <a:latin typeface="Times New Roman" panose="02020603050405020304" pitchFamily="18" charset="0"/>
                    <a:ea typeface="Calibri" panose="020F0502020204030204" pitchFamily="34" charset="0"/>
                    <a:cs typeface="Times New Roman" panose="02020603050405020304" pitchFamily="18" charset="0"/>
                  </a:rPr>
                  <a:t> car il ne doit comporter que </a:t>
                </a:r>
                <a:r>
                  <a:rPr lang="fr-FR" sz="2200" b="1" dirty="0">
                    <a:latin typeface="Times New Roman" panose="02020603050405020304" pitchFamily="18" charset="0"/>
                    <a:ea typeface="Calibri" panose="020F0502020204030204" pitchFamily="34" charset="0"/>
                    <a:cs typeface="Times New Roman" panose="02020603050405020304" pitchFamily="18" charset="0"/>
                  </a:rPr>
                  <a:t>3 chiffres significatifs</a:t>
                </a:r>
                <a:endParaRPr lang="fr-HT" sz="2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
                  <a:tabLst>
                    <a:tab pos="457200" algn="l"/>
                  </a:tabLst>
                </a:pPr>
                <a:r>
                  <a:rPr lang="fr-FR" sz="2200" dirty="0">
                    <a:latin typeface="Times New Roman" panose="02020603050405020304" pitchFamily="18" charset="0"/>
                    <a:ea typeface="Calibri" panose="020F0502020204030204" pitchFamily="34" charset="0"/>
                    <a:cs typeface="Times New Roman" panose="02020603050405020304" pitchFamily="18" charset="0"/>
                  </a:rPr>
                  <a:t>La durée pour parcourir 220 m : </a:t>
                </a:r>
                <a:r>
                  <a:rPr lang="el-GR" sz="2200" dirty="0">
                    <a:latin typeface="Times New Roman" panose="02020603050405020304" pitchFamily="18" charset="0"/>
                    <a:ea typeface="Calibri" panose="020F0502020204030204" pitchFamily="34" charset="0"/>
                    <a:cs typeface="Times New Roman" panose="02020603050405020304" pitchFamily="18" charset="0"/>
                  </a:rPr>
                  <a:t>Δ</a:t>
                </a:r>
                <a14:m>
                  <m:oMath xmlns:m="http://schemas.openxmlformats.org/officeDocument/2006/math">
                    <m:r>
                      <m:rPr>
                        <m:sty m:val="p"/>
                      </m:rPr>
                      <a:rPr lang="fr-FR" sz="2200">
                        <a:latin typeface="Cambria Math" panose="02040503050406030204" pitchFamily="18" charset="0"/>
                        <a:ea typeface="Calibri" panose="020F0502020204030204" pitchFamily="34" charset="0"/>
                        <a:cs typeface="Times New Roman" panose="02020603050405020304" pitchFamily="18" charset="0"/>
                      </a:rPr>
                      <m:t>t</m:t>
                    </m:r>
                    <m:r>
                      <a:rPr lang="fr-FR" sz="2200" i="1">
                        <a:latin typeface="Cambria Math" panose="02040503050406030204" pitchFamily="18" charset="0"/>
                        <a:ea typeface="Calibri" panose="020F0502020204030204" pitchFamily="34" charset="0"/>
                        <a:cs typeface="Times New Roman" panose="02020603050405020304" pitchFamily="18" charset="0"/>
                      </a:rPr>
                      <m:t>=</m:t>
                    </m:r>
                    <m:f>
                      <m:fPr>
                        <m:ctrlPr>
                          <a:rPr lang="fr-HT" sz="2200" i="1">
                            <a:latin typeface="Cambria Math"/>
                            <a:ea typeface="Calibri" panose="020F0502020204030204" pitchFamily="34" charset="0"/>
                            <a:cs typeface="Times New Roman" panose="02020603050405020304" pitchFamily="18" charset="0"/>
                          </a:rPr>
                        </m:ctrlPr>
                      </m:fPr>
                      <m:num>
                        <m:r>
                          <m:rPr>
                            <m:sty m:val="p"/>
                          </m:rPr>
                          <a:rPr lang="fr-FR" sz="2200">
                            <a:latin typeface="Cambria Math" panose="02040503050406030204" pitchFamily="18" charset="0"/>
                            <a:ea typeface="Calibri" panose="020F0502020204030204" pitchFamily="34" charset="0"/>
                            <a:cs typeface="Times New Roman" panose="02020603050405020304" pitchFamily="18" charset="0"/>
                          </a:rPr>
                          <m:t>d</m:t>
                        </m:r>
                      </m:num>
                      <m:den>
                        <m:r>
                          <m:rPr>
                            <m:sty m:val="p"/>
                          </m:rPr>
                          <a:rPr lang="fr-FR" sz="2200">
                            <a:latin typeface="Cambria Math" panose="02040503050406030204" pitchFamily="18" charset="0"/>
                            <a:ea typeface="Calibri" panose="020F0502020204030204" pitchFamily="34" charset="0"/>
                            <a:cs typeface="Times New Roman" panose="02020603050405020304" pitchFamily="18" charset="0"/>
                          </a:rPr>
                          <m:t>v</m:t>
                        </m:r>
                      </m:den>
                    </m:f>
                    <m:r>
                      <a:rPr lang="fr-FR" sz="2200" i="1">
                        <a:latin typeface="Cambria Math" panose="02040503050406030204" pitchFamily="18" charset="0"/>
                        <a:ea typeface="Calibri" panose="020F0502020204030204" pitchFamily="34" charset="0"/>
                        <a:cs typeface="Times New Roman" panose="02020603050405020304" pitchFamily="18" charset="0"/>
                      </a:rPr>
                      <m:t>=</m:t>
                    </m:r>
                    <m:f>
                      <m:fPr>
                        <m:ctrlPr>
                          <a:rPr lang="fr-HT" sz="2200" i="1">
                            <a:latin typeface="Cambria Math"/>
                            <a:ea typeface="Calibri" panose="020F0502020204030204" pitchFamily="34" charset="0"/>
                            <a:cs typeface="Times New Roman" panose="02020603050405020304" pitchFamily="18" charset="0"/>
                          </a:rPr>
                        </m:ctrlPr>
                      </m:fPr>
                      <m:num>
                        <m:r>
                          <a:rPr lang="fr-FR" sz="2200" i="1">
                            <a:latin typeface="Cambria Math" panose="02040503050406030204" pitchFamily="18" charset="0"/>
                            <a:ea typeface="Calibri" panose="020F0502020204030204" pitchFamily="34" charset="0"/>
                            <a:cs typeface="Times New Roman" panose="02020603050405020304" pitchFamily="18" charset="0"/>
                          </a:rPr>
                          <m:t>220</m:t>
                        </m:r>
                      </m:num>
                      <m:den>
                        <m:r>
                          <a:rPr lang="fr-FR" sz="2200" i="1">
                            <a:latin typeface="Cambria Math" panose="02040503050406030204" pitchFamily="18" charset="0"/>
                            <a:ea typeface="Calibri" panose="020F0502020204030204" pitchFamily="34" charset="0"/>
                            <a:cs typeface="Times New Roman" panose="02020603050405020304" pitchFamily="18" charset="0"/>
                          </a:rPr>
                          <m:t>5,254</m:t>
                        </m:r>
                      </m:den>
                    </m:f>
                    <m:r>
                      <a:rPr lang="fr-FR" sz="2200" i="1">
                        <a:latin typeface="Cambria Math" panose="02040503050406030204" pitchFamily="18" charset="0"/>
                        <a:ea typeface="Calibri" panose="020F0502020204030204" pitchFamily="34" charset="0"/>
                        <a:cs typeface="Times New Roman" panose="02020603050405020304" pitchFamily="18" charset="0"/>
                      </a:rPr>
                      <m:t>=41,</m:t>
                    </m:r>
                  </m:oMath>
                </a14:m>
                <a:r>
                  <a:rPr lang="fr-FR" sz="2200" dirty="0">
                    <a:latin typeface="Times New Roman" panose="02020603050405020304" pitchFamily="18" charset="0"/>
                    <a:ea typeface="Calibri" panose="020F0502020204030204" pitchFamily="34" charset="0"/>
                    <a:cs typeface="Times New Roman" panose="02020603050405020304" pitchFamily="18" charset="0"/>
                  </a:rPr>
                  <a:t>8</a:t>
                </a:r>
                <a:r>
                  <a:rPr lang="fr-FR" sz="22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728588</a:t>
                </a:r>
                <a:r>
                  <a:rPr lang="fr-FR" sz="2200" dirty="0">
                    <a:latin typeface="Times New Roman" panose="02020603050405020304" pitchFamily="18" charset="0"/>
                    <a:ea typeface="Calibri" panose="020F0502020204030204" pitchFamily="34" charset="0"/>
                    <a:cs typeface="Times New Roman" panose="02020603050405020304" pitchFamily="18" charset="0"/>
                  </a:rPr>
                  <a:t> s</a:t>
                </a:r>
                <a:endParaRPr lang="fr-HT" sz="2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
                  <a:tabLst>
                    <a:tab pos="457200" algn="l"/>
                  </a:tabLst>
                </a:pPr>
                <a:r>
                  <a:rPr lang="fr-FR" sz="2200" dirty="0">
                    <a:latin typeface="Times New Roman" panose="02020603050405020304" pitchFamily="18" charset="0"/>
                    <a:ea typeface="Calibri" panose="020F0502020204030204" pitchFamily="34" charset="0"/>
                    <a:cs typeface="Times New Roman" panose="02020603050405020304" pitchFamily="18" charset="0"/>
                  </a:rPr>
                  <a:t>Le résultat est </a:t>
                </a:r>
                <a:r>
                  <a:rPr lang="el-GR" sz="2200" dirty="0">
                    <a:latin typeface="Times New Roman" panose="02020603050405020304" pitchFamily="18" charset="0"/>
                    <a:ea typeface="Calibri" panose="020F0502020204030204" pitchFamily="34" charset="0"/>
                    <a:cs typeface="Times New Roman" panose="02020603050405020304" pitchFamily="18" charset="0"/>
                  </a:rPr>
                  <a:t>Δ</a:t>
                </a:r>
                <a:r>
                  <a:rPr lang="fr-FR" sz="2200" dirty="0">
                    <a:latin typeface="Times New Roman" panose="02020603050405020304" pitchFamily="18" charset="0"/>
                    <a:ea typeface="Calibri" panose="020F0502020204030204" pitchFamily="34" charset="0"/>
                    <a:cs typeface="Times New Roman" panose="02020603050405020304" pitchFamily="18" charset="0"/>
                  </a:rPr>
                  <a:t>t</a:t>
                </a:r>
                <a:r>
                  <a:rPr lang="fr-FR" sz="2200" b="1" dirty="0">
                    <a:latin typeface="Times New Roman" panose="02020603050405020304" pitchFamily="18" charset="0"/>
                    <a:ea typeface="Calibri" panose="020F0502020204030204" pitchFamily="34" charset="0"/>
                    <a:cs typeface="Times New Roman" panose="02020603050405020304" pitchFamily="18" charset="0"/>
                  </a:rPr>
                  <a:t> =</a:t>
                </a:r>
                <a:r>
                  <a:rPr lang="fr-FR" sz="2200" dirty="0">
                    <a:latin typeface="Times New Roman" panose="02020603050405020304" pitchFamily="18" charset="0"/>
                    <a:ea typeface="Calibri" panose="020F0502020204030204" pitchFamily="34" charset="0"/>
                    <a:cs typeface="Times New Roman" panose="02020603050405020304" pitchFamily="18" charset="0"/>
                  </a:rPr>
                  <a:t> </a:t>
                </a:r>
                <a:r>
                  <a:rPr lang="fr-FR" sz="2200" b="1" dirty="0">
                    <a:latin typeface="Times New Roman" panose="02020603050405020304" pitchFamily="18" charset="0"/>
                    <a:ea typeface="Calibri" panose="020F0502020204030204" pitchFamily="34" charset="0"/>
                    <a:cs typeface="Times New Roman" panose="02020603050405020304" pitchFamily="18" charset="0"/>
                  </a:rPr>
                  <a:t>41,9 s</a:t>
                </a:r>
                <a:r>
                  <a:rPr lang="fr-FR" sz="2200" dirty="0">
                    <a:latin typeface="Times New Roman" panose="02020603050405020304" pitchFamily="18" charset="0"/>
                    <a:ea typeface="Calibri" panose="020F0502020204030204" pitchFamily="34" charset="0"/>
                    <a:cs typeface="Times New Roman" panose="02020603050405020304" pitchFamily="18" charset="0"/>
                  </a:rPr>
                  <a:t> car il ne doit comporter que </a:t>
                </a:r>
                <a:r>
                  <a:rPr lang="fr-FR" sz="2200" b="1" dirty="0">
                    <a:latin typeface="Times New Roman" panose="02020603050405020304" pitchFamily="18" charset="0"/>
                    <a:ea typeface="Calibri" panose="020F0502020204030204" pitchFamily="34" charset="0"/>
                    <a:cs typeface="Times New Roman" panose="02020603050405020304" pitchFamily="18" charset="0"/>
                  </a:rPr>
                  <a:t>3 chiffres significatifs</a:t>
                </a:r>
                <a:endParaRPr lang="fr-HT" sz="22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Rectangle 2">
                <a:extLst>
                  <a:ext uri="{FF2B5EF4-FFF2-40B4-BE49-F238E27FC236}">
                    <a16:creationId xmlns:a16="http://schemas.microsoft.com/office/drawing/2014/main" xmlns="" xmlns:a14="http://schemas.microsoft.com/office/drawing/2010/main" id="{89616317-55B5-4D5B-806F-C6B3398F051A}"/>
                  </a:ext>
                </a:extLst>
              </p:cNvPr>
              <p:cNvSpPr>
                <a:spLocks noRot="1" noChangeAspect="1" noMove="1" noResize="1" noEditPoints="1" noAdjustHandles="1" noChangeArrowheads="1" noChangeShapeType="1" noTextEdit="1"/>
              </p:cNvSpPr>
              <p:nvPr/>
            </p:nvSpPr>
            <p:spPr>
              <a:xfrm>
                <a:off x="135228" y="566233"/>
                <a:ext cx="8873544" cy="3338222"/>
              </a:xfrm>
              <a:prstGeom prst="rect">
                <a:avLst/>
              </a:prstGeom>
              <a:blipFill rotWithShape="1">
                <a:blip r:embed="rId2"/>
                <a:stretch>
                  <a:fillRect l="-824" t="-1097" r="-962" b="-2194"/>
                </a:stretch>
              </a:blipFill>
            </p:spPr>
            <p:txBody>
              <a:bodyPr/>
              <a:lstStyle/>
              <a:p>
                <a:r>
                  <a:rPr lang="fr-FR">
                    <a:noFill/>
                  </a:rPr>
                  <a:t> </a:t>
                </a:r>
              </a:p>
            </p:txBody>
          </p:sp>
        </mc:Fallback>
      </mc:AlternateContent>
      <p:sp>
        <p:nvSpPr>
          <p:cNvPr id="4" name="Rectangle 3">
            <a:extLst>
              <a:ext uri="{FF2B5EF4-FFF2-40B4-BE49-F238E27FC236}">
                <a16:creationId xmlns:a16="http://schemas.microsoft.com/office/drawing/2014/main" xmlns="" id="{928107EA-14C4-4A09-B389-0DCF8E390EE7}"/>
              </a:ext>
            </a:extLst>
          </p:cNvPr>
          <p:cNvSpPr/>
          <p:nvPr/>
        </p:nvSpPr>
        <p:spPr>
          <a:xfrm>
            <a:off x="0" y="30353"/>
            <a:ext cx="9144000" cy="52322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fr-HT" sz="2800" b="1" dirty="0">
                <a:latin typeface="Times-Roman"/>
              </a:rPr>
              <a:t>Introduction : Objet et méthodes de la physique</a:t>
            </a:r>
            <a:endParaRPr lang="fr-HT" sz="2800" b="1" dirty="0"/>
          </a:p>
        </p:txBody>
      </p:sp>
      <p:sp>
        <p:nvSpPr>
          <p:cNvPr id="6" name="Espace réservé du numéro de diapositive 5">
            <a:extLst>
              <a:ext uri="{FF2B5EF4-FFF2-40B4-BE49-F238E27FC236}">
                <a16:creationId xmlns:a16="http://schemas.microsoft.com/office/drawing/2014/main" xmlns="" id="{B3A577EA-C9CD-4758-9B67-9EF69B0A62A7}"/>
              </a:ext>
            </a:extLst>
          </p:cNvPr>
          <p:cNvSpPr>
            <a:spLocks noGrp="1"/>
          </p:cNvSpPr>
          <p:nvPr>
            <p:ph type="sldNum" sz="quarter" idx="12"/>
          </p:nvPr>
        </p:nvSpPr>
        <p:spPr/>
        <p:txBody>
          <a:bodyPr/>
          <a:lstStyle/>
          <a:p>
            <a:fld id="{26AFC765-89FB-4D41-BDFD-C70A1B65DB29}" type="slidenum">
              <a:rPr lang="fr-HT" smtClean="0"/>
              <a:t>6</a:t>
            </a:fld>
            <a:endParaRPr lang="fr-HT"/>
          </a:p>
        </p:txBody>
      </p:sp>
    </p:spTree>
    <p:extLst>
      <p:ext uri="{BB962C8B-B14F-4D97-AF65-F5344CB8AC3E}">
        <p14:creationId xmlns:p14="http://schemas.microsoft.com/office/powerpoint/2010/main" val="19328983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xmlns="" id="{79F203CB-E5DB-4979-8001-3F533697667F}"/>
              </a:ext>
            </a:extLst>
          </p:cNvPr>
          <p:cNvSpPr txBox="1"/>
          <p:nvPr/>
        </p:nvSpPr>
        <p:spPr>
          <a:xfrm>
            <a:off x="0" y="553573"/>
            <a:ext cx="9144000" cy="461665"/>
          </a:xfrm>
          <a:prstGeom prst="rect">
            <a:avLst/>
          </a:prstGeom>
          <a:noFill/>
        </p:spPr>
        <p:txBody>
          <a:bodyPr wrap="square" rtlCol="0">
            <a:spAutoFit/>
          </a:bodyPr>
          <a:lstStyle/>
          <a:p>
            <a:pPr marL="457200" indent="-457200">
              <a:buFont typeface="Wingdings" panose="05000000000000000000" pitchFamily="2" charset="2"/>
              <a:buChar char="v"/>
            </a:pPr>
            <a:r>
              <a:rPr lang="fr-HT" sz="2400" b="1" dirty="0"/>
              <a:t>Grandeur</a:t>
            </a:r>
          </a:p>
        </p:txBody>
      </p:sp>
      <p:sp>
        <p:nvSpPr>
          <p:cNvPr id="6" name="Rectangle 5">
            <a:extLst>
              <a:ext uri="{FF2B5EF4-FFF2-40B4-BE49-F238E27FC236}">
                <a16:creationId xmlns:a16="http://schemas.microsoft.com/office/drawing/2014/main" xmlns="" id="{BAB9A324-9240-4733-8ADB-37226D21C5CC}"/>
              </a:ext>
            </a:extLst>
          </p:cNvPr>
          <p:cNvSpPr/>
          <p:nvPr/>
        </p:nvSpPr>
        <p:spPr>
          <a:xfrm>
            <a:off x="0" y="1015238"/>
            <a:ext cx="9144000" cy="1200329"/>
          </a:xfrm>
          <a:prstGeom prst="rect">
            <a:avLst/>
          </a:prstGeom>
        </p:spPr>
        <p:txBody>
          <a:bodyPr wrap="square">
            <a:spAutoFit/>
          </a:bodyPr>
          <a:lstStyle/>
          <a:p>
            <a:pPr algn="just"/>
            <a:r>
              <a:rPr lang="fr-FR" sz="2400" b="1" dirty="0">
                <a:latin typeface="Times New Roman" panose="02020603050405020304" pitchFamily="18" charset="0"/>
                <a:ea typeface="Times New Roman" panose="02020603050405020304" pitchFamily="18" charset="0"/>
              </a:rPr>
              <a:t>Grandeur </a:t>
            </a:r>
            <a:r>
              <a:rPr lang="fr-FR" sz="2400" dirty="0" smtClean="0">
                <a:latin typeface="Times New Roman" panose="02020603050405020304" pitchFamily="18" charset="0"/>
                <a:ea typeface="Times New Roman" panose="02020603050405020304" pitchFamily="18" charset="0"/>
              </a:rPr>
              <a:t>: </a:t>
            </a:r>
            <a:r>
              <a:rPr lang="fr-FR" sz="2400" dirty="0">
                <a:latin typeface="Times New Roman" panose="02020603050405020304" pitchFamily="18" charset="0"/>
                <a:ea typeface="Times New Roman" panose="02020603050405020304" pitchFamily="18" charset="0"/>
              </a:rPr>
              <a:t>attribut d'un phénomène, d'un corps ou d'une substance chimique, physique ou biologique, susceptible d'être distinguée qualitativement et déterminée quantitativement.</a:t>
            </a:r>
            <a:endParaRPr lang="fr-HT" sz="2400" dirty="0">
              <a:latin typeface="Times New Roman" panose="02020603050405020304" pitchFamily="18" charset="0"/>
              <a:ea typeface="Times New Roman" panose="02020603050405020304" pitchFamily="18" charset="0"/>
            </a:endParaRPr>
          </a:p>
        </p:txBody>
      </p:sp>
      <p:sp>
        <p:nvSpPr>
          <p:cNvPr id="7" name="Rectangle 6">
            <a:extLst>
              <a:ext uri="{FF2B5EF4-FFF2-40B4-BE49-F238E27FC236}">
                <a16:creationId xmlns:a16="http://schemas.microsoft.com/office/drawing/2014/main" xmlns="" id="{84A95D16-0FB2-4AA0-B564-4B9A6919F43F}"/>
              </a:ext>
            </a:extLst>
          </p:cNvPr>
          <p:cNvSpPr/>
          <p:nvPr/>
        </p:nvSpPr>
        <p:spPr>
          <a:xfrm>
            <a:off x="0" y="2488105"/>
            <a:ext cx="9143999" cy="461665"/>
          </a:xfrm>
          <a:prstGeom prst="rect">
            <a:avLst/>
          </a:prstGeom>
        </p:spPr>
        <p:txBody>
          <a:bodyPr wrap="square">
            <a:spAutoFit/>
          </a:bodyPr>
          <a:lstStyle/>
          <a:p>
            <a:pPr marL="342900" indent="-342900" algn="just">
              <a:buFont typeface="Wingdings" panose="05000000000000000000" pitchFamily="2" charset="2"/>
              <a:buChar char="Ø"/>
            </a:pPr>
            <a:r>
              <a:rPr lang="fr-FR" sz="2400" dirty="0">
                <a:latin typeface="Times New Roman" panose="02020603050405020304" pitchFamily="18" charset="0"/>
                <a:ea typeface="Times New Roman" panose="02020603050405020304" pitchFamily="18" charset="0"/>
              </a:rPr>
              <a:t>Caractéristiques : une valeur </a:t>
            </a:r>
            <a:r>
              <a:rPr lang="fr-FR" sz="2400" b="1" u="sng" dirty="0">
                <a:latin typeface="Times New Roman" panose="02020603050405020304" pitchFamily="18" charset="0"/>
                <a:ea typeface="Times New Roman" panose="02020603050405020304" pitchFamily="18" charset="0"/>
              </a:rPr>
              <a:t>numérique</a:t>
            </a:r>
            <a:r>
              <a:rPr lang="fr-FR" sz="2400" dirty="0">
                <a:latin typeface="Times New Roman" panose="02020603050405020304" pitchFamily="18" charset="0"/>
                <a:ea typeface="Times New Roman" panose="02020603050405020304" pitchFamily="18" charset="0"/>
              </a:rPr>
              <a:t> et une </a:t>
            </a:r>
            <a:r>
              <a:rPr lang="fr-FR" sz="2400" b="1" u="sng" dirty="0">
                <a:latin typeface="Times New Roman" panose="02020603050405020304" pitchFamily="18" charset="0"/>
                <a:ea typeface="Times New Roman" panose="02020603050405020304" pitchFamily="18" charset="0"/>
              </a:rPr>
              <a:t>unité</a:t>
            </a:r>
          </a:p>
        </p:txBody>
      </p:sp>
      <p:sp>
        <p:nvSpPr>
          <p:cNvPr id="8" name="Rectangle 7">
            <a:extLst>
              <a:ext uri="{FF2B5EF4-FFF2-40B4-BE49-F238E27FC236}">
                <a16:creationId xmlns:a16="http://schemas.microsoft.com/office/drawing/2014/main" xmlns="" id="{EC79322D-26F2-411E-A36F-273033B6AC29}"/>
              </a:ext>
            </a:extLst>
          </p:cNvPr>
          <p:cNvSpPr/>
          <p:nvPr/>
        </p:nvSpPr>
        <p:spPr>
          <a:xfrm>
            <a:off x="-1" y="5707731"/>
            <a:ext cx="9144000" cy="830997"/>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p>
            <a:pPr algn="just">
              <a:spcAft>
                <a:spcPts val="0"/>
              </a:spcAft>
            </a:pPr>
            <a:r>
              <a:rPr lang="fr-FR" sz="2400" b="1" u="sng" dirty="0">
                <a:latin typeface="Calibri" panose="020F0502020204030204" pitchFamily="34" charset="0"/>
                <a:ea typeface="Calibri" panose="020F0502020204030204" pitchFamily="34" charset="0"/>
                <a:cs typeface="Times New Roman" panose="02020603050405020304" pitchFamily="18" charset="0"/>
              </a:rPr>
              <a:t>Remarque </a:t>
            </a:r>
            <a:r>
              <a:rPr lang="fr-FR" sz="2400" dirty="0">
                <a:latin typeface="Calibri" panose="020F0502020204030204" pitchFamily="34" charset="0"/>
                <a:ea typeface="Calibri" panose="020F0502020204030204" pitchFamily="34" charset="0"/>
                <a:cs typeface="Times New Roman" panose="02020603050405020304" pitchFamily="18" charset="0"/>
              </a:rPr>
              <a:t>: En plus de ces deux caractéristiques, une grandeur vectorielle est aussi caractérisée par une orientation.</a:t>
            </a:r>
            <a:endParaRPr lang="fr-HT" sz="2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xmlns="" id="{AF4F8E8A-7454-4FE2-8608-7C97D8863941}"/>
              </a:ext>
            </a:extLst>
          </p:cNvPr>
          <p:cNvSpPr/>
          <p:nvPr/>
        </p:nvSpPr>
        <p:spPr>
          <a:xfrm>
            <a:off x="4572000" y="3826932"/>
            <a:ext cx="2286001" cy="461665"/>
          </a:xfrm>
          <a:prstGeom prst="rect">
            <a:avLst/>
          </a:prstGeom>
        </p:spPr>
        <p:txBody>
          <a:bodyPr wrap="square">
            <a:spAutoFit/>
          </a:bodyPr>
          <a:lstStyle/>
          <a:p>
            <a:pPr algn="ctr"/>
            <a:r>
              <a:rPr lang="fr-FR" sz="2400" b="1" dirty="0">
                <a:latin typeface="Times New Roman" panose="02020603050405020304" pitchFamily="18" charset="0"/>
                <a:ea typeface="Times New Roman" panose="02020603050405020304" pitchFamily="18" charset="0"/>
              </a:rPr>
              <a:t>indissociables</a:t>
            </a:r>
            <a:endParaRPr lang="fr-HT" sz="2400" b="1" dirty="0"/>
          </a:p>
        </p:txBody>
      </p:sp>
      <p:cxnSp>
        <p:nvCxnSpPr>
          <p:cNvPr id="11" name="Connecteur droit avec flèche 10">
            <a:extLst>
              <a:ext uri="{FF2B5EF4-FFF2-40B4-BE49-F238E27FC236}">
                <a16:creationId xmlns:a16="http://schemas.microsoft.com/office/drawing/2014/main" xmlns="" id="{C32E4C9C-3041-4892-83F0-CA3EFD17CA56}"/>
              </a:ext>
            </a:extLst>
          </p:cNvPr>
          <p:cNvCxnSpPr>
            <a:cxnSpLocks/>
          </p:cNvCxnSpPr>
          <p:nvPr/>
        </p:nvCxnSpPr>
        <p:spPr>
          <a:xfrm flipH="1" flipV="1">
            <a:off x="4678017" y="2945260"/>
            <a:ext cx="894521" cy="96297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xmlns="" id="{0149DAC0-7A7B-4EAC-92B7-C755EE6009CB}"/>
              </a:ext>
            </a:extLst>
          </p:cNvPr>
          <p:cNvCxnSpPr>
            <a:cxnSpLocks/>
          </p:cNvCxnSpPr>
          <p:nvPr/>
        </p:nvCxnSpPr>
        <p:spPr>
          <a:xfrm flipV="1">
            <a:off x="5774637" y="2925615"/>
            <a:ext cx="689113" cy="95846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xmlns="" id="{102091CB-1E0F-43C5-B453-8AE90569AA3F}"/>
              </a:ext>
            </a:extLst>
          </p:cNvPr>
          <p:cNvSpPr/>
          <p:nvPr/>
        </p:nvSpPr>
        <p:spPr>
          <a:xfrm>
            <a:off x="3313043" y="4319268"/>
            <a:ext cx="4572000" cy="1200329"/>
          </a:xfrm>
          <a:prstGeom prst="rect">
            <a:avLst/>
          </a:prstGeom>
        </p:spPr>
        <p:txBody>
          <a:bodyPr>
            <a:spAutoFit/>
          </a:bodyPr>
          <a:lstStyle/>
          <a:p>
            <a:pPr algn="ctr"/>
            <a:r>
              <a:rPr lang="fr-FR" sz="2400" dirty="0">
                <a:latin typeface="Times New Roman" panose="02020603050405020304" pitchFamily="18" charset="0"/>
                <a:ea typeface="Times New Roman" panose="02020603050405020304" pitchFamily="18" charset="0"/>
              </a:rPr>
              <a:t>attribuer une valeur numérique à une grandeur sans en préciser l'unité n'a aucun sens.</a:t>
            </a:r>
            <a:endParaRPr lang="fr-HT" sz="2400" dirty="0"/>
          </a:p>
        </p:txBody>
      </p:sp>
      <p:sp>
        <p:nvSpPr>
          <p:cNvPr id="22" name="Flèche : virage 21">
            <a:extLst>
              <a:ext uri="{FF2B5EF4-FFF2-40B4-BE49-F238E27FC236}">
                <a16:creationId xmlns:a16="http://schemas.microsoft.com/office/drawing/2014/main" xmlns="" id="{7346161E-9C8A-4159-AAF8-51B8A8DE40DC}"/>
              </a:ext>
            </a:extLst>
          </p:cNvPr>
          <p:cNvSpPr/>
          <p:nvPr/>
        </p:nvSpPr>
        <p:spPr>
          <a:xfrm flipV="1">
            <a:off x="2640498" y="4368904"/>
            <a:ext cx="761999" cy="514406"/>
          </a:xfrm>
          <a:prstGeom prst="bentArrow">
            <a:avLst>
              <a:gd name="adj1" fmla="val 19848"/>
              <a:gd name="adj2" fmla="val 13407"/>
              <a:gd name="adj3" fmla="val 25000"/>
              <a:gd name="adj4" fmla="val 4375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HT">
              <a:solidFill>
                <a:schemeClr val="tx1"/>
              </a:solidFill>
            </a:endParaRPr>
          </a:p>
        </p:txBody>
      </p:sp>
      <p:sp>
        <p:nvSpPr>
          <p:cNvPr id="23" name="Rectangle 22">
            <a:extLst>
              <a:ext uri="{FF2B5EF4-FFF2-40B4-BE49-F238E27FC236}">
                <a16:creationId xmlns:a16="http://schemas.microsoft.com/office/drawing/2014/main" xmlns="" id="{EEAB5BF1-807E-4614-A0F7-E9E4307211DD}"/>
              </a:ext>
            </a:extLst>
          </p:cNvPr>
          <p:cNvSpPr/>
          <p:nvPr/>
        </p:nvSpPr>
        <p:spPr>
          <a:xfrm>
            <a:off x="0" y="30353"/>
            <a:ext cx="9144000" cy="52322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fr-HT" sz="2800" b="1" dirty="0">
                <a:latin typeface="Times-Roman"/>
              </a:rPr>
              <a:t>Partie I : Notion de grandeur</a:t>
            </a:r>
            <a:endParaRPr lang="fr-HT" sz="2800" b="1" dirty="0"/>
          </a:p>
        </p:txBody>
      </p:sp>
      <p:sp>
        <p:nvSpPr>
          <p:cNvPr id="25" name="Espace réservé du numéro de diapositive 24">
            <a:extLst>
              <a:ext uri="{FF2B5EF4-FFF2-40B4-BE49-F238E27FC236}">
                <a16:creationId xmlns:a16="http://schemas.microsoft.com/office/drawing/2014/main" xmlns="" id="{CAE8DE34-5AC0-4D43-BFA5-241211338E8F}"/>
              </a:ext>
            </a:extLst>
          </p:cNvPr>
          <p:cNvSpPr>
            <a:spLocks noGrp="1"/>
          </p:cNvSpPr>
          <p:nvPr>
            <p:ph type="sldNum" sz="quarter" idx="12"/>
          </p:nvPr>
        </p:nvSpPr>
        <p:spPr/>
        <p:txBody>
          <a:bodyPr/>
          <a:lstStyle/>
          <a:p>
            <a:fld id="{26AFC765-89FB-4D41-BDFD-C70A1B65DB29}" type="slidenum">
              <a:rPr lang="fr-HT" smtClean="0"/>
              <a:t>7</a:t>
            </a:fld>
            <a:endParaRPr lang="fr-HT"/>
          </a:p>
        </p:txBody>
      </p:sp>
    </p:spTree>
    <p:extLst>
      <p:ext uri="{BB962C8B-B14F-4D97-AF65-F5344CB8AC3E}">
        <p14:creationId xmlns:p14="http://schemas.microsoft.com/office/powerpoint/2010/main" val="2565637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1000"/>
                                        <p:tgtEl>
                                          <p:spTgt spid="22"/>
                                        </p:tgtEl>
                                      </p:cBhvr>
                                    </p:animEffect>
                                    <p:anim calcmode="lin" valueType="num">
                                      <p:cBhvr>
                                        <p:cTn id="32" dur="1000" fill="hold"/>
                                        <p:tgtEl>
                                          <p:spTgt spid="22"/>
                                        </p:tgtEl>
                                        <p:attrNameLst>
                                          <p:attrName>ppt_x</p:attrName>
                                        </p:attrNameLst>
                                      </p:cBhvr>
                                      <p:tavLst>
                                        <p:tav tm="0">
                                          <p:val>
                                            <p:strVal val="#ppt_x"/>
                                          </p:val>
                                        </p:tav>
                                        <p:tav tm="100000">
                                          <p:val>
                                            <p:strVal val="#ppt_x"/>
                                          </p:val>
                                        </p:tav>
                                      </p:tavLst>
                                    </p:anim>
                                    <p:anim calcmode="lin" valueType="num">
                                      <p:cBhvr>
                                        <p:cTn id="33" dur="1000" fill="hold"/>
                                        <p:tgtEl>
                                          <p:spTgt spid="22"/>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1000"/>
                                        <p:tgtEl>
                                          <p:spTgt spid="16"/>
                                        </p:tgtEl>
                                      </p:cBhvr>
                                    </p:animEffect>
                                    <p:anim calcmode="lin" valueType="num">
                                      <p:cBhvr>
                                        <p:cTn id="37" dur="1000" fill="hold"/>
                                        <p:tgtEl>
                                          <p:spTgt spid="16"/>
                                        </p:tgtEl>
                                        <p:attrNameLst>
                                          <p:attrName>ppt_x</p:attrName>
                                        </p:attrNameLst>
                                      </p:cBhvr>
                                      <p:tavLst>
                                        <p:tav tm="0">
                                          <p:val>
                                            <p:strVal val="#ppt_x"/>
                                          </p:val>
                                        </p:tav>
                                        <p:tav tm="100000">
                                          <p:val>
                                            <p:strVal val="#ppt_x"/>
                                          </p:val>
                                        </p:tav>
                                      </p:tavLst>
                                    </p:anim>
                                    <p:anim calcmode="lin" valueType="num">
                                      <p:cBhvr>
                                        <p:cTn id="3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1000"/>
                                        <p:tgtEl>
                                          <p:spTgt spid="8"/>
                                        </p:tgtEl>
                                      </p:cBhvr>
                                    </p:animEffect>
                                    <p:anim calcmode="lin" valueType="num">
                                      <p:cBhvr>
                                        <p:cTn id="44" dur="1000" fill="hold"/>
                                        <p:tgtEl>
                                          <p:spTgt spid="8"/>
                                        </p:tgtEl>
                                        <p:attrNameLst>
                                          <p:attrName>ppt_x</p:attrName>
                                        </p:attrNameLst>
                                      </p:cBhvr>
                                      <p:tavLst>
                                        <p:tav tm="0">
                                          <p:val>
                                            <p:strVal val="#ppt_x"/>
                                          </p:val>
                                        </p:tav>
                                        <p:tav tm="100000">
                                          <p:val>
                                            <p:strVal val="#ppt_x"/>
                                          </p:val>
                                        </p:tav>
                                      </p:tavLst>
                                    </p:anim>
                                    <p:anim calcmode="lin" valueType="num">
                                      <p:cBhvr>
                                        <p:cTn id="4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P spid="16" grpId="0"/>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F2687AA6-D0FD-4758-8853-9A6CF8561B4E}"/>
              </a:ext>
            </a:extLst>
          </p:cNvPr>
          <p:cNvSpPr/>
          <p:nvPr/>
        </p:nvSpPr>
        <p:spPr>
          <a:xfrm>
            <a:off x="0" y="1015238"/>
            <a:ext cx="9144000" cy="830997"/>
          </a:xfrm>
          <a:prstGeom prst="rect">
            <a:avLst/>
          </a:prstGeom>
        </p:spPr>
        <p:txBody>
          <a:bodyPr wrap="square">
            <a:spAutoFit/>
          </a:bodyPr>
          <a:lstStyle/>
          <a:p>
            <a:pPr marL="342900" lvl="0" indent="-342900">
              <a:buFont typeface="Wingdings" panose="05000000000000000000" pitchFamily="2" charset="2"/>
              <a:buChar char=""/>
            </a:pPr>
            <a:r>
              <a:rPr lang="fr-FR" sz="2400" b="1" dirty="0">
                <a:latin typeface="Times New Roman" panose="02020603050405020304" pitchFamily="18" charset="0"/>
                <a:ea typeface="Times New Roman" panose="02020603050405020304" pitchFamily="18" charset="0"/>
              </a:rPr>
              <a:t>Grandeur mesurable</a:t>
            </a:r>
            <a:r>
              <a:rPr lang="fr-FR" sz="2400" dirty="0">
                <a:latin typeface="Times New Roman" panose="02020603050405020304" pitchFamily="18" charset="0"/>
                <a:ea typeface="Times New Roman" panose="02020603050405020304" pitchFamily="18" charset="0"/>
              </a:rPr>
              <a:t> : on peut lui affecter une valeur numérique à partir d'observations. </a:t>
            </a:r>
            <a:endParaRPr lang="fr-HT" sz="2400" dirty="0">
              <a:latin typeface="Times New Roman" panose="02020603050405020304" pitchFamily="18" charset="0"/>
              <a:ea typeface="Times New Roman" panose="02020603050405020304" pitchFamily="18" charset="0"/>
            </a:endParaRPr>
          </a:p>
        </p:txBody>
      </p:sp>
      <p:sp>
        <p:nvSpPr>
          <p:cNvPr id="5" name="Rectangle 4">
            <a:extLst>
              <a:ext uri="{FF2B5EF4-FFF2-40B4-BE49-F238E27FC236}">
                <a16:creationId xmlns:a16="http://schemas.microsoft.com/office/drawing/2014/main" xmlns="" id="{21C684C1-EBA2-4C79-8286-48F8F7404B70}"/>
              </a:ext>
            </a:extLst>
          </p:cNvPr>
          <p:cNvSpPr/>
          <p:nvPr/>
        </p:nvSpPr>
        <p:spPr>
          <a:xfrm>
            <a:off x="0" y="1964208"/>
            <a:ext cx="9144000" cy="461665"/>
          </a:xfrm>
          <a:prstGeom prst="rect">
            <a:avLst/>
          </a:prstGeom>
        </p:spPr>
        <p:txBody>
          <a:bodyPr wrap="square">
            <a:spAutoFit/>
          </a:bodyPr>
          <a:lstStyle/>
          <a:p>
            <a:r>
              <a:rPr lang="fr-FR" sz="2400" dirty="0">
                <a:latin typeface="Times New Roman" panose="02020603050405020304" pitchFamily="18" charset="0"/>
                <a:ea typeface="Times New Roman" panose="02020603050405020304" pitchFamily="18" charset="0"/>
              </a:rPr>
              <a:t>En outre, une grandeur est mesurable si l’on peut définir :</a:t>
            </a:r>
            <a:endParaRPr lang="fr-HT" sz="2400" dirty="0"/>
          </a:p>
        </p:txBody>
      </p:sp>
      <p:sp>
        <p:nvSpPr>
          <p:cNvPr id="6" name="Rectangle 5">
            <a:extLst>
              <a:ext uri="{FF2B5EF4-FFF2-40B4-BE49-F238E27FC236}">
                <a16:creationId xmlns:a16="http://schemas.microsoft.com/office/drawing/2014/main" xmlns="" id="{E88C320B-E8D4-4B27-AA6E-259C6EE82394}"/>
              </a:ext>
            </a:extLst>
          </p:cNvPr>
          <p:cNvSpPr/>
          <p:nvPr/>
        </p:nvSpPr>
        <p:spPr>
          <a:xfrm>
            <a:off x="0" y="2543846"/>
            <a:ext cx="9144000" cy="1569660"/>
          </a:xfrm>
          <a:prstGeom prst="rect">
            <a:avLst/>
          </a:prstGeom>
        </p:spPr>
        <p:txBody>
          <a:bodyPr wrap="square">
            <a:spAutoFit/>
          </a:bodyPr>
          <a:lstStyle/>
          <a:p>
            <a:pPr marL="342900" lvl="0" indent="-342900">
              <a:buFont typeface="Symbol" panose="05050102010706020507" pitchFamily="18" charset="2"/>
              <a:buChar char=""/>
            </a:pPr>
            <a:r>
              <a:rPr lang="fr-FR" sz="2400" dirty="0">
                <a:latin typeface="Times New Roman" panose="02020603050405020304" pitchFamily="18" charset="0"/>
                <a:ea typeface="Times New Roman" panose="02020603050405020304" pitchFamily="18" charset="0"/>
              </a:rPr>
              <a:t>Une équivalence,</a:t>
            </a:r>
            <a:endParaRPr lang="fr-HT" sz="2400" dirty="0">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fr-FR" sz="2400" dirty="0">
                <a:latin typeface="Times New Roman" panose="02020603050405020304" pitchFamily="18" charset="0"/>
                <a:ea typeface="Times New Roman" panose="02020603050405020304" pitchFamily="18" charset="0"/>
              </a:rPr>
              <a:t>Une opération (dite interne), l’addition par exemple,</a:t>
            </a:r>
            <a:endParaRPr lang="fr-HT" sz="2400" dirty="0">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fr-FR" sz="2400" dirty="0">
                <a:latin typeface="Times New Roman" panose="02020603050405020304" pitchFamily="18" charset="0"/>
                <a:ea typeface="Times New Roman" panose="02020603050405020304" pitchFamily="18" charset="0"/>
              </a:rPr>
              <a:t>Une opération externe ; la multiplication par un réel par exemple. Cette opération permet de définir le rapport entre deux grandeurs.</a:t>
            </a:r>
            <a:endParaRPr lang="fr-HT" sz="2400" dirty="0">
              <a:latin typeface="Times New Roman" panose="02020603050405020304" pitchFamily="18" charset="0"/>
              <a:ea typeface="Times New Roman" panose="02020603050405020304" pitchFamily="18" charset="0"/>
            </a:endParaRPr>
          </a:p>
        </p:txBody>
      </p:sp>
      <p:sp>
        <p:nvSpPr>
          <p:cNvPr id="7" name="Rectangle 6">
            <a:extLst>
              <a:ext uri="{FF2B5EF4-FFF2-40B4-BE49-F238E27FC236}">
                <a16:creationId xmlns:a16="http://schemas.microsoft.com/office/drawing/2014/main" xmlns="" id="{BBE6C0FF-D9E7-4BA4-968D-3FA1448CA2BB}"/>
              </a:ext>
            </a:extLst>
          </p:cNvPr>
          <p:cNvSpPr/>
          <p:nvPr/>
        </p:nvSpPr>
        <p:spPr>
          <a:xfrm>
            <a:off x="0" y="4113506"/>
            <a:ext cx="9144000" cy="461665"/>
          </a:xfrm>
          <a:prstGeom prst="rect">
            <a:avLst/>
          </a:prstGeom>
        </p:spPr>
        <p:txBody>
          <a:bodyPr wrap="square">
            <a:spAutoFit/>
          </a:bodyPr>
          <a:lstStyle/>
          <a:p>
            <a:pPr marL="914400"/>
            <a:r>
              <a:rPr lang="fr-FR" sz="2400" dirty="0">
                <a:latin typeface="Times New Roman" panose="02020603050405020304" pitchFamily="18" charset="0"/>
                <a:ea typeface="Times New Roman" panose="02020603050405020304" pitchFamily="18" charset="0"/>
              </a:rPr>
              <a:t>Exemple : masse, longueur, vitesse, force, …</a:t>
            </a:r>
            <a:endParaRPr lang="fr-HT" sz="2400" dirty="0">
              <a:latin typeface="Times New Roman" panose="02020603050405020304" pitchFamily="18" charset="0"/>
              <a:ea typeface="Times New Roman" panose="02020603050405020304" pitchFamily="18" charset="0"/>
            </a:endParaRPr>
          </a:p>
        </p:txBody>
      </p:sp>
      <p:sp>
        <p:nvSpPr>
          <p:cNvPr id="8" name="Rectangle 7">
            <a:extLst>
              <a:ext uri="{FF2B5EF4-FFF2-40B4-BE49-F238E27FC236}">
                <a16:creationId xmlns:a16="http://schemas.microsoft.com/office/drawing/2014/main" xmlns="" id="{B483C53F-85F6-44A1-8F25-E204EE2406B4}"/>
              </a:ext>
            </a:extLst>
          </p:cNvPr>
          <p:cNvSpPr/>
          <p:nvPr/>
        </p:nvSpPr>
        <p:spPr>
          <a:xfrm>
            <a:off x="0" y="4806003"/>
            <a:ext cx="9144000" cy="1569660"/>
          </a:xfrm>
          <a:prstGeom prst="rect">
            <a:avLst/>
          </a:prstGeom>
        </p:spPr>
        <p:txBody>
          <a:bodyPr wrap="square">
            <a:spAutoFit/>
          </a:bodyPr>
          <a:lstStyle/>
          <a:p>
            <a:pPr marL="342900" lvl="0" indent="-342900" algn="just">
              <a:buFont typeface="Wingdings" panose="05000000000000000000" pitchFamily="2" charset="2"/>
              <a:buChar char=""/>
            </a:pPr>
            <a:r>
              <a:rPr lang="fr-FR" sz="2400" b="1" dirty="0">
                <a:latin typeface="Times New Roman" panose="02020603050405020304" pitchFamily="18" charset="0"/>
                <a:ea typeface="Times New Roman" panose="02020603050405020304" pitchFamily="18" charset="0"/>
              </a:rPr>
              <a:t>Grandeur repérable</a:t>
            </a:r>
            <a:r>
              <a:rPr lang="fr-FR" sz="2400" dirty="0">
                <a:latin typeface="Times New Roman" panose="02020603050405020304" pitchFamily="18" charset="0"/>
                <a:ea typeface="Times New Roman" panose="02020603050405020304" pitchFamily="18" charset="0"/>
              </a:rPr>
              <a:t> : Une grandeur est dite repérable si la somme et le produit de cette grandeur n'ont pas de sens. Parmi les grandeurs repérables, on peut citer la température Celsius (°C), la date, le potentiel électrique, ...</a:t>
            </a:r>
            <a:endParaRPr lang="fr-HT" sz="2400" dirty="0">
              <a:latin typeface="Times New Roman" panose="02020603050405020304" pitchFamily="18" charset="0"/>
              <a:ea typeface="Times New Roman" panose="02020603050405020304" pitchFamily="18" charset="0"/>
            </a:endParaRPr>
          </a:p>
        </p:txBody>
      </p:sp>
      <p:sp>
        <p:nvSpPr>
          <p:cNvPr id="9" name="Rectangle 8">
            <a:extLst>
              <a:ext uri="{FF2B5EF4-FFF2-40B4-BE49-F238E27FC236}">
                <a16:creationId xmlns:a16="http://schemas.microsoft.com/office/drawing/2014/main" xmlns="" id="{81DF4DC0-3F65-4FBE-95FB-F20ADBEF6FA4}"/>
              </a:ext>
            </a:extLst>
          </p:cNvPr>
          <p:cNvSpPr/>
          <p:nvPr/>
        </p:nvSpPr>
        <p:spPr>
          <a:xfrm>
            <a:off x="0" y="30353"/>
            <a:ext cx="9144000" cy="523220"/>
          </a:xfrm>
          <a:prstGeom prst="rect">
            <a:avLst/>
          </a:prstGeom>
          <a:solidFill>
            <a:schemeClr val="accent4">
              <a:lumMod val="40000"/>
              <a:lumOff val="60000"/>
            </a:schemeClr>
          </a:solidFill>
        </p:spPr>
        <p:txBody>
          <a:bodyPr wrap="square">
            <a:spAutoFit/>
          </a:bodyPr>
          <a:lstStyle/>
          <a:p>
            <a:r>
              <a:rPr lang="fr-HT" sz="2800" b="1" dirty="0">
                <a:latin typeface="Times-Roman"/>
              </a:rPr>
              <a:t>Partie I : Notion de grandeur</a:t>
            </a:r>
            <a:endParaRPr lang="fr-HT" sz="2800" b="1" dirty="0"/>
          </a:p>
        </p:txBody>
      </p:sp>
      <p:sp>
        <p:nvSpPr>
          <p:cNvPr id="11" name="Espace réservé du numéro de diapositive 10">
            <a:extLst>
              <a:ext uri="{FF2B5EF4-FFF2-40B4-BE49-F238E27FC236}">
                <a16:creationId xmlns:a16="http://schemas.microsoft.com/office/drawing/2014/main" xmlns="" id="{5DDE5D75-6EB6-4884-BC31-0C0A723BC292}"/>
              </a:ext>
            </a:extLst>
          </p:cNvPr>
          <p:cNvSpPr>
            <a:spLocks noGrp="1"/>
          </p:cNvSpPr>
          <p:nvPr>
            <p:ph type="sldNum" sz="quarter" idx="12"/>
          </p:nvPr>
        </p:nvSpPr>
        <p:spPr/>
        <p:txBody>
          <a:bodyPr/>
          <a:lstStyle/>
          <a:p>
            <a:fld id="{26AFC765-89FB-4D41-BDFD-C70A1B65DB29}" type="slidenum">
              <a:rPr lang="fr-HT" smtClean="0"/>
              <a:t>8</a:t>
            </a:fld>
            <a:endParaRPr lang="fr-HT"/>
          </a:p>
        </p:txBody>
      </p:sp>
    </p:spTree>
    <p:extLst>
      <p:ext uri="{BB962C8B-B14F-4D97-AF65-F5344CB8AC3E}">
        <p14:creationId xmlns:p14="http://schemas.microsoft.com/office/powerpoint/2010/main" val="148614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660A6DDF-BB1F-4003-9167-25C0370E6B34}"/>
                  </a:ext>
                </a:extLst>
              </p:cNvPr>
              <p:cNvSpPr/>
              <p:nvPr/>
            </p:nvSpPr>
            <p:spPr>
              <a:xfrm>
                <a:off x="0" y="1015238"/>
                <a:ext cx="9143999" cy="830997"/>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lvl="0"/>
                <a:r>
                  <a:rPr lang="fr-FR" sz="2400" dirty="0" smtClean="0">
                    <a:latin typeface="Times New Roman" panose="02020603050405020304" pitchFamily="18" charset="0"/>
                    <a:ea typeface="Times New Roman" panose="02020603050405020304" pitchFamily="18" charset="0"/>
                  </a:rPr>
                  <a:t>N.B : Si </a:t>
                </a:r>
                <a:r>
                  <a:rPr lang="fr-FR" sz="2400" dirty="0">
                    <a:latin typeface="Times New Roman" panose="02020603050405020304" pitchFamily="18" charset="0"/>
                    <a:ea typeface="Times New Roman" panose="02020603050405020304" pitchFamily="18" charset="0"/>
                  </a:rPr>
                  <a:t>l’on mélange un corps </a:t>
                </a:r>
                <a14:m>
                  <m:oMath xmlns:m="http://schemas.openxmlformats.org/officeDocument/2006/math">
                    <m:r>
                      <a:rPr lang="fr-FR" sz="2400" i="1">
                        <a:latin typeface="Cambria Math" panose="02040503050406030204" pitchFamily="18" charset="0"/>
                        <a:ea typeface="Times New Roman" panose="02020603050405020304" pitchFamily="18" charset="0"/>
                      </a:rPr>
                      <m:t>𝐴</m:t>
                    </m:r>
                  </m:oMath>
                </a14:m>
                <a:r>
                  <a:rPr lang="fr-FR" sz="2400" dirty="0">
                    <a:latin typeface="Times New Roman" panose="02020603050405020304" pitchFamily="18" charset="0"/>
                    <a:ea typeface="Times New Roman" panose="02020603050405020304" pitchFamily="18" charset="0"/>
                  </a:rPr>
                  <a:t> de température </a:t>
                </a:r>
                <a14:m>
                  <m:oMath xmlns:m="http://schemas.openxmlformats.org/officeDocument/2006/math">
                    <m:sSub>
                      <m:sSubPr>
                        <m:ctrlPr>
                          <a:rPr lang="fr-HT" sz="2400" i="1">
                            <a:latin typeface="Cambria Math"/>
                            <a:ea typeface="Times New Roman" panose="02020603050405020304" pitchFamily="18" charset="0"/>
                          </a:rPr>
                        </m:ctrlPr>
                      </m:sSubPr>
                      <m:e>
                        <m:r>
                          <a:rPr lang="fr-FR" sz="2400" i="1">
                            <a:latin typeface="Cambria Math" panose="02040503050406030204" pitchFamily="18" charset="0"/>
                            <a:ea typeface="Times New Roman" panose="02020603050405020304" pitchFamily="18" charset="0"/>
                          </a:rPr>
                          <m:t>𝑡</m:t>
                        </m:r>
                      </m:e>
                      <m:sub>
                        <m:r>
                          <a:rPr lang="fr-FR" sz="2400" i="1">
                            <a:latin typeface="Cambria Math" panose="02040503050406030204" pitchFamily="18" charset="0"/>
                            <a:ea typeface="Times New Roman" panose="02020603050405020304" pitchFamily="18" charset="0"/>
                          </a:rPr>
                          <m:t>𝐴</m:t>
                        </m:r>
                      </m:sub>
                    </m:sSub>
                  </m:oMath>
                </a14:m>
                <a:r>
                  <a:rPr lang="fr-FR" sz="2400" dirty="0">
                    <a:latin typeface="Times New Roman" panose="02020603050405020304" pitchFamily="18" charset="0"/>
                    <a:ea typeface="Times New Roman" panose="02020603050405020304" pitchFamily="18" charset="0"/>
                  </a:rPr>
                  <a:t> et un corps B de température </a:t>
                </a:r>
                <a14:m>
                  <m:oMath xmlns:m="http://schemas.openxmlformats.org/officeDocument/2006/math">
                    <m:sSub>
                      <m:sSubPr>
                        <m:ctrlPr>
                          <a:rPr lang="fr-HT" sz="2400" i="1">
                            <a:latin typeface="Cambria Math"/>
                            <a:ea typeface="Times New Roman" panose="02020603050405020304" pitchFamily="18" charset="0"/>
                          </a:rPr>
                        </m:ctrlPr>
                      </m:sSubPr>
                      <m:e>
                        <m:r>
                          <a:rPr lang="fr-FR" sz="2400" i="1">
                            <a:latin typeface="Cambria Math" panose="02040503050406030204" pitchFamily="18" charset="0"/>
                            <a:ea typeface="Times New Roman" panose="02020603050405020304" pitchFamily="18" charset="0"/>
                          </a:rPr>
                          <m:t>𝑡</m:t>
                        </m:r>
                      </m:e>
                      <m:sub>
                        <m:r>
                          <a:rPr lang="fr-FR" sz="2400" i="1">
                            <a:latin typeface="Cambria Math" panose="02040503050406030204" pitchFamily="18" charset="0"/>
                            <a:ea typeface="Times New Roman" panose="02020603050405020304" pitchFamily="18" charset="0"/>
                          </a:rPr>
                          <m:t>𝐵</m:t>
                        </m:r>
                      </m:sub>
                    </m:sSub>
                  </m:oMath>
                </a14:m>
                <a:r>
                  <a:rPr lang="fr-FR" sz="2400" dirty="0">
                    <a:latin typeface="Times New Roman" panose="02020603050405020304" pitchFamily="18" charset="0"/>
                    <a:ea typeface="Times New Roman" panose="02020603050405020304" pitchFamily="18" charset="0"/>
                  </a:rPr>
                  <a:t>, la température du mélange ne sera pas égale à </a:t>
                </a:r>
                <a14:m>
                  <m:oMath xmlns:m="http://schemas.openxmlformats.org/officeDocument/2006/math">
                    <m:sSub>
                      <m:sSubPr>
                        <m:ctrlPr>
                          <a:rPr lang="fr-HT" sz="2400" i="1">
                            <a:latin typeface="Cambria Math"/>
                            <a:ea typeface="Times New Roman" panose="02020603050405020304" pitchFamily="18" charset="0"/>
                          </a:rPr>
                        </m:ctrlPr>
                      </m:sSubPr>
                      <m:e>
                        <m:r>
                          <a:rPr lang="fr-FR" sz="2400" i="1">
                            <a:latin typeface="Cambria Math" panose="02040503050406030204" pitchFamily="18" charset="0"/>
                            <a:ea typeface="Times New Roman" panose="02020603050405020304" pitchFamily="18" charset="0"/>
                          </a:rPr>
                          <m:t>𝑡</m:t>
                        </m:r>
                      </m:e>
                      <m:sub>
                        <m:r>
                          <a:rPr lang="fr-FR" sz="2400" i="1">
                            <a:latin typeface="Cambria Math" panose="02040503050406030204" pitchFamily="18" charset="0"/>
                            <a:ea typeface="Times New Roman" panose="02020603050405020304" pitchFamily="18" charset="0"/>
                          </a:rPr>
                          <m:t>𝐴</m:t>
                        </m:r>
                      </m:sub>
                    </m:sSub>
                    <m:r>
                      <a:rPr lang="fr-FR" sz="2400" i="1">
                        <a:latin typeface="Cambria Math" panose="02040503050406030204" pitchFamily="18" charset="0"/>
                        <a:ea typeface="Times New Roman" panose="02020603050405020304" pitchFamily="18" charset="0"/>
                      </a:rPr>
                      <m:t>+</m:t>
                    </m:r>
                    <m:sSub>
                      <m:sSubPr>
                        <m:ctrlPr>
                          <a:rPr lang="fr-HT" sz="2400" i="1">
                            <a:latin typeface="Cambria Math"/>
                            <a:ea typeface="Times New Roman" panose="02020603050405020304" pitchFamily="18" charset="0"/>
                          </a:rPr>
                        </m:ctrlPr>
                      </m:sSubPr>
                      <m:e>
                        <m:r>
                          <a:rPr lang="fr-FR" sz="2400" i="1">
                            <a:latin typeface="Cambria Math" panose="02040503050406030204" pitchFamily="18" charset="0"/>
                            <a:ea typeface="Times New Roman" panose="02020603050405020304" pitchFamily="18" charset="0"/>
                          </a:rPr>
                          <m:t>𝑡</m:t>
                        </m:r>
                      </m:e>
                      <m:sub>
                        <m:r>
                          <a:rPr lang="fr-FR" sz="2400" i="1">
                            <a:latin typeface="Cambria Math" panose="02040503050406030204" pitchFamily="18" charset="0"/>
                            <a:ea typeface="Times New Roman" panose="02020603050405020304" pitchFamily="18" charset="0"/>
                          </a:rPr>
                          <m:t>𝐵</m:t>
                        </m:r>
                      </m:sub>
                    </m:sSub>
                  </m:oMath>
                </a14:m>
                <a:endParaRPr lang="fr-HT" sz="2400" dirty="0">
                  <a:latin typeface="Times New Roman" panose="02020603050405020304" pitchFamily="18" charset="0"/>
                  <a:ea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xmlns="" xmlns:a14="http://schemas.microsoft.com/office/drawing/2010/main" id="{660A6DDF-BB1F-4003-9167-25C0370E6B34}"/>
                  </a:ext>
                </a:extLst>
              </p:cNvPr>
              <p:cNvSpPr>
                <a:spLocks noRot="1" noChangeAspect="1" noMove="1" noResize="1" noEditPoints="1" noAdjustHandles="1" noChangeArrowheads="1" noChangeShapeType="1" noTextEdit="1"/>
              </p:cNvSpPr>
              <p:nvPr/>
            </p:nvSpPr>
            <p:spPr>
              <a:xfrm>
                <a:off x="0" y="1015238"/>
                <a:ext cx="9143999" cy="830997"/>
              </a:xfrm>
              <a:prstGeom prst="rect">
                <a:avLst/>
              </a:prstGeom>
              <a:blipFill rotWithShape="1">
                <a:blip r:embed="rId2"/>
                <a:stretch>
                  <a:fillRect l="-999" t="-5839" b="-15328"/>
                </a:stretch>
              </a:blipFill>
            </p:spPr>
            <p:txBody>
              <a:bodyPr/>
              <a:lstStyle/>
              <a:p>
                <a:r>
                  <a:rPr lang="fr-FR">
                    <a:noFill/>
                  </a:rPr>
                  <a:t> </a:t>
                </a:r>
              </a:p>
            </p:txBody>
          </p:sp>
        </mc:Fallback>
      </mc:AlternateContent>
      <p:sp>
        <p:nvSpPr>
          <p:cNvPr id="6" name="Rectangle 5">
            <a:extLst>
              <a:ext uri="{FF2B5EF4-FFF2-40B4-BE49-F238E27FC236}">
                <a16:creationId xmlns:a16="http://schemas.microsoft.com/office/drawing/2014/main" xmlns="" id="{35E647A9-50C0-48C7-9C37-7CBD7989E83D}"/>
              </a:ext>
            </a:extLst>
          </p:cNvPr>
          <p:cNvSpPr/>
          <p:nvPr/>
        </p:nvSpPr>
        <p:spPr>
          <a:xfrm>
            <a:off x="0" y="2233579"/>
            <a:ext cx="9143997" cy="2443939"/>
          </a:xfrm>
          <a:prstGeom prst="rect">
            <a:avLst/>
          </a:prstGeom>
        </p:spPr>
        <p:txBody>
          <a:bodyPr wrap="square">
            <a:spAutoFit/>
          </a:bodyPr>
          <a:lstStyle/>
          <a:p>
            <a:pPr marL="342900" lvl="0" indent="-342900">
              <a:lnSpc>
                <a:spcPct val="107000"/>
              </a:lnSpc>
              <a:spcAft>
                <a:spcPts val="0"/>
              </a:spcAft>
              <a:buFont typeface="Wingdings" panose="05000000000000000000" pitchFamily="2" charset="2"/>
              <a:buChar char=""/>
            </a:pPr>
            <a:r>
              <a:rPr lang="fr-FR" sz="2400" b="1" dirty="0">
                <a:latin typeface="Calibri Light" panose="020F0302020204030204" pitchFamily="34" charset="0"/>
                <a:ea typeface="Times New Roman" panose="02020603050405020304" pitchFamily="18" charset="0"/>
                <a:cs typeface="Times New Roman" panose="02020603050405020304" pitchFamily="18" charset="0"/>
              </a:rPr>
              <a:t>Grandeurs étalons</a:t>
            </a:r>
            <a:endParaRPr lang="fr-HT" sz="2400"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07000"/>
              </a:lnSpc>
              <a:spcAft>
                <a:spcPts val="800"/>
              </a:spcAft>
            </a:pPr>
            <a:r>
              <a:rPr lang="fr-FR" sz="2400" dirty="0">
                <a:latin typeface="Times New Roman" panose="02020603050405020304" pitchFamily="18" charset="0"/>
                <a:ea typeface="Times New Roman" panose="02020603050405020304" pitchFamily="18" charset="0"/>
                <a:cs typeface="Times New Roman" panose="02020603050405020304" pitchFamily="18" charset="0"/>
              </a:rPr>
              <a:t>Une grandeur est un paramètre mesurable ou repérable qui sert à définir un état, un objet. Par exemple, la longueur, la température, l'énergie, la vitesse, la pression, une force (par exemple le poids), l'inertie (masse), la quantité de matière (nombre de moles) sont des grandeurs.</a:t>
            </a:r>
            <a:endParaRPr lang="fr-HT"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xmlns="" id="{4409EBED-5E48-4171-A308-6E176855D743}"/>
              </a:ext>
            </a:extLst>
          </p:cNvPr>
          <p:cNvSpPr/>
          <p:nvPr/>
        </p:nvSpPr>
        <p:spPr>
          <a:xfrm>
            <a:off x="0" y="30353"/>
            <a:ext cx="9144000" cy="523220"/>
          </a:xfrm>
          <a:prstGeom prst="rect">
            <a:avLst/>
          </a:prstGeom>
          <a:solidFill>
            <a:schemeClr val="accent4">
              <a:lumMod val="40000"/>
              <a:lumOff val="60000"/>
            </a:schemeClr>
          </a:solidFill>
        </p:spPr>
        <p:txBody>
          <a:bodyPr wrap="square">
            <a:spAutoFit/>
          </a:bodyPr>
          <a:lstStyle/>
          <a:p>
            <a:r>
              <a:rPr lang="fr-HT" sz="2800" b="1" dirty="0">
                <a:latin typeface="Times-Roman"/>
              </a:rPr>
              <a:t>Partie I : Notion de grandeur</a:t>
            </a:r>
            <a:endParaRPr lang="fr-HT" sz="2800" b="1" dirty="0"/>
          </a:p>
        </p:txBody>
      </p:sp>
      <p:sp>
        <p:nvSpPr>
          <p:cNvPr id="9" name="Espace réservé du numéro de diapositive 8">
            <a:extLst>
              <a:ext uri="{FF2B5EF4-FFF2-40B4-BE49-F238E27FC236}">
                <a16:creationId xmlns:a16="http://schemas.microsoft.com/office/drawing/2014/main" xmlns="" id="{2C9F540C-D8D1-4163-9ED1-576FBC8A2C39}"/>
              </a:ext>
            </a:extLst>
          </p:cNvPr>
          <p:cNvSpPr>
            <a:spLocks noGrp="1"/>
          </p:cNvSpPr>
          <p:nvPr>
            <p:ph type="sldNum" sz="quarter" idx="12"/>
          </p:nvPr>
        </p:nvSpPr>
        <p:spPr/>
        <p:txBody>
          <a:bodyPr/>
          <a:lstStyle/>
          <a:p>
            <a:fld id="{26AFC765-89FB-4D41-BDFD-C70A1B65DB29}" type="slidenum">
              <a:rPr lang="fr-HT" smtClean="0"/>
              <a:t>9</a:t>
            </a:fld>
            <a:endParaRPr lang="fr-HT"/>
          </a:p>
        </p:txBody>
      </p:sp>
      <p:sp>
        <p:nvSpPr>
          <p:cNvPr id="4" name="Rectangle 3"/>
          <p:cNvSpPr/>
          <p:nvPr/>
        </p:nvSpPr>
        <p:spPr>
          <a:xfrm>
            <a:off x="283335" y="4677518"/>
            <a:ext cx="8590209" cy="830997"/>
          </a:xfrm>
          <a:prstGeom prst="rect">
            <a:avLst/>
          </a:prstGeom>
        </p:spPr>
        <p:txBody>
          <a:bodyPr wrap="square">
            <a:spAutoFit/>
          </a:bodyPr>
          <a:lstStyle/>
          <a:p>
            <a:r>
              <a:rPr lang="fr-FR"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Exemple </a:t>
            </a:r>
            <a:r>
              <a:rPr lang="fr-FR" sz="24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si une barre fait trois fois l'étalon-mètre, on dit que </a:t>
            </a:r>
            <a:r>
              <a:rPr lang="fr-FR" sz="2400" i="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la barre mesure 3 mètres »</a:t>
            </a:r>
            <a:r>
              <a:rPr lang="fr-FR" sz="24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le mètre étant l'unité de longueur.</a:t>
            </a:r>
            <a:endParaRPr lang="fr-HT"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6319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1A53D83D-7BF3-4AFB-B9B2-BD13A44C99E6}"/>
              </a:ext>
            </a:extLst>
          </p:cNvPr>
          <p:cNvSpPr/>
          <p:nvPr/>
        </p:nvSpPr>
        <p:spPr>
          <a:xfrm>
            <a:off x="2" y="1024962"/>
            <a:ext cx="9143998" cy="1673022"/>
          </a:xfrm>
          <a:prstGeom prst="rect">
            <a:avLst/>
          </a:prstGeom>
        </p:spPr>
        <p:txBody>
          <a:bodyPr wrap="square">
            <a:spAutoFit/>
          </a:bodyPr>
          <a:lstStyle/>
          <a:p>
            <a:pPr marL="342900" lvl="0" indent="-342900" algn="just">
              <a:lnSpc>
                <a:spcPct val="107000"/>
              </a:lnSpc>
              <a:spcAft>
                <a:spcPts val="0"/>
              </a:spcAft>
              <a:buFont typeface="Wingdings" panose="05000000000000000000" pitchFamily="2" charset="2"/>
              <a:buChar char=""/>
            </a:pPr>
            <a:r>
              <a:rPr lang="fr-FR" sz="2400" b="1" dirty="0">
                <a:latin typeface="Calibri Light" panose="020F0302020204030204" pitchFamily="34" charset="0"/>
                <a:ea typeface="Calibri" panose="020F0502020204030204" pitchFamily="34" charset="0"/>
                <a:cs typeface="Times New Roman" panose="02020603050405020304" pitchFamily="18" charset="0"/>
              </a:rPr>
              <a:t>Dimension </a:t>
            </a:r>
            <a:endParaRPr lang="fr-HT" sz="2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fr-FR" sz="2400" dirty="0">
                <a:latin typeface="Times New Roman" panose="02020603050405020304" pitchFamily="18" charset="0"/>
                <a:ea typeface="Calibri" panose="020F0502020204030204" pitchFamily="34" charset="0"/>
                <a:cs typeface="Times New Roman" panose="02020603050405020304" pitchFamily="18" charset="0"/>
              </a:rPr>
              <a:t>La dimension d’une grandeur correspond à sa </a:t>
            </a:r>
            <a:r>
              <a:rPr lang="fr-FR" sz="24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nature physique</a:t>
            </a:r>
            <a:r>
              <a:rPr lang="fr-FR" sz="2400" dirty="0">
                <a:latin typeface="Times New Roman" panose="02020603050405020304" pitchFamily="18" charset="0"/>
                <a:ea typeface="Calibri" panose="020F0502020204030204" pitchFamily="34" charset="0"/>
                <a:cs typeface="Times New Roman" panose="02020603050405020304" pitchFamily="18" charset="0"/>
              </a:rPr>
              <a:t>, par exemple une longueur, un temps, une tension. C’est l’approche qualitative, qui répond à la question : « qu’est-ce que c’est ?»</a:t>
            </a:r>
            <a:endParaRPr lang="fr-HT"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xmlns="" id="{F6313A19-8F2E-4ED8-B798-AB2AEAD6A2E2}"/>
              </a:ext>
            </a:extLst>
          </p:cNvPr>
          <p:cNvSpPr/>
          <p:nvPr/>
        </p:nvSpPr>
        <p:spPr>
          <a:xfrm>
            <a:off x="3" y="2967875"/>
            <a:ext cx="9143997" cy="1393330"/>
          </a:xfrm>
          <a:prstGeom prst="rect">
            <a:avLst/>
          </a:prstGeom>
        </p:spPr>
        <p:txBody>
          <a:bodyPr wrap="square">
            <a:spAutoFit/>
          </a:bodyPr>
          <a:lstStyle/>
          <a:p>
            <a:pPr algn="just">
              <a:lnSpc>
                <a:spcPct val="107000"/>
              </a:lnSpc>
              <a:spcAft>
                <a:spcPts val="800"/>
              </a:spcAft>
            </a:pPr>
            <a:r>
              <a:rPr lang="fr-FR" sz="2000" i="1" dirty="0">
                <a:latin typeface="Times New Roman" panose="02020603050405020304" pitchFamily="18" charset="0"/>
                <a:ea typeface="Calibri" panose="020F0502020204030204" pitchFamily="34" charset="0"/>
                <a:cs typeface="Times New Roman" panose="02020603050405020304" pitchFamily="18" charset="0"/>
              </a:rPr>
              <a:t>Cela n’indique pas avec quelle unité celle-ci sera mesurée. Une grandeur dont la dimension est homogène à une longueur peut s’exprimer en mètres, en miles, en années-lumière, etc. C’est l’approche quantitative, qui répond à la question : « Combien ça vaut ? »</a:t>
            </a:r>
            <a:endParaRPr lang="fr-HT" i="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xmlns="" id="{691D7F1C-D26E-4740-B056-120C95F6A916}"/>
              </a:ext>
            </a:extLst>
          </p:cNvPr>
          <p:cNvSpPr/>
          <p:nvPr/>
        </p:nvSpPr>
        <p:spPr>
          <a:xfrm>
            <a:off x="0" y="30353"/>
            <a:ext cx="9144000" cy="523220"/>
          </a:xfrm>
          <a:prstGeom prst="rect">
            <a:avLst/>
          </a:prstGeom>
          <a:solidFill>
            <a:schemeClr val="accent4">
              <a:lumMod val="40000"/>
              <a:lumOff val="60000"/>
            </a:schemeClr>
          </a:solidFill>
        </p:spPr>
        <p:txBody>
          <a:bodyPr wrap="square">
            <a:spAutoFit/>
          </a:bodyPr>
          <a:lstStyle/>
          <a:p>
            <a:r>
              <a:rPr lang="fr-HT" sz="2800" b="1" dirty="0">
                <a:latin typeface="Times-Roman"/>
              </a:rPr>
              <a:t>Partie I : Notion de grandeur</a:t>
            </a:r>
            <a:endParaRPr lang="fr-HT" sz="2800" b="1" dirty="0"/>
          </a:p>
        </p:txBody>
      </p:sp>
      <p:sp>
        <p:nvSpPr>
          <p:cNvPr id="11" name="Espace réservé du numéro de diapositive 10">
            <a:extLst>
              <a:ext uri="{FF2B5EF4-FFF2-40B4-BE49-F238E27FC236}">
                <a16:creationId xmlns:a16="http://schemas.microsoft.com/office/drawing/2014/main" xmlns="" id="{32B2FFEA-28B8-42B9-8649-DA67D11B9241}"/>
              </a:ext>
            </a:extLst>
          </p:cNvPr>
          <p:cNvSpPr>
            <a:spLocks noGrp="1"/>
          </p:cNvSpPr>
          <p:nvPr>
            <p:ph type="sldNum" sz="quarter" idx="12"/>
          </p:nvPr>
        </p:nvSpPr>
        <p:spPr/>
        <p:txBody>
          <a:bodyPr/>
          <a:lstStyle/>
          <a:p>
            <a:fld id="{26AFC765-89FB-4D41-BDFD-C70A1B65DB29}" type="slidenum">
              <a:rPr lang="fr-HT" smtClean="0"/>
              <a:t>10</a:t>
            </a:fld>
            <a:endParaRPr lang="fr-HT"/>
          </a:p>
        </p:txBody>
      </p:sp>
      <p:sp>
        <p:nvSpPr>
          <p:cNvPr id="4" name="Rectangle 3"/>
          <p:cNvSpPr/>
          <p:nvPr/>
        </p:nvSpPr>
        <p:spPr>
          <a:xfrm>
            <a:off x="167425" y="4554390"/>
            <a:ext cx="8860665" cy="685059"/>
          </a:xfrm>
          <a:prstGeom prst="rect">
            <a:avLst/>
          </a:prstGeom>
          <a:solidFill>
            <a:srgbClr val="FFFF00"/>
          </a:solidFill>
          <a:ln>
            <a:solidFill>
              <a:srgbClr val="FF0000"/>
            </a:solidFill>
          </a:ln>
        </p:spPr>
        <p:style>
          <a:lnRef idx="2">
            <a:schemeClr val="accent2"/>
          </a:lnRef>
          <a:fillRef idx="1">
            <a:schemeClr val="lt1"/>
          </a:fillRef>
          <a:effectRef idx="0">
            <a:schemeClr val="accent2"/>
          </a:effectRef>
          <a:fontRef idx="minor">
            <a:schemeClr val="dk1"/>
          </a:fontRef>
        </p:style>
        <p:txBody>
          <a:bodyPr wrap="square">
            <a:spAutoFit/>
          </a:bodyPr>
          <a:lstStyle/>
          <a:p>
            <a:pPr algn="just">
              <a:lnSpc>
                <a:spcPct val="107000"/>
              </a:lnSpc>
              <a:spcAft>
                <a:spcPts val="800"/>
              </a:spcAft>
            </a:pPr>
            <a:r>
              <a:rPr lang="fr-FR" b="1"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Attention</a:t>
            </a:r>
            <a:r>
              <a:rPr lang="fr-FR"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t>
            </a:r>
            <a:r>
              <a:rPr lang="fr-FR" dirty="0" smtClean="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r>
              <a:rPr lang="fr-FR" dirty="0">
                <a:latin typeface="Times New Roman" panose="02020603050405020304" pitchFamily="18" charset="0"/>
                <a:ea typeface="Calibri" panose="020F0502020204030204" pitchFamily="34" charset="0"/>
                <a:cs typeface="Times New Roman" panose="02020603050405020304" pitchFamily="18" charset="0"/>
              </a:rPr>
              <a:t>Si l’on demande « quelle est la dimension de L ? » il faut répondre « L a la dimension d’une longueur » et non « L est en mètres ».</a:t>
            </a:r>
            <a:endParaRPr lang="fr-HT" sz="1600" dirty="0">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Rectangle 9"/>
              <p:cNvSpPr/>
              <p:nvPr/>
            </p:nvSpPr>
            <p:spPr>
              <a:xfrm>
                <a:off x="1981995" y="5276944"/>
                <a:ext cx="4381520" cy="369332"/>
              </a:xfrm>
              <a:prstGeom prst="rect">
                <a:avLst/>
              </a:prstGeom>
            </p:spPr>
            <p:txBody>
              <a:bodyPr wrap="none">
                <a:spAutoFit/>
              </a:bodyPr>
              <a:lstStyle/>
              <a:p>
                <a:r>
                  <a:rPr lang="fr-FR" dirty="0">
                    <a:latin typeface="Times New Roman" panose="02020603050405020304" pitchFamily="18" charset="0"/>
                    <a:ea typeface="Times New Roman" panose="02020603050405020304" pitchFamily="18" charset="0"/>
                  </a:rPr>
                  <a:t>La dimension d’une gradeur G est notée </a:t>
                </a:r>
                <a14:m>
                  <m:oMath xmlns:m="http://schemas.openxmlformats.org/officeDocument/2006/math">
                    <m:d>
                      <m:dPr>
                        <m:begChr m:val="["/>
                        <m:endChr m:val="]"/>
                        <m:ctrlPr>
                          <a:rPr lang="fr-HT" i="1">
                            <a:latin typeface="Cambria Math"/>
                            <a:ea typeface="Times New Roman" panose="02020603050405020304" pitchFamily="18" charset="0"/>
                          </a:rPr>
                        </m:ctrlPr>
                      </m:dPr>
                      <m:e>
                        <m:r>
                          <a:rPr lang="fr-FR" i="1">
                            <a:latin typeface="Cambria Math" panose="02040503050406030204" pitchFamily="18" charset="0"/>
                            <a:ea typeface="Times New Roman" panose="02020603050405020304" pitchFamily="18" charset="0"/>
                          </a:rPr>
                          <m:t>𝐺</m:t>
                        </m:r>
                      </m:e>
                    </m:d>
                  </m:oMath>
                </a14:m>
                <a:r>
                  <a:rPr lang="fr-FR" dirty="0">
                    <a:latin typeface="Times New Roman" panose="02020603050405020304" pitchFamily="18" charset="0"/>
                    <a:ea typeface="Times New Roman" panose="02020603050405020304" pitchFamily="18" charset="0"/>
                  </a:rPr>
                  <a:t>. </a:t>
                </a:r>
                <a:endParaRPr lang="fr-HT" dirty="0">
                  <a:latin typeface="Times New Roman" panose="02020603050405020304" pitchFamily="18" charset="0"/>
                  <a:ea typeface="Times New Roman" panose="02020603050405020304" pitchFamily="18" charset="0"/>
                </a:endParaRPr>
              </a:p>
            </p:txBody>
          </p:sp>
        </mc:Choice>
        <mc:Fallback xmlns="">
          <p:sp>
            <p:nvSpPr>
              <p:cNvPr id="10" name="Rectangle 9"/>
              <p:cNvSpPr>
                <a:spLocks noRot="1" noChangeAspect="1" noMove="1" noResize="1" noEditPoints="1" noAdjustHandles="1" noChangeArrowheads="1" noChangeShapeType="1" noTextEdit="1"/>
              </p:cNvSpPr>
              <p:nvPr/>
            </p:nvSpPr>
            <p:spPr>
              <a:xfrm>
                <a:off x="1981995" y="5276944"/>
                <a:ext cx="4381520" cy="369332"/>
              </a:xfrm>
              <a:prstGeom prst="rect">
                <a:avLst/>
              </a:prstGeom>
              <a:blipFill rotWithShape="1">
                <a:blip r:embed="rId2"/>
                <a:stretch>
                  <a:fillRect l="-1113" t="-8333" r="-278" b="-26667"/>
                </a:stretch>
              </a:blipFill>
            </p:spPr>
            <p:txBody>
              <a:bodyPr/>
              <a:lstStyle/>
              <a:p>
                <a:r>
                  <a:rPr lang="fr-FR">
                    <a:noFill/>
                  </a:rPr>
                  <a:t> </a:t>
                </a:r>
              </a:p>
            </p:txBody>
          </p:sp>
        </mc:Fallback>
      </mc:AlternateContent>
    </p:spTree>
    <p:extLst>
      <p:ext uri="{BB962C8B-B14F-4D97-AF65-F5344CB8AC3E}">
        <p14:creationId xmlns:p14="http://schemas.microsoft.com/office/powerpoint/2010/main" val="24870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992E3CC9-20C2-4581-804B-D70241249042}"/>
              </a:ext>
            </a:extLst>
          </p:cNvPr>
          <p:cNvSpPr/>
          <p:nvPr/>
        </p:nvSpPr>
        <p:spPr>
          <a:xfrm>
            <a:off x="0" y="661510"/>
            <a:ext cx="3625351" cy="470000"/>
          </a:xfrm>
          <a:prstGeom prst="rect">
            <a:avLst/>
          </a:prstGeom>
        </p:spPr>
        <p:txBody>
          <a:bodyPr wrap="none">
            <a:spAutoFit/>
          </a:bodyPr>
          <a:lstStyle/>
          <a:p>
            <a:pPr marL="342900" lvl="0" indent="-342900" algn="just">
              <a:lnSpc>
                <a:spcPct val="107000"/>
              </a:lnSpc>
              <a:spcAft>
                <a:spcPts val="800"/>
              </a:spcAft>
              <a:buFont typeface="Wingdings" panose="05000000000000000000" pitchFamily="2" charset="2"/>
              <a:buChar char=""/>
            </a:pPr>
            <a:r>
              <a:rPr lang="fr-FR" sz="2400" b="1" dirty="0">
                <a:latin typeface="Calibri Light" panose="020F0302020204030204" pitchFamily="34" charset="0"/>
                <a:ea typeface="Calibri" panose="020F0502020204030204" pitchFamily="34" charset="0"/>
                <a:cs typeface="Times New Roman" panose="02020603050405020304" pitchFamily="18" charset="0"/>
              </a:rPr>
              <a:t>Système international (SI)</a:t>
            </a:r>
            <a:endParaRPr lang="fr-HT"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xmlns="" id="{5D8F05D4-073C-4802-97AA-500EBC9D7F12}"/>
              </a:ext>
            </a:extLst>
          </p:cNvPr>
          <p:cNvSpPr/>
          <p:nvPr/>
        </p:nvSpPr>
        <p:spPr>
          <a:xfrm>
            <a:off x="-2" y="1120335"/>
            <a:ext cx="9143999" cy="863250"/>
          </a:xfrm>
          <a:prstGeom prst="rect">
            <a:avLst/>
          </a:prstGeom>
        </p:spPr>
        <p:txBody>
          <a:bodyPr wrap="square">
            <a:spAutoFit/>
          </a:bodyPr>
          <a:lstStyle/>
          <a:p>
            <a:pPr algn="just">
              <a:lnSpc>
                <a:spcPct val="107000"/>
              </a:lnSpc>
              <a:spcAft>
                <a:spcPts val="800"/>
              </a:spcAft>
            </a:pPr>
            <a:r>
              <a:rPr lang="fr-FR" sz="2400" dirty="0">
                <a:latin typeface="Times New Roman" panose="02020603050405020304" pitchFamily="18" charset="0"/>
                <a:ea typeface="Calibri" panose="020F0502020204030204" pitchFamily="34" charset="0"/>
                <a:cs typeface="Times New Roman" panose="02020603050405020304" pitchFamily="18" charset="0"/>
              </a:rPr>
              <a:t>Adopté pour faciliter les échanges scientifiques et les communications entre les pays (ou région) qui avait chacun leur propre système d’unités.</a:t>
            </a:r>
            <a:endParaRPr lang="fr-HT" sz="2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xmlns="" id="{B00A6E42-8E6D-4268-9A43-7DA4339F1598}"/>
              </a:ext>
            </a:extLst>
          </p:cNvPr>
          <p:cNvSpPr/>
          <p:nvPr/>
        </p:nvSpPr>
        <p:spPr>
          <a:xfrm>
            <a:off x="-1" y="1999965"/>
            <a:ext cx="9143999" cy="1258421"/>
          </a:xfrm>
          <a:prstGeom prst="rect">
            <a:avLst/>
          </a:prstGeom>
        </p:spPr>
        <p:txBody>
          <a:bodyPr wrap="square">
            <a:spAutoFit/>
          </a:bodyPr>
          <a:lstStyle/>
          <a:p>
            <a:pPr algn="just">
              <a:lnSpc>
                <a:spcPct val="107000"/>
              </a:lnSpc>
              <a:spcAft>
                <a:spcPts val="800"/>
              </a:spcAft>
            </a:pPr>
            <a:r>
              <a:rPr lang="fr-FR" sz="2400" dirty="0">
                <a:latin typeface="Times New Roman" panose="02020603050405020304" pitchFamily="18" charset="0"/>
                <a:ea typeface="Calibri" panose="020F0502020204030204" pitchFamily="34" charset="0"/>
                <a:cs typeface="Times New Roman" panose="02020603050405020304" pitchFamily="18" charset="0"/>
              </a:rPr>
              <a:t>Il existe sept unités de base, indépendantes, les autres, dites unités dérivées, s’en déduisent par des relations entre les grandeurs correspondantes.</a:t>
            </a:r>
            <a:endParaRPr lang="fr-HT" sz="2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xmlns="" id="{80ACF0FF-110D-45D9-BD22-656671B9335C}"/>
              </a:ext>
            </a:extLst>
          </p:cNvPr>
          <p:cNvSpPr/>
          <p:nvPr/>
        </p:nvSpPr>
        <p:spPr>
          <a:xfrm>
            <a:off x="0" y="30353"/>
            <a:ext cx="9144000" cy="523220"/>
          </a:xfrm>
          <a:prstGeom prst="rect">
            <a:avLst/>
          </a:prstGeom>
          <a:solidFill>
            <a:schemeClr val="accent4">
              <a:lumMod val="40000"/>
              <a:lumOff val="60000"/>
            </a:schemeClr>
          </a:solidFill>
        </p:spPr>
        <p:txBody>
          <a:bodyPr wrap="square">
            <a:spAutoFit/>
          </a:bodyPr>
          <a:lstStyle/>
          <a:p>
            <a:r>
              <a:rPr lang="fr-HT" sz="2800" b="1" dirty="0">
                <a:latin typeface="Times-Roman"/>
              </a:rPr>
              <a:t>Partie I : Notion de grandeur</a:t>
            </a:r>
            <a:endParaRPr lang="fr-HT" sz="2800" b="1" dirty="0"/>
          </a:p>
        </p:txBody>
      </p:sp>
      <p:sp>
        <p:nvSpPr>
          <p:cNvPr id="11" name="Espace réservé du numéro de diapositive 10">
            <a:extLst>
              <a:ext uri="{FF2B5EF4-FFF2-40B4-BE49-F238E27FC236}">
                <a16:creationId xmlns:a16="http://schemas.microsoft.com/office/drawing/2014/main" xmlns="" id="{CDA685F9-E6B1-400F-AA76-260F99656F43}"/>
              </a:ext>
            </a:extLst>
          </p:cNvPr>
          <p:cNvSpPr>
            <a:spLocks noGrp="1"/>
          </p:cNvSpPr>
          <p:nvPr>
            <p:ph type="sldNum" sz="quarter" idx="12"/>
          </p:nvPr>
        </p:nvSpPr>
        <p:spPr/>
        <p:txBody>
          <a:bodyPr/>
          <a:lstStyle/>
          <a:p>
            <a:fld id="{26AFC765-89FB-4D41-BDFD-C70A1B65DB29}" type="slidenum">
              <a:rPr lang="fr-HT" smtClean="0"/>
              <a:t>11</a:t>
            </a:fld>
            <a:endParaRPr lang="fr-HT"/>
          </a:p>
        </p:txBody>
      </p:sp>
      <mc:AlternateContent xmlns:mc="http://schemas.openxmlformats.org/markup-compatibility/2006" xmlns:a14="http://schemas.microsoft.com/office/drawing/2010/main">
        <mc:Choice Requires="a14">
          <p:graphicFrame>
            <p:nvGraphicFramePr>
              <p:cNvPr id="10" name="Tableau 1">
                <a:extLst>
                  <a:ext uri="{FF2B5EF4-FFF2-40B4-BE49-F238E27FC236}">
                    <a16:creationId xmlns:a16="http://schemas.microsoft.com/office/drawing/2014/main" xmlns="" id="{4E16EF3B-15CF-4AEC-9261-D07B4A0B3EB2}"/>
                  </a:ext>
                </a:extLst>
              </p:cNvPr>
              <p:cNvGraphicFramePr>
                <a:graphicFrameLocks noGrp="1"/>
              </p:cNvGraphicFramePr>
              <p:nvPr>
                <p:extLst>
                  <p:ext uri="{D42A27DB-BD31-4B8C-83A1-F6EECF244321}">
                    <p14:modId xmlns:p14="http://schemas.microsoft.com/office/powerpoint/2010/main" val="437025752"/>
                  </p:ext>
                </p:extLst>
              </p:nvPr>
            </p:nvGraphicFramePr>
            <p:xfrm>
              <a:off x="51514" y="3412934"/>
              <a:ext cx="8931965" cy="3130808"/>
            </p:xfrm>
            <a:graphic>
              <a:graphicData uri="http://schemas.openxmlformats.org/drawingml/2006/table">
                <a:tbl>
                  <a:tblPr firstRow="1" firstCol="1" bandRow="1">
                    <a:tableStyleId>{5940675A-B579-460E-94D1-54222C63F5DA}</a:tableStyleId>
                  </a:tblPr>
                  <a:tblGrid>
                    <a:gridCol w="4452730">
                      <a:extLst>
                        <a:ext uri="{9D8B030D-6E8A-4147-A177-3AD203B41FA5}">
                          <a16:colId xmlns:a16="http://schemas.microsoft.com/office/drawing/2014/main" xmlns="" val="2047911759"/>
                        </a:ext>
                      </a:extLst>
                    </a:gridCol>
                    <a:gridCol w="2491409">
                      <a:extLst>
                        <a:ext uri="{9D8B030D-6E8A-4147-A177-3AD203B41FA5}">
                          <a16:colId xmlns:a16="http://schemas.microsoft.com/office/drawing/2014/main" xmlns="" val="1336555665"/>
                        </a:ext>
                      </a:extLst>
                    </a:gridCol>
                    <a:gridCol w="1987826">
                      <a:extLst>
                        <a:ext uri="{9D8B030D-6E8A-4147-A177-3AD203B41FA5}">
                          <a16:colId xmlns:a16="http://schemas.microsoft.com/office/drawing/2014/main" xmlns="" val="3908803814"/>
                        </a:ext>
                      </a:extLst>
                    </a:gridCol>
                  </a:tblGrid>
                  <a:tr h="203627">
                    <a:tc>
                      <a:txBody>
                        <a:bodyPr/>
                        <a:lstStyle/>
                        <a:p>
                          <a:pPr algn="ctr">
                            <a:lnSpc>
                              <a:spcPct val="107000"/>
                            </a:lnSpc>
                            <a:spcAft>
                              <a:spcPts val="0"/>
                            </a:spcAft>
                          </a:pPr>
                          <a:r>
                            <a:rPr lang="fr-FR" sz="2400" b="1" dirty="0">
                              <a:effectLst/>
                            </a:rPr>
                            <a:t>Grandeur</a:t>
                          </a:r>
                          <a:endParaRPr lang="fr-HT"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b="1" dirty="0">
                              <a:effectLst/>
                            </a:rPr>
                            <a:t>Unité</a:t>
                          </a:r>
                          <a:endParaRPr lang="fr-HT"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b="1" dirty="0">
                              <a:effectLst/>
                            </a:rPr>
                            <a:t>Dimension</a:t>
                          </a:r>
                          <a:endParaRPr lang="fr-HT"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298522898"/>
                      </a:ext>
                    </a:extLst>
                  </a:tr>
                  <a:tr h="203627">
                    <a:tc>
                      <a:txBody>
                        <a:bodyPr/>
                        <a:lstStyle/>
                        <a:p>
                          <a:pPr algn="just">
                            <a:lnSpc>
                              <a:spcPct val="107000"/>
                            </a:lnSpc>
                            <a:spcAft>
                              <a:spcPts val="0"/>
                            </a:spcAft>
                          </a:pPr>
                          <a:r>
                            <a:rPr lang="fr-FR" sz="2400" dirty="0">
                              <a:effectLst/>
                            </a:rPr>
                            <a:t>Temps (durée) </a:t>
                          </a:r>
                          <a:endParaRPr lang="fr-HT"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Seconde (s)</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T</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317534557"/>
                      </a:ext>
                    </a:extLst>
                  </a:tr>
                  <a:tr h="203627">
                    <a:tc>
                      <a:txBody>
                        <a:bodyPr/>
                        <a:lstStyle/>
                        <a:p>
                          <a:pPr algn="just">
                            <a:lnSpc>
                              <a:spcPct val="107000"/>
                            </a:lnSpc>
                            <a:spcAft>
                              <a:spcPts val="0"/>
                            </a:spcAft>
                          </a:pPr>
                          <a:r>
                            <a:rPr lang="fr-FR" sz="2400" dirty="0">
                              <a:effectLst/>
                            </a:rPr>
                            <a:t>Longueur</a:t>
                          </a:r>
                          <a:endParaRPr lang="fr-HT"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Mètre (m)</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L</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791942105"/>
                      </a:ext>
                    </a:extLst>
                  </a:tr>
                  <a:tr h="203627">
                    <a:tc>
                      <a:txBody>
                        <a:bodyPr/>
                        <a:lstStyle/>
                        <a:p>
                          <a:pPr algn="just">
                            <a:lnSpc>
                              <a:spcPct val="107000"/>
                            </a:lnSpc>
                            <a:spcAft>
                              <a:spcPts val="0"/>
                            </a:spcAft>
                          </a:pPr>
                          <a:r>
                            <a:rPr lang="fr-FR" sz="2400">
                              <a:effectLst/>
                            </a:rPr>
                            <a:t>Masse</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Kilogramme (kg)</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M</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226181421"/>
                      </a:ext>
                    </a:extLst>
                  </a:tr>
                  <a:tr h="203627">
                    <a:tc>
                      <a:txBody>
                        <a:bodyPr/>
                        <a:lstStyle/>
                        <a:p>
                          <a:pPr algn="just">
                            <a:lnSpc>
                              <a:spcPct val="107000"/>
                            </a:lnSpc>
                            <a:spcAft>
                              <a:spcPts val="0"/>
                            </a:spcAft>
                          </a:pPr>
                          <a:r>
                            <a:rPr lang="fr-FR" sz="2400">
                              <a:effectLst/>
                            </a:rPr>
                            <a:t>Intensité de courant électrique</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Ampère (A)</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I</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459105376"/>
                      </a:ext>
                    </a:extLst>
                  </a:tr>
                  <a:tr h="213027">
                    <a:tc>
                      <a:txBody>
                        <a:bodyPr/>
                        <a:lstStyle/>
                        <a:p>
                          <a:pPr algn="just">
                            <a:lnSpc>
                              <a:spcPct val="107000"/>
                            </a:lnSpc>
                            <a:spcAft>
                              <a:spcPts val="0"/>
                            </a:spcAft>
                          </a:pPr>
                          <a:r>
                            <a:rPr lang="fr-FR" sz="2400">
                              <a:effectLst/>
                            </a:rPr>
                            <a:t>Température thermodynamique</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Kelvin (K)</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fr-FR" sz="2400">
                                    <a:effectLst/>
                                    <a:latin typeface="Cambria Math" panose="02040503050406030204" pitchFamily="18" charset="0"/>
                                  </a:rPr>
                                  <m:t>𝛩</m:t>
                                </m:r>
                              </m:oMath>
                            </m:oMathPara>
                          </a14:m>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990240609"/>
                      </a:ext>
                    </a:extLst>
                  </a:tr>
                  <a:tr h="203627">
                    <a:tc>
                      <a:txBody>
                        <a:bodyPr/>
                        <a:lstStyle/>
                        <a:p>
                          <a:pPr algn="just">
                            <a:lnSpc>
                              <a:spcPct val="107000"/>
                            </a:lnSpc>
                            <a:spcAft>
                              <a:spcPts val="0"/>
                            </a:spcAft>
                          </a:pPr>
                          <a:r>
                            <a:rPr lang="fr-FR" sz="2400">
                              <a:effectLst/>
                            </a:rPr>
                            <a:t>Quantité de matière</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Mole (mol)</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N</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220524749"/>
                      </a:ext>
                    </a:extLst>
                  </a:tr>
                  <a:tr h="203627">
                    <a:tc>
                      <a:txBody>
                        <a:bodyPr/>
                        <a:lstStyle/>
                        <a:p>
                          <a:pPr algn="just">
                            <a:lnSpc>
                              <a:spcPct val="107000"/>
                            </a:lnSpc>
                            <a:spcAft>
                              <a:spcPts val="0"/>
                            </a:spcAft>
                          </a:pPr>
                          <a:r>
                            <a:rPr lang="fr-FR" sz="2400">
                              <a:effectLst/>
                            </a:rPr>
                            <a:t>Intensité lumineuse</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Candela (cd)</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dirty="0">
                              <a:effectLst/>
                            </a:rPr>
                            <a:t>J</a:t>
                          </a:r>
                          <a:endParaRPr lang="fr-HT"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522366660"/>
                      </a:ext>
                    </a:extLst>
                  </a:tr>
                </a:tbl>
              </a:graphicData>
            </a:graphic>
          </p:graphicFrame>
        </mc:Choice>
        <mc:Fallback xmlns="">
          <p:graphicFrame>
            <p:nvGraphicFramePr>
              <p:cNvPr id="10" name="Tableau 1">
                <a:extLst>
                  <a:ext uri="{FF2B5EF4-FFF2-40B4-BE49-F238E27FC236}">
                    <a16:creationId xmlns:a16="http://schemas.microsoft.com/office/drawing/2014/main" xmlns="" xmlns:a14="http://schemas.microsoft.com/office/drawing/2010/main" id="{4E16EF3B-15CF-4AEC-9261-D07B4A0B3EB2}"/>
                  </a:ext>
                </a:extLst>
              </p:cNvPr>
              <p:cNvGraphicFramePr>
                <a:graphicFrameLocks noGrp="1"/>
              </p:cNvGraphicFramePr>
              <p:nvPr>
                <p:extLst>
                  <p:ext uri="{D42A27DB-BD31-4B8C-83A1-F6EECF244321}">
                    <p14:modId xmlns:p14="http://schemas.microsoft.com/office/powerpoint/2010/main" val="437025752"/>
                  </p:ext>
                </p:extLst>
              </p:nvPr>
            </p:nvGraphicFramePr>
            <p:xfrm>
              <a:off x="51514" y="3412934"/>
              <a:ext cx="8931965" cy="3130808"/>
            </p:xfrm>
            <a:graphic>
              <a:graphicData uri="http://schemas.openxmlformats.org/drawingml/2006/table">
                <a:tbl>
                  <a:tblPr firstRow="1" firstCol="1" bandRow="1">
                    <a:tableStyleId>{5940675A-B579-460E-94D1-54222C63F5DA}</a:tableStyleId>
                  </a:tblPr>
                  <a:tblGrid>
                    <a:gridCol w="4452730">
                      <a:extLst>
                        <a:ext uri="{9D8B030D-6E8A-4147-A177-3AD203B41FA5}">
                          <a16:colId xmlns:a16="http://schemas.microsoft.com/office/drawing/2014/main" xmlns="" xmlns:a14="http://schemas.microsoft.com/office/drawing/2010/main" val="2047911759"/>
                        </a:ext>
                      </a:extLst>
                    </a:gridCol>
                    <a:gridCol w="2491409">
                      <a:extLst>
                        <a:ext uri="{9D8B030D-6E8A-4147-A177-3AD203B41FA5}">
                          <a16:colId xmlns:a16="http://schemas.microsoft.com/office/drawing/2014/main" xmlns="" xmlns:a14="http://schemas.microsoft.com/office/drawing/2010/main" val="1336555665"/>
                        </a:ext>
                      </a:extLst>
                    </a:gridCol>
                    <a:gridCol w="1987826">
                      <a:extLst>
                        <a:ext uri="{9D8B030D-6E8A-4147-A177-3AD203B41FA5}">
                          <a16:colId xmlns:a16="http://schemas.microsoft.com/office/drawing/2014/main" xmlns="" xmlns:a14="http://schemas.microsoft.com/office/drawing/2010/main" val="3908803814"/>
                        </a:ext>
                      </a:extLst>
                    </a:gridCol>
                  </a:tblGrid>
                  <a:tr h="391351">
                    <a:tc>
                      <a:txBody>
                        <a:bodyPr/>
                        <a:lstStyle/>
                        <a:p>
                          <a:pPr algn="ctr">
                            <a:lnSpc>
                              <a:spcPct val="107000"/>
                            </a:lnSpc>
                            <a:spcAft>
                              <a:spcPts val="0"/>
                            </a:spcAft>
                          </a:pPr>
                          <a:r>
                            <a:rPr lang="fr-FR" sz="2400" b="1" dirty="0">
                              <a:effectLst/>
                            </a:rPr>
                            <a:t>Grandeur</a:t>
                          </a:r>
                          <a:endParaRPr lang="fr-HT"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b="1" dirty="0">
                              <a:effectLst/>
                            </a:rPr>
                            <a:t>Unité</a:t>
                          </a:r>
                          <a:endParaRPr lang="fr-HT"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b="1" dirty="0">
                              <a:effectLst/>
                            </a:rPr>
                            <a:t>Dimension</a:t>
                          </a:r>
                          <a:endParaRPr lang="fr-HT"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xmlns:a14="http://schemas.microsoft.com/office/drawing/2010/main" val="3298522898"/>
                      </a:ext>
                    </a:extLst>
                  </a:tr>
                  <a:tr h="391351">
                    <a:tc>
                      <a:txBody>
                        <a:bodyPr/>
                        <a:lstStyle/>
                        <a:p>
                          <a:pPr algn="just">
                            <a:lnSpc>
                              <a:spcPct val="107000"/>
                            </a:lnSpc>
                            <a:spcAft>
                              <a:spcPts val="0"/>
                            </a:spcAft>
                          </a:pPr>
                          <a:r>
                            <a:rPr lang="fr-FR" sz="2400" dirty="0">
                              <a:effectLst/>
                            </a:rPr>
                            <a:t>Temps (durée) </a:t>
                          </a:r>
                          <a:endParaRPr lang="fr-HT"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Seconde (s)</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T</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xmlns:a14="http://schemas.microsoft.com/office/drawing/2010/main" val="1317534557"/>
                      </a:ext>
                    </a:extLst>
                  </a:tr>
                  <a:tr h="391351">
                    <a:tc>
                      <a:txBody>
                        <a:bodyPr/>
                        <a:lstStyle/>
                        <a:p>
                          <a:pPr algn="just">
                            <a:lnSpc>
                              <a:spcPct val="107000"/>
                            </a:lnSpc>
                            <a:spcAft>
                              <a:spcPts val="0"/>
                            </a:spcAft>
                          </a:pPr>
                          <a:r>
                            <a:rPr lang="fr-FR" sz="2400" dirty="0">
                              <a:effectLst/>
                            </a:rPr>
                            <a:t>Longueur</a:t>
                          </a:r>
                          <a:endParaRPr lang="fr-HT"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Mètre (m)</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L</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xmlns:a14="http://schemas.microsoft.com/office/drawing/2010/main" val="791942105"/>
                      </a:ext>
                    </a:extLst>
                  </a:tr>
                  <a:tr h="391351">
                    <a:tc>
                      <a:txBody>
                        <a:bodyPr/>
                        <a:lstStyle/>
                        <a:p>
                          <a:pPr algn="just">
                            <a:lnSpc>
                              <a:spcPct val="107000"/>
                            </a:lnSpc>
                            <a:spcAft>
                              <a:spcPts val="0"/>
                            </a:spcAft>
                          </a:pPr>
                          <a:r>
                            <a:rPr lang="fr-FR" sz="2400">
                              <a:effectLst/>
                            </a:rPr>
                            <a:t>Masse</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Kilogramme (kg)</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M</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xmlns:a14="http://schemas.microsoft.com/office/drawing/2010/main" val="3226181421"/>
                      </a:ext>
                    </a:extLst>
                  </a:tr>
                  <a:tr h="391351">
                    <a:tc>
                      <a:txBody>
                        <a:bodyPr/>
                        <a:lstStyle/>
                        <a:p>
                          <a:pPr algn="just">
                            <a:lnSpc>
                              <a:spcPct val="107000"/>
                            </a:lnSpc>
                            <a:spcAft>
                              <a:spcPts val="0"/>
                            </a:spcAft>
                          </a:pPr>
                          <a:r>
                            <a:rPr lang="fr-FR" sz="2400">
                              <a:effectLst/>
                            </a:rPr>
                            <a:t>Intensité de courant électrique</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Ampère (A)</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I</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xmlns:a14="http://schemas.microsoft.com/office/drawing/2010/main" val="3459105376"/>
                      </a:ext>
                    </a:extLst>
                  </a:tr>
                  <a:tr h="391351">
                    <a:tc>
                      <a:txBody>
                        <a:bodyPr/>
                        <a:lstStyle/>
                        <a:p>
                          <a:pPr algn="just">
                            <a:lnSpc>
                              <a:spcPct val="107000"/>
                            </a:lnSpc>
                            <a:spcAft>
                              <a:spcPts val="0"/>
                            </a:spcAft>
                          </a:pPr>
                          <a:r>
                            <a:rPr lang="fr-FR" sz="2400">
                              <a:effectLst/>
                            </a:rPr>
                            <a:t>Température thermodynamique</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Kelvin (K)</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fr-FR"/>
                        </a:p>
                      </a:txBody>
                      <a:tcPr marL="68580" marR="68580" marT="0" marB="0">
                        <a:blipFill rotWithShape="1">
                          <a:blip r:embed="rId2"/>
                          <a:stretch>
                            <a:fillRect l="-349693" t="-525000" b="-243750"/>
                          </a:stretch>
                        </a:blipFill>
                      </a:tcPr>
                    </a:tc>
                    <a:extLst>
                      <a:ext uri="{0D108BD9-81ED-4DB2-BD59-A6C34878D82A}">
                        <a16:rowId xmlns:a16="http://schemas.microsoft.com/office/drawing/2014/main" xmlns="" xmlns:a14="http://schemas.microsoft.com/office/drawing/2010/main" val="2990240609"/>
                      </a:ext>
                    </a:extLst>
                  </a:tr>
                  <a:tr h="391351">
                    <a:tc>
                      <a:txBody>
                        <a:bodyPr/>
                        <a:lstStyle/>
                        <a:p>
                          <a:pPr algn="just">
                            <a:lnSpc>
                              <a:spcPct val="107000"/>
                            </a:lnSpc>
                            <a:spcAft>
                              <a:spcPts val="0"/>
                            </a:spcAft>
                          </a:pPr>
                          <a:r>
                            <a:rPr lang="fr-FR" sz="2400">
                              <a:effectLst/>
                            </a:rPr>
                            <a:t>Quantité de matière</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Mole (mol)</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N</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xmlns:a14="http://schemas.microsoft.com/office/drawing/2010/main" val="2220524749"/>
                      </a:ext>
                    </a:extLst>
                  </a:tr>
                  <a:tr h="391351">
                    <a:tc>
                      <a:txBody>
                        <a:bodyPr/>
                        <a:lstStyle/>
                        <a:p>
                          <a:pPr algn="just">
                            <a:lnSpc>
                              <a:spcPct val="107000"/>
                            </a:lnSpc>
                            <a:spcAft>
                              <a:spcPts val="0"/>
                            </a:spcAft>
                          </a:pPr>
                          <a:r>
                            <a:rPr lang="fr-FR" sz="2400">
                              <a:effectLst/>
                            </a:rPr>
                            <a:t>Intensité lumineuse</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a:effectLst/>
                            </a:rPr>
                            <a:t>Candela (cd)</a:t>
                          </a:r>
                          <a:endParaRPr lang="fr-HT"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400" dirty="0">
                              <a:effectLst/>
                            </a:rPr>
                            <a:t>J</a:t>
                          </a:r>
                          <a:endParaRPr lang="fr-HT"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xmlns:a14="http://schemas.microsoft.com/office/drawing/2010/main" val="1522366660"/>
                      </a:ext>
                    </a:extLst>
                  </a:tr>
                </a:tbl>
              </a:graphicData>
            </a:graphic>
          </p:graphicFrame>
        </mc:Fallback>
      </mc:AlternateContent>
    </p:spTree>
    <p:extLst>
      <p:ext uri="{BB962C8B-B14F-4D97-AF65-F5344CB8AC3E}">
        <p14:creationId xmlns:p14="http://schemas.microsoft.com/office/powerpoint/2010/main" val="3330844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928107EA-14C4-4A09-B389-0DCF8E390EE7}"/>
              </a:ext>
            </a:extLst>
          </p:cNvPr>
          <p:cNvSpPr/>
          <p:nvPr/>
        </p:nvSpPr>
        <p:spPr>
          <a:xfrm>
            <a:off x="0" y="30353"/>
            <a:ext cx="9144000" cy="523220"/>
          </a:xfrm>
          <a:prstGeom prst="rect">
            <a:avLst/>
          </a:prstGeom>
          <a:solidFill>
            <a:schemeClr val="accent4">
              <a:lumMod val="40000"/>
              <a:lumOff val="60000"/>
            </a:schemeClr>
          </a:solidFill>
        </p:spPr>
        <p:txBody>
          <a:bodyPr wrap="square">
            <a:spAutoFit/>
          </a:bodyPr>
          <a:lstStyle/>
          <a:p>
            <a:r>
              <a:rPr lang="fr-HT" sz="2800" b="1" dirty="0">
                <a:latin typeface="Times-Roman"/>
              </a:rPr>
              <a:t>Partie I : Notion de grandeur</a:t>
            </a:r>
            <a:endParaRPr lang="fr-HT" sz="2800" b="1" dirty="0"/>
          </a:p>
        </p:txBody>
      </p:sp>
      <p:graphicFrame>
        <p:nvGraphicFramePr>
          <p:cNvPr id="3" name="Tableau 2">
            <a:extLst>
              <a:ext uri="{FF2B5EF4-FFF2-40B4-BE49-F238E27FC236}">
                <a16:creationId xmlns:a16="http://schemas.microsoft.com/office/drawing/2014/main" xmlns="" id="{C2A56509-D822-47F0-88D3-4A09680DF257}"/>
              </a:ext>
            </a:extLst>
          </p:cNvPr>
          <p:cNvGraphicFramePr>
            <a:graphicFrameLocks noGrp="1"/>
          </p:cNvGraphicFramePr>
          <p:nvPr>
            <p:extLst>
              <p:ext uri="{D42A27DB-BD31-4B8C-83A1-F6EECF244321}">
                <p14:modId xmlns:p14="http://schemas.microsoft.com/office/powerpoint/2010/main" val="723194324"/>
              </p:ext>
            </p:extLst>
          </p:nvPr>
        </p:nvGraphicFramePr>
        <p:xfrm>
          <a:off x="38637" y="1352063"/>
          <a:ext cx="9144000" cy="3913632"/>
        </p:xfrm>
        <a:graphic>
          <a:graphicData uri="http://schemas.openxmlformats.org/drawingml/2006/table">
            <a:tbl>
              <a:tblPr firstRow="1" firstCol="1" bandRow="1">
                <a:tableStyleId>{5940675A-B579-460E-94D1-54222C63F5DA}</a:tableStyleId>
              </a:tblPr>
              <a:tblGrid>
                <a:gridCol w="2945983">
                  <a:extLst>
                    <a:ext uri="{9D8B030D-6E8A-4147-A177-3AD203B41FA5}">
                      <a16:colId xmlns:a16="http://schemas.microsoft.com/office/drawing/2014/main" xmlns="" val="477870614"/>
                    </a:ext>
                  </a:extLst>
                </a:gridCol>
                <a:gridCol w="2508771">
                  <a:extLst>
                    <a:ext uri="{9D8B030D-6E8A-4147-A177-3AD203B41FA5}">
                      <a16:colId xmlns:a16="http://schemas.microsoft.com/office/drawing/2014/main" xmlns="" val="3674754372"/>
                    </a:ext>
                  </a:extLst>
                </a:gridCol>
                <a:gridCol w="3689246">
                  <a:extLst>
                    <a:ext uri="{9D8B030D-6E8A-4147-A177-3AD203B41FA5}">
                      <a16:colId xmlns:a16="http://schemas.microsoft.com/office/drawing/2014/main" xmlns="" val="887614929"/>
                    </a:ext>
                  </a:extLst>
                </a:gridCol>
              </a:tblGrid>
              <a:tr h="0">
                <a:tc gridSpan="3">
                  <a:txBody>
                    <a:bodyPr/>
                    <a:lstStyle/>
                    <a:p>
                      <a:pPr algn="ctr">
                        <a:lnSpc>
                          <a:spcPct val="107000"/>
                        </a:lnSpc>
                        <a:spcAft>
                          <a:spcPts val="0"/>
                        </a:spcAft>
                      </a:pPr>
                      <a:r>
                        <a:rPr lang="fr-HT" sz="2000" b="1" dirty="0">
                          <a:effectLst/>
                          <a:latin typeface="Calibri" panose="020F0502020204030204" pitchFamily="34" charset="0"/>
                          <a:ea typeface="Calibri" panose="020F0502020204030204" pitchFamily="34" charset="0"/>
                          <a:cs typeface="Times New Roman" panose="02020603050405020304" pitchFamily="18" charset="0"/>
                        </a:rPr>
                        <a:t>Quelques grandeurs dérivées du système S.I.</a:t>
                      </a:r>
                    </a:p>
                  </a:txBody>
                  <a:tcPr marL="68580" marR="68580" marT="0" marB="0"/>
                </a:tc>
                <a:tc hMerge="1">
                  <a:txBody>
                    <a:bodyPr/>
                    <a:lstStyle/>
                    <a:p>
                      <a:pPr algn="ctr">
                        <a:lnSpc>
                          <a:spcPct val="107000"/>
                        </a:lnSpc>
                        <a:spcAft>
                          <a:spcPts val="0"/>
                        </a:spcAft>
                      </a:pPr>
                      <a:endParaRPr lang="fr-HT"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pPr algn="ctr">
                        <a:lnSpc>
                          <a:spcPct val="107000"/>
                        </a:lnSpc>
                        <a:spcAft>
                          <a:spcPts val="0"/>
                        </a:spcAft>
                      </a:pPr>
                      <a:endParaRPr lang="fr-HT"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995787129"/>
                  </a:ext>
                </a:extLst>
              </a:tr>
              <a:tr h="0">
                <a:tc>
                  <a:txBody>
                    <a:bodyPr/>
                    <a:lstStyle/>
                    <a:p>
                      <a:pPr algn="ctr">
                        <a:lnSpc>
                          <a:spcPct val="107000"/>
                        </a:lnSpc>
                        <a:spcAft>
                          <a:spcPts val="0"/>
                        </a:spcAft>
                      </a:pPr>
                      <a:r>
                        <a:rPr lang="fr-FR" sz="2000" dirty="0">
                          <a:effectLst/>
                        </a:rPr>
                        <a:t>Grandeur</a:t>
                      </a:r>
                      <a:endParaRPr lang="fr-HT"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dirty="0">
                          <a:effectLst/>
                        </a:rPr>
                        <a:t>Unité</a:t>
                      </a:r>
                      <a:endParaRPr lang="fr-HT"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Décomposition de l’unité</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033441786"/>
                  </a:ext>
                </a:extLst>
              </a:tr>
              <a:tr h="0">
                <a:tc>
                  <a:txBody>
                    <a:bodyPr/>
                    <a:lstStyle/>
                    <a:p>
                      <a:pPr algn="just">
                        <a:lnSpc>
                          <a:spcPct val="107000"/>
                        </a:lnSpc>
                        <a:spcAft>
                          <a:spcPts val="0"/>
                        </a:spcAft>
                      </a:pPr>
                      <a:r>
                        <a:rPr lang="fr-FR" sz="2000">
                          <a:effectLst/>
                        </a:rPr>
                        <a:t>Tension électrique</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Volt (V)</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kg.m</a:t>
                      </a:r>
                      <a:r>
                        <a:rPr lang="fr-FR" sz="2000" baseline="30000">
                          <a:effectLst/>
                        </a:rPr>
                        <a:t>2</a:t>
                      </a:r>
                      <a:r>
                        <a:rPr lang="fr-FR" sz="2000">
                          <a:effectLst/>
                        </a:rPr>
                        <a:t>. A</a:t>
                      </a:r>
                      <a:r>
                        <a:rPr lang="fr-FR" sz="2000" baseline="30000">
                          <a:effectLst/>
                        </a:rPr>
                        <a:t>-1</a:t>
                      </a:r>
                      <a:r>
                        <a:rPr lang="fr-FR" sz="2000">
                          <a:effectLst/>
                        </a:rPr>
                        <a:t>.s</a:t>
                      </a:r>
                      <a:r>
                        <a:rPr lang="fr-FR" sz="2000" baseline="30000">
                          <a:effectLst/>
                        </a:rPr>
                        <a:t>-3</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105947624"/>
                  </a:ext>
                </a:extLst>
              </a:tr>
              <a:tr h="0">
                <a:tc>
                  <a:txBody>
                    <a:bodyPr/>
                    <a:lstStyle/>
                    <a:p>
                      <a:pPr algn="just">
                        <a:lnSpc>
                          <a:spcPct val="107000"/>
                        </a:lnSpc>
                        <a:spcAft>
                          <a:spcPts val="0"/>
                        </a:spcAft>
                      </a:pPr>
                      <a:r>
                        <a:rPr lang="fr-FR" sz="2000">
                          <a:effectLst/>
                        </a:rPr>
                        <a:t>Puissance</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Watt (W)</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kg.m</a:t>
                      </a:r>
                      <a:r>
                        <a:rPr lang="fr-FR" sz="2000" baseline="30000">
                          <a:effectLst/>
                        </a:rPr>
                        <a:t>2</a:t>
                      </a:r>
                      <a:r>
                        <a:rPr lang="fr-FR" sz="2000">
                          <a:effectLst/>
                        </a:rPr>
                        <a:t>.s</a:t>
                      </a:r>
                      <a:r>
                        <a:rPr lang="fr-FR" sz="2000" baseline="30000">
                          <a:effectLst/>
                        </a:rPr>
                        <a:t>-3</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530102498"/>
                  </a:ext>
                </a:extLst>
              </a:tr>
              <a:tr h="0">
                <a:tc>
                  <a:txBody>
                    <a:bodyPr/>
                    <a:lstStyle/>
                    <a:p>
                      <a:pPr algn="just">
                        <a:lnSpc>
                          <a:spcPct val="107000"/>
                        </a:lnSpc>
                        <a:spcAft>
                          <a:spcPts val="0"/>
                        </a:spcAft>
                      </a:pPr>
                      <a:r>
                        <a:rPr lang="fr-FR" sz="2000">
                          <a:effectLst/>
                        </a:rPr>
                        <a:t>Énergie</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Joule (J)</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kg.m</a:t>
                      </a:r>
                      <a:r>
                        <a:rPr lang="fr-FR" sz="2000" baseline="30000">
                          <a:effectLst/>
                        </a:rPr>
                        <a:t>2</a:t>
                      </a:r>
                      <a:r>
                        <a:rPr lang="fr-FR" sz="2000">
                          <a:effectLst/>
                        </a:rPr>
                        <a:t>.s</a:t>
                      </a:r>
                      <a:r>
                        <a:rPr lang="fr-FR" sz="2000" baseline="30000">
                          <a:effectLst/>
                        </a:rPr>
                        <a:t>-2</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3014731536"/>
                  </a:ext>
                </a:extLst>
              </a:tr>
              <a:tr h="0">
                <a:tc>
                  <a:txBody>
                    <a:bodyPr/>
                    <a:lstStyle/>
                    <a:p>
                      <a:pPr algn="just">
                        <a:lnSpc>
                          <a:spcPct val="107000"/>
                        </a:lnSpc>
                        <a:spcAft>
                          <a:spcPts val="0"/>
                        </a:spcAft>
                      </a:pPr>
                      <a:r>
                        <a:rPr lang="fr-FR" sz="2000">
                          <a:effectLst/>
                        </a:rPr>
                        <a:t>Résistance électrique</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Ohm (𝜴)</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kg.m</a:t>
                      </a:r>
                      <a:r>
                        <a:rPr lang="fr-FR" sz="2000" baseline="30000">
                          <a:effectLst/>
                        </a:rPr>
                        <a:t>2</a:t>
                      </a:r>
                      <a:r>
                        <a:rPr lang="fr-FR" sz="2000">
                          <a:effectLst/>
                        </a:rPr>
                        <a:t>. A</a:t>
                      </a:r>
                      <a:r>
                        <a:rPr lang="fr-FR" sz="2000" baseline="30000">
                          <a:effectLst/>
                        </a:rPr>
                        <a:t>-2</a:t>
                      </a:r>
                      <a:r>
                        <a:rPr lang="fr-FR" sz="2000">
                          <a:effectLst/>
                        </a:rPr>
                        <a:t>.s</a:t>
                      </a:r>
                      <a:r>
                        <a:rPr lang="fr-FR" sz="2000" baseline="30000">
                          <a:effectLst/>
                        </a:rPr>
                        <a:t>-3</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603479233"/>
                  </a:ext>
                </a:extLst>
              </a:tr>
              <a:tr h="0">
                <a:tc>
                  <a:txBody>
                    <a:bodyPr/>
                    <a:lstStyle/>
                    <a:p>
                      <a:pPr algn="just">
                        <a:lnSpc>
                          <a:spcPct val="107000"/>
                        </a:lnSpc>
                        <a:spcAft>
                          <a:spcPts val="0"/>
                        </a:spcAft>
                      </a:pPr>
                      <a:r>
                        <a:rPr lang="fr-FR" sz="2000">
                          <a:effectLst/>
                        </a:rPr>
                        <a:t>Conductance</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Siemens (S)</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Kg</a:t>
                      </a:r>
                      <a:r>
                        <a:rPr lang="fr-FR" sz="2000" baseline="30000">
                          <a:effectLst/>
                        </a:rPr>
                        <a:t>-1</a:t>
                      </a:r>
                      <a:r>
                        <a:rPr lang="fr-FR" sz="2000">
                          <a:effectLst/>
                        </a:rPr>
                        <a:t>.m</a:t>
                      </a:r>
                      <a:r>
                        <a:rPr lang="fr-FR" sz="2000" baseline="30000">
                          <a:effectLst/>
                        </a:rPr>
                        <a:t>-2</a:t>
                      </a:r>
                      <a:r>
                        <a:rPr lang="fr-FR" sz="2000">
                          <a:effectLst/>
                        </a:rPr>
                        <a:t>. A</a:t>
                      </a:r>
                      <a:r>
                        <a:rPr lang="fr-FR" sz="2000" baseline="30000">
                          <a:effectLst/>
                        </a:rPr>
                        <a:t>2</a:t>
                      </a:r>
                      <a:r>
                        <a:rPr lang="fr-FR" sz="2000">
                          <a:effectLst/>
                        </a:rPr>
                        <a:t>.s</a:t>
                      </a:r>
                      <a:r>
                        <a:rPr lang="fr-FR" sz="2000" baseline="30000">
                          <a:effectLst/>
                        </a:rPr>
                        <a:t>3</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904513357"/>
                  </a:ext>
                </a:extLst>
              </a:tr>
              <a:tr h="0">
                <a:tc>
                  <a:txBody>
                    <a:bodyPr/>
                    <a:lstStyle/>
                    <a:p>
                      <a:pPr algn="just">
                        <a:lnSpc>
                          <a:spcPct val="107000"/>
                        </a:lnSpc>
                        <a:spcAft>
                          <a:spcPts val="0"/>
                        </a:spcAft>
                      </a:pPr>
                      <a:r>
                        <a:rPr lang="fr-FR" sz="2000">
                          <a:effectLst/>
                        </a:rPr>
                        <a:t>Réactance</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Ohm (𝜴)</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kg.m</a:t>
                      </a:r>
                      <a:r>
                        <a:rPr lang="fr-FR" sz="2000" baseline="30000">
                          <a:effectLst/>
                        </a:rPr>
                        <a:t>2</a:t>
                      </a:r>
                      <a:r>
                        <a:rPr lang="fr-FR" sz="2000">
                          <a:effectLst/>
                        </a:rPr>
                        <a:t>. A</a:t>
                      </a:r>
                      <a:r>
                        <a:rPr lang="fr-FR" sz="2000" baseline="30000">
                          <a:effectLst/>
                        </a:rPr>
                        <a:t>-2</a:t>
                      </a:r>
                      <a:r>
                        <a:rPr lang="fr-FR" sz="2000">
                          <a:effectLst/>
                        </a:rPr>
                        <a:t>.s</a:t>
                      </a:r>
                      <a:r>
                        <a:rPr lang="fr-FR" sz="2000" baseline="30000">
                          <a:effectLst/>
                        </a:rPr>
                        <a:t>-3</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918142984"/>
                  </a:ext>
                </a:extLst>
              </a:tr>
              <a:tr h="0">
                <a:tc>
                  <a:txBody>
                    <a:bodyPr/>
                    <a:lstStyle/>
                    <a:p>
                      <a:pPr algn="just">
                        <a:lnSpc>
                          <a:spcPct val="107000"/>
                        </a:lnSpc>
                        <a:spcAft>
                          <a:spcPts val="0"/>
                        </a:spcAft>
                      </a:pPr>
                      <a:r>
                        <a:rPr lang="fr-FR" sz="2000">
                          <a:effectLst/>
                        </a:rPr>
                        <a:t>Susceptance</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Siemens (S)</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kg</a:t>
                      </a:r>
                      <a:r>
                        <a:rPr lang="fr-FR" sz="2000" baseline="30000">
                          <a:effectLst/>
                        </a:rPr>
                        <a:t>-1</a:t>
                      </a:r>
                      <a:r>
                        <a:rPr lang="fr-FR" sz="2000">
                          <a:effectLst/>
                        </a:rPr>
                        <a:t>.m</a:t>
                      </a:r>
                      <a:r>
                        <a:rPr lang="fr-FR" sz="2000" baseline="30000">
                          <a:effectLst/>
                        </a:rPr>
                        <a:t>-2</a:t>
                      </a:r>
                      <a:r>
                        <a:rPr lang="fr-FR" sz="2000">
                          <a:effectLst/>
                        </a:rPr>
                        <a:t>. A</a:t>
                      </a:r>
                      <a:r>
                        <a:rPr lang="fr-FR" sz="2000" baseline="30000">
                          <a:effectLst/>
                        </a:rPr>
                        <a:t>2</a:t>
                      </a:r>
                      <a:r>
                        <a:rPr lang="fr-FR" sz="2000">
                          <a:effectLst/>
                        </a:rPr>
                        <a:t>.s</a:t>
                      </a:r>
                      <a:r>
                        <a:rPr lang="fr-FR" sz="2000" baseline="30000">
                          <a:effectLst/>
                        </a:rPr>
                        <a:t>3</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4109240557"/>
                  </a:ext>
                </a:extLst>
              </a:tr>
              <a:tr h="0">
                <a:tc>
                  <a:txBody>
                    <a:bodyPr/>
                    <a:lstStyle/>
                    <a:p>
                      <a:pPr algn="just">
                        <a:lnSpc>
                          <a:spcPct val="107000"/>
                        </a:lnSpc>
                        <a:spcAft>
                          <a:spcPts val="0"/>
                        </a:spcAft>
                      </a:pPr>
                      <a:r>
                        <a:rPr lang="fr-FR" sz="2000">
                          <a:effectLst/>
                        </a:rPr>
                        <a:t>Admittance</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Siemens (S)</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kg</a:t>
                      </a:r>
                      <a:r>
                        <a:rPr lang="fr-FR" sz="2000" baseline="30000">
                          <a:effectLst/>
                        </a:rPr>
                        <a:t>-1</a:t>
                      </a:r>
                      <a:r>
                        <a:rPr lang="fr-FR" sz="2000">
                          <a:effectLst/>
                        </a:rPr>
                        <a:t>.m</a:t>
                      </a:r>
                      <a:r>
                        <a:rPr lang="fr-FR" sz="2000" baseline="30000">
                          <a:effectLst/>
                        </a:rPr>
                        <a:t>-2</a:t>
                      </a:r>
                      <a:r>
                        <a:rPr lang="fr-FR" sz="2000">
                          <a:effectLst/>
                        </a:rPr>
                        <a:t>. A</a:t>
                      </a:r>
                      <a:r>
                        <a:rPr lang="fr-FR" sz="2000" baseline="30000">
                          <a:effectLst/>
                        </a:rPr>
                        <a:t>2</a:t>
                      </a:r>
                      <a:r>
                        <a:rPr lang="fr-FR" sz="2000">
                          <a:effectLst/>
                        </a:rPr>
                        <a:t>.s</a:t>
                      </a:r>
                      <a:r>
                        <a:rPr lang="fr-FR" sz="2000" baseline="30000">
                          <a:effectLst/>
                        </a:rPr>
                        <a:t>3</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1720962563"/>
                  </a:ext>
                </a:extLst>
              </a:tr>
              <a:tr h="0">
                <a:tc>
                  <a:txBody>
                    <a:bodyPr/>
                    <a:lstStyle/>
                    <a:p>
                      <a:pPr algn="just">
                        <a:lnSpc>
                          <a:spcPct val="107000"/>
                        </a:lnSpc>
                        <a:spcAft>
                          <a:spcPts val="0"/>
                        </a:spcAft>
                      </a:pPr>
                      <a:r>
                        <a:rPr lang="fr-FR" sz="2000">
                          <a:effectLst/>
                        </a:rPr>
                        <a:t>Fréquence</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Hertz (Hz)</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a:effectLst/>
                        </a:rPr>
                        <a:t>s</a:t>
                      </a:r>
                      <a:r>
                        <a:rPr lang="fr-FR" sz="2000" baseline="30000">
                          <a:effectLst/>
                        </a:rPr>
                        <a:t>-1</a:t>
                      </a:r>
                      <a:endParaRPr lang="fr-HT"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15848497"/>
                  </a:ext>
                </a:extLst>
              </a:tr>
              <a:tr h="0">
                <a:tc>
                  <a:txBody>
                    <a:bodyPr/>
                    <a:lstStyle/>
                    <a:p>
                      <a:pPr algn="just">
                        <a:lnSpc>
                          <a:spcPct val="107000"/>
                        </a:lnSpc>
                        <a:spcAft>
                          <a:spcPts val="0"/>
                        </a:spcAft>
                      </a:pPr>
                      <a:r>
                        <a:rPr lang="fr-FR" sz="2000" dirty="0">
                          <a:effectLst/>
                        </a:rPr>
                        <a:t>Pulsation</a:t>
                      </a:r>
                      <a:endParaRPr lang="fr-HT"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dirty="0">
                          <a:effectLst/>
                        </a:rPr>
                        <a:t>Radian par seconde</a:t>
                      </a:r>
                      <a:endParaRPr lang="fr-HT"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fr-FR" sz="2000" dirty="0">
                          <a:effectLst/>
                        </a:rPr>
                        <a:t>s</a:t>
                      </a:r>
                      <a:r>
                        <a:rPr lang="fr-FR" sz="2000" baseline="30000" dirty="0">
                          <a:effectLst/>
                        </a:rPr>
                        <a:t>-1</a:t>
                      </a:r>
                      <a:endParaRPr lang="fr-HT"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838120203"/>
                  </a:ext>
                </a:extLst>
              </a:tr>
            </a:tbl>
          </a:graphicData>
        </a:graphic>
      </p:graphicFrame>
      <p:sp>
        <p:nvSpPr>
          <p:cNvPr id="7" name="Espace réservé du numéro de diapositive 6">
            <a:extLst>
              <a:ext uri="{FF2B5EF4-FFF2-40B4-BE49-F238E27FC236}">
                <a16:creationId xmlns:a16="http://schemas.microsoft.com/office/drawing/2014/main" xmlns="" id="{DB0B1B8A-CB58-4961-AE82-D024E1760D8A}"/>
              </a:ext>
            </a:extLst>
          </p:cNvPr>
          <p:cNvSpPr>
            <a:spLocks noGrp="1"/>
          </p:cNvSpPr>
          <p:nvPr>
            <p:ph type="sldNum" sz="quarter" idx="12"/>
          </p:nvPr>
        </p:nvSpPr>
        <p:spPr/>
        <p:txBody>
          <a:bodyPr/>
          <a:lstStyle/>
          <a:p>
            <a:fld id="{26AFC765-89FB-4D41-BDFD-C70A1B65DB29}" type="slidenum">
              <a:rPr lang="fr-HT" smtClean="0"/>
              <a:t>12</a:t>
            </a:fld>
            <a:endParaRPr lang="fr-HT"/>
          </a:p>
        </p:txBody>
      </p:sp>
    </p:spTree>
    <p:extLst>
      <p:ext uri="{BB962C8B-B14F-4D97-AF65-F5344CB8AC3E}">
        <p14:creationId xmlns:p14="http://schemas.microsoft.com/office/powerpoint/2010/main" val="3370935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1C12D396-1E10-4DCC-A75F-63DADF4DA21B}"/>
              </a:ext>
            </a:extLst>
          </p:cNvPr>
          <p:cNvSpPr/>
          <p:nvPr/>
        </p:nvSpPr>
        <p:spPr>
          <a:xfrm>
            <a:off x="0" y="30353"/>
            <a:ext cx="9144000" cy="523220"/>
          </a:xfrm>
          <a:prstGeom prst="rect">
            <a:avLst/>
          </a:prstGeom>
          <a:solidFill>
            <a:schemeClr val="accent4">
              <a:lumMod val="40000"/>
              <a:lumOff val="60000"/>
            </a:schemeClr>
          </a:solidFill>
        </p:spPr>
        <p:txBody>
          <a:bodyPr wrap="square">
            <a:spAutoFit/>
          </a:bodyPr>
          <a:lstStyle/>
          <a:p>
            <a:r>
              <a:rPr lang="fr-HT" sz="2800" b="1" dirty="0">
                <a:latin typeface="Times-Roman"/>
              </a:rPr>
              <a:t>Partie I : Mesures et Incertitudes</a:t>
            </a:r>
            <a:endParaRPr lang="fr-HT" sz="2800" b="1" dirty="0"/>
          </a:p>
        </p:txBody>
      </p:sp>
      <p:sp>
        <p:nvSpPr>
          <p:cNvPr id="4" name="Rectangle 3">
            <a:extLst>
              <a:ext uri="{FF2B5EF4-FFF2-40B4-BE49-F238E27FC236}">
                <a16:creationId xmlns:a16="http://schemas.microsoft.com/office/drawing/2014/main" xmlns="" id="{C4700235-BC90-4B4F-A07F-133F9FFE79DF}"/>
              </a:ext>
            </a:extLst>
          </p:cNvPr>
          <p:cNvSpPr/>
          <p:nvPr/>
        </p:nvSpPr>
        <p:spPr>
          <a:xfrm>
            <a:off x="0" y="696034"/>
            <a:ext cx="9143999" cy="863250"/>
          </a:xfrm>
          <a:prstGeom prst="rect">
            <a:avLst/>
          </a:prstGeom>
        </p:spPr>
        <p:txBody>
          <a:bodyPr wrap="square">
            <a:spAutoFit/>
          </a:bodyPr>
          <a:lstStyle/>
          <a:p>
            <a:pPr marL="342900" indent="-342900">
              <a:lnSpc>
                <a:spcPct val="107000"/>
              </a:lnSpc>
              <a:spcAft>
                <a:spcPts val="0"/>
              </a:spcAft>
              <a:buFont typeface="Wingdings" panose="05000000000000000000" pitchFamily="2" charset="2"/>
              <a:buChar char="v"/>
            </a:pPr>
            <a:r>
              <a:rPr lang="fr-FR" sz="2400" dirty="0">
                <a:latin typeface="Times New Roman" panose="02020603050405020304" pitchFamily="18" charset="0"/>
                <a:ea typeface="Calibri" panose="020F0502020204030204" pitchFamily="34" charset="0"/>
                <a:cs typeface="Times New Roman" panose="02020603050405020304" pitchFamily="18" charset="0"/>
              </a:rPr>
              <a:t>En sciences fondamentales et appliquées on est souvent amené à réaliser des mesures.</a:t>
            </a:r>
            <a:endParaRPr lang="fr-HT" sz="2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xmlns="" id="{14DAD636-43D6-43DB-BABB-8A083DAAD56C}"/>
              </a:ext>
            </a:extLst>
          </p:cNvPr>
          <p:cNvSpPr/>
          <p:nvPr/>
        </p:nvSpPr>
        <p:spPr>
          <a:xfrm>
            <a:off x="0" y="1681828"/>
            <a:ext cx="9143998" cy="863250"/>
          </a:xfrm>
          <a:prstGeom prst="rect">
            <a:avLst/>
          </a:prstGeom>
        </p:spPr>
        <p:txBody>
          <a:bodyPr wrap="square">
            <a:spAutoFit/>
          </a:bodyPr>
          <a:lstStyle/>
          <a:p>
            <a:pPr marL="285750" indent="-285750" algn="just">
              <a:lnSpc>
                <a:spcPct val="107000"/>
              </a:lnSpc>
              <a:spcAft>
                <a:spcPts val="0"/>
              </a:spcAft>
              <a:buFont typeface="Wingdings" panose="05000000000000000000" pitchFamily="2" charset="2"/>
              <a:buChar char="v"/>
            </a:pPr>
            <a:r>
              <a:rPr lang="fr-FR" sz="2400" dirty="0">
                <a:latin typeface="Times New Roman" panose="02020603050405020304" pitchFamily="18" charset="0"/>
                <a:ea typeface="Calibri" panose="020F0502020204030204" pitchFamily="34" charset="0"/>
                <a:cs typeface="Times New Roman" panose="02020603050405020304" pitchFamily="18" charset="0"/>
              </a:rPr>
              <a:t>Toute mesure est entachée d’erreurs aléatoires dues au matériel, aux paramètres physiques mis en jeu, et à l’opérateur. </a:t>
            </a:r>
            <a:endParaRPr lang="fr-HT" sz="2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xmlns="" id="{CC46D003-C140-4F0D-802E-CF4B534D0C7A}"/>
              </a:ext>
            </a:extLst>
          </p:cNvPr>
          <p:cNvSpPr/>
          <p:nvPr/>
        </p:nvSpPr>
        <p:spPr>
          <a:xfrm>
            <a:off x="0" y="2705338"/>
            <a:ext cx="9143997" cy="461665"/>
          </a:xfrm>
          <a:prstGeom prst="rect">
            <a:avLst/>
          </a:prstGeom>
        </p:spPr>
        <p:txBody>
          <a:bodyPr wrap="square">
            <a:spAutoFit/>
          </a:bodyPr>
          <a:lstStyle/>
          <a:p>
            <a:r>
              <a:rPr lang="fr-FR" sz="2400" i="1" dirty="0">
                <a:latin typeface="Times New Roman" panose="02020603050405020304" pitchFamily="18" charset="0"/>
                <a:ea typeface="Calibri" panose="020F0502020204030204" pitchFamily="34" charset="0"/>
                <a:cs typeface="Times New Roman" panose="02020603050405020304" pitchFamily="18" charset="0"/>
              </a:rPr>
              <a:t>Ces erreurs ont des valeurs inconnues et l’on peut seulement les estimer.</a:t>
            </a:r>
            <a:endParaRPr lang="fr-HT" sz="2400" i="1" dirty="0"/>
          </a:p>
        </p:txBody>
      </p:sp>
      <p:sp>
        <p:nvSpPr>
          <p:cNvPr id="7" name="Rectangle 6">
            <a:extLst>
              <a:ext uri="{FF2B5EF4-FFF2-40B4-BE49-F238E27FC236}">
                <a16:creationId xmlns:a16="http://schemas.microsoft.com/office/drawing/2014/main" xmlns="" id="{28FDD0F7-A540-4B36-8589-50F5C97EEC95}"/>
              </a:ext>
            </a:extLst>
          </p:cNvPr>
          <p:cNvSpPr/>
          <p:nvPr/>
        </p:nvSpPr>
        <p:spPr>
          <a:xfrm>
            <a:off x="4" y="3429000"/>
            <a:ext cx="9143996" cy="1258421"/>
          </a:xfrm>
          <a:prstGeom prst="rect">
            <a:avLst/>
          </a:prstGeom>
          <a:ln w="38100">
            <a:solidFill>
              <a:schemeClr val="tx1"/>
            </a:solidFill>
          </a:ln>
        </p:spPr>
        <p:txBody>
          <a:bodyPr wrap="square">
            <a:spAutoFit/>
          </a:bodyPr>
          <a:lstStyle/>
          <a:p>
            <a:pPr algn="just">
              <a:lnSpc>
                <a:spcPct val="107000"/>
              </a:lnSpc>
              <a:spcAft>
                <a:spcPts val="0"/>
              </a:spcAft>
            </a:pPr>
            <a:r>
              <a:rPr lang="fr-FR" sz="2400" b="1" i="1" dirty="0">
                <a:latin typeface="Times New Roman" panose="02020603050405020304" pitchFamily="18" charset="0"/>
                <a:ea typeface="Calibri" panose="020F0502020204030204" pitchFamily="34" charset="0"/>
                <a:cs typeface="Times New Roman" panose="02020603050405020304" pitchFamily="18" charset="0"/>
              </a:rPr>
              <a:t>Remarque </a:t>
            </a:r>
            <a:r>
              <a:rPr lang="fr-FR" sz="2400" i="1" dirty="0">
                <a:latin typeface="Times New Roman" panose="02020603050405020304" pitchFamily="18" charset="0"/>
                <a:ea typeface="Calibri" panose="020F0502020204030204" pitchFamily="34" charset="0"/>
                <a:cs typeface="Times New Roman" panose="02020603050405020304" pitchFamily="18" charset="0"/>
              </a:rPr>
              <a:t>: Les résultats de mesures peuvent être utilisés pour calculer une nouvelle grandeur : le résultat devra être présenté avec un nombre de chiffres significatifs cohérent avec la précision des données.</a:t>
            </a:r>
            <a:endParaRPr lang="fr-HT" sz="2000" i="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xmlns="" id="{A3588578-5F66-425C-85D7-D3081515A437}"/>
              </a:ext>
            </a:extLst>
          </p:cNvPr>
          <p:cNvSpPr/>
          <p:nvPr/>
        </p:nvSpPr>
        <p:spPr>
          <a:xfrm>
            <a:off x="0" y="4801719"/>
            <a:ext cx="1928092" cy="470000"/>
          </a:xfrm>
          <a:prstGeom prst="rect">
            <a:avLst/>
          </a:prstGeom>
        </p:spPr>
        <p:txBody>
          <a:bodyPr wrap="none">
            <a:spAutoFit/>
          </a:bodyPr>
          <a:lstStyle/>
          <a:p>
            <a:pPr marL="342900" lvl="0" indent="-342900" algn="just">
              <a:lnSpc>
                <a:spcPct val="107000"/>
              </a:lnSpc>
              <a:spcAft>
                <a:spcPts val="800"/>
              </a:spcAft>
              <a:buFont typeface="Wingdings" panose="05000000000000000000" pitchFamily="2" charset="2"/>
              <a:buChar char=""/>
            </a:pPr>
            <a:r>
              <a:rPr lang="fr-FR" sz="2400" b="1" dirty="0">
                <a:latin typeface="Calibri" panose="020F0502020204030204" pitchFamily="34" charset="0"/>
                <a:ea typeface="Calibri" panose="020F0502020204030204" pitchFamily="34" charset="0"/>
                <a:cs typeface="Calibri" panose="020F0502020204030204" pitchFamily="34" charset="0"/>
              </a:rPr>
              <a:t>Définitions</a:t>
            </a:r>
            <a:endParaRPr lang="fr-HT"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xmlns="" id="{3C29A42B-98A6-4563-A1B1-524B36C25C8E}"/>
              </a:ext>
            </a:extLst>
          </p:cNvPr>
          <p:cNvSpPr/>
          <p:nvPr/>
        </p:nvSpPr>
        <p:spPr>
          <a:xfrm>
            <a:off x="0" y="5386017"/>
            <a:ext cx="9143995" cy="1258421"/>
          </a:xfrm>
          <a:prstGeom prst="rect">
            <a:avLst/>
          </a:prstGeom>
        </p:spPr>
        <p:txBody>
          <a:bodyPr wrap="square">
            <a:spAutoFit/>
          </a:bodyPr>
          <a:lstStyle/>
          <a:p>
            <a:pPr marL="342900" lvl="0" indent="-342900" algn="just">
              <a:lnSpc>
                <a:spcPct val="107000"/>
              </a:lnSpc>
              <a:spcAft>
                <a:spcPts val="800"/>
              </a:spcAft>
              <a:buFont typeface="Wingdings" panose="05000000000000000000" pitchFamily="2" charset="2"/>
              <a:buChar char=""/>
            </a:pPr>
            <a:r>
              <a:rPr lang="fr-FR" sz="2400" b="1" dirty="0">
                <a:latin typeface="Times New Roman" panose="02020603050405020304" pitchFamily="18" charset="0"/>
                <a:ea typeface="Calibri" panose="020F0502020204030204" pitchFamily="34" charset="0"/>
                <a:cs typeface="Times New Roman" panose="02020603050405020304" pitchFamily="18" charset="0"/>
              </a:rPr>
              <a:t>Mesurage (mesure) </a:t>
            </a:r>
            <a:r>
              <a:rPr lang="fr-FR" sz="2400" dirty="0">
                <a:latin typeface="Times New Roman" panose="02020603050405020304" pitchFamily="18" charset="0"/>
                <a:ea typeface="Calibri" panose="020F0502020204030204" pitchFamily="34" charset="0"/>
                <a:cs typeface="Times New Roman" panose="02020603050405020304" pitchFamily="18" charset="0"/>
              </a:rPr>
              <a:t>: ensemble des opérations permettant de déterminer expérimentalement une ou plusieurs valeurs d’une grandeur.</a:t>
            </a:r>
            <a:endParaRPr lang="fr-HT"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Espace réservé du numéro de diapositive 10">
            <a:extLst>
              <a:ext uri="{FF2B5EF4-FFF2-40B4-BE49-F238E27FC236}">
                <a16:creationId xmlns:a16="http://schemas.microsoft.com/office/drawing/2014/main" xmlns="" id="{5BC4504C-3F5E-42D3-9650-C0FB15C5AD2B}"/>
              </a:ext>
            </a:extLst>
          </p:cNvPr>
          <p:cNvSpPr>
            <a:spLocks noGrp="1"/>
          </p:cNvSpPr>
          <p:nvPr>
            <p:ph type="sldNum" sz="quarter" idx="12"/>
          </p:nvPr>
        </p:nvSpPr>
        <p:spPr/>
        <p:txBody>
          <a:bodyPr/>
          <a:lstStyle/>
          <a:p>
            <a:fld id="{26AFC765-89FB-4D41-BDFD-C70A1B65DB29}" type="slidenum">
              <a:rPr lang="fr-HT" smtClean="0"/>
              <a:t>13</a:t>
            </a:fld>
            <a:endParaRPr lang="fr-HT" dirty="0"/>
          </a:p>
        </p:txBody>
      </p:sp>
    </p:spTree>
    <p:extLst>
      <p:ext uri="{BB962C8B-B14F-4D97-AF65-F5344CB8AC3E}">
        <p14:creationId xmlns:p14="http://schemas.microsoft.com/office/powerpoint/2010/main" val="1662189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1C12D396-1E10-4DCC-A75F-63DADF4DA21B}"/>
              </a:ext>
            </a:extLst>
          </p:cNvPr>
          <p:cNvSpPr/>
          <p:nvPr/>
        </p:nvSpPr>
        <p:spPr>
          <a:xfrm>
            <a:off x="0" y="30353"/>
            <a:ext cx="9144000" cy="523220"/>
          </a:xfrm>
          <a:prstGeom prst="rect">
            <a:avLst/>
          </a:prstGeom>
          <a:solidFill>
            <a:schemeClr val="accent4">
              <a:lumMod val="40000"/>
              <a:lumOff val="60000"/>
            </a:schemeClr>
          </a:solidFill>
        </p:spPr>
        <p:txBody>
          <a:bodyPr wrap="square">
            <a:spAutoFit/>
          </a:bodyPr>
          <a:lstStyle/>
          <a:p>
            <a:r>
              <a:rPr lang="fr-HT" sz="2800" b="1" dirty="0">
                <a:latin typeface="Times-Roman"/>
              </a:rPr>
              <a:t>Partie I : Mesures et Incertitudes</a:t>
            </a:r>
            <a:endParaRPr lang="fr-HT" sz="2800" b="1" dirty="0"/>
          </a:p>
        </p:txBody>
      </p:sp>
      <p:sp>
        <p:nvSpPr>
          <p:cNvPr id="2" name="Rectangle 1">
            <a:extLst>
              <a:ext uri="{FF2B5EF4-FFF2-40B4-BE49-F238E27FC236}">
                <a16:creationId xmlns:a16="http://schemas.microsoft.com/office/drawing/2014/main" xmlns="" id="{64460E52-C6EE-4F34-96D4-8BDCD7200A21}"/>
              </a:ext>
            </a:extLst>
          </p:cNvPr>
          <p:cNvSpPr/>
          <p:nvPr/>
        </p:nvSpPr>
        <p:spPr>
          <a:xfrm>
            <a:off x="-1" y="578840"/>
            <a:ext cx="9143999" cy="863250"/>
          </a:xfrm>
          <a:prstGeom prst="rect">
            <a:avLst/>
          </a:prstGeom>
        </p:spPr>
        <p:txBody>
          <a:bodyPr wrap="square">
            <a:spAutoFit/>
          </a:bodyPr>
          <a:lstStyle/>
          <a:p>
            <a:pPr marL="342900" lvl="0" indent="-342900" algn="just">
              <a:lnSpc>
                <a:spcPct val="107000"/>
              </a:lnSpc>
              <a:spcAft>
                <a:spcPts val="800"/>
              </a:spcAft>
              <a:buFont typeface="Wingdings" panose="05000000000000000000" pitchFamily="2" charset="2"/>
              <a:buChar char=""/>
            </a:pPr>
            <a:r>
              <a:rPr lang="fr-FR" sz="2400" b="1" dirty="0">
                <a:latin typeface="Times New Roman" panose="02020603050405020304" pitchFamily="18" charset="0"/>
                <a:ea typeface="Calibri" panose="020F0502020204030204" pitchFamily="34" charset="0"/>
                <a:cs typeface="Times New Roman" panose="02020603050405020304" pitchFamily="18" charset="0"/>
              </a:rPr>
              <a:t>Mesurande </a:t>
            </a:r>
            <a:r>
              <a:rPr lang="fr-FR" sz="2400" dirty="0">
                <a:latin typeface="Times New Roman" panose="02020603050405020304" pitchFamily="18" charset="0"/>
                <a:ea typeface="Calibri" panose="020F0502020204030204" pitchFamily="34" charset="0"/>
                <a:cs typeface="Times New Roman" panose="02020603050405020304" pitchFamily="18" charset="0"/>
              </a:rPr>
              <a:t>: grandeur que l’on veut mesurer (masse, pression, longueur, …)</a:t>
            </a:r>
            <a:endParaRPr lang="fr-HT"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xmlns="" id="{A99E5B41-5F45-46BA-95B1-A08A5CF8BE9C}"/>
              </a:ext>
            </a:extLst>
          </p:cNvPr>
          <p:cNvSpPr/>
          <p:nvPr/>
        </p:nvSpPr>
        <p:spPr>
          <a:xfrm>
            <a:off x="-3" y="1775406"/>
            <a:ext cx="9143998" cy="1653594"/>
          </a:xfrm>
          <a:prstGeom prst="rect">
            <a:avLst/>
          </a:prstGeom>
        </p:spPr>
        <p:txBody>
          <a:bodyPr wrap="square">
            <a:spAutoFit/>
          </a:bodyPr>
          <a:lstStyle/>
          <a:p>
            <a:pPr marL="342900" lvl="0" indent="-342900" algn="just">
              <a:lnSpc>
                <a:spcPct val="107000"/>
              </a:lnSpc>
              <a:spcAft>
                <a:spcPts val="800"/>
              </a:spcAft>
              <a:buFont typeface="Wingdings" panose="05000000000000000000" pitchFamily="2" charset="2"/>
              <a:buChar char=""/>
            </a:pPr>
            <a:r>
              <a:rPr lang="fr-FR" sz="2400" b="1" dirty="0">
                <a:latin typeface="Times New Roman" panose="02020603050405020304" pitchFamily="18" charset="0"/>
                <a:ea typeface="Calibri" panose="020F0502020204030204" pitchFamily="34" charset="0"/>
                <a:cs typeface="Times New Roman" panose="02020603050405020304" pitchFamily="18" charset="0"/>
              </a:rPr>
              <a:t>Valeur vraie </a:t>
            </a:r>
            <a:r>
              <a:rPr lang="fr-FR" sz="2400" dirty="0">
                <a:latin typeface="Times New Roman" panose="02020603050405020304" pitchFamily="18" charset="0"/>
                <a:ea typeface="Calibri" panose="020F0502020204030204" pitchFamily="34" charset="0"/>
                <a:cs typeface="Times New Roman" panose="02020603050405020304" pitchFamily="18" charset="0"/>
              </a:rPr>
              <a:t>: valeur du mesurande que l’on obtiendrait si le mesurage était parfait. Un mesurage n’étant jamais parfait, la valeur vraie est donc toujours inconnue. On parle également de </a:t>
            </a:r>
            <a:r>
              <a:rPr lang="fr-FR" sz="2400" i="1" dirty="0">
                <a:latin typeface="Times New Roman" panose="02020603050405020304" pitchFamily="18" charset="0"/>
                <a:ea typeface="Calibri" panose="020F0502020204030204" pitchFamily="34" charset="0"/>
                <a:cs typeface="Times New Roman" panose="02020603050405020304" pitchFamily="18" charset="0"/>
              </a:rPr>
              <a:t>valeur théorique.</a:t>
            </a:r>
            <a:endParaRPr lang="fr-HT"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xmlns="" id="{1771C709-47FC-44B5-B7A0-E417D8884009}"/>
              </a:ext>
            </a:extLst>
          </p:cNvPr>
          <p:cNvSpPr/>
          <p:nvPr/>
        </p:nvSpPr>
        <p:spPr>
          <a:xfrm>
            <a:off x="-3" y="3599312"/>
            <a:ext cx="9143999" cy="1653594"/>
          </a:xfrm>
          <a:prstGeom prst="rect">
            <a:avLst/>
          </a:prstGeom>
        </p:spPr>
        <p:txBody>
          <a:bodyPr wrap="square">
            <a:spAutoFit/>
          </a:bodyPr>
          <a:lstStyle/>
          <a:p>
            <a:pPr marL="342900" lvl="0" indent="-342900" algn="just">
              <a:lnSpc>
                <a:spcPct val="107000"/>
              </a:lnSpc>
              <a:spcAft>
                <a:spcPts val="800"/>
              </a:spcAft>
              <a:buFont typeface="Wingdings" panose="05000000000000000000" pitchFamily="2" charset="2"/>
              <a:buChar char=""/>
            </a:pPr>
            <a:r>
              <a:rPr lang="fr-FR" sz="2400" b="1" dirty="0">
                <a:latin typeface="Times New Roman" panose="02020603050405020304" pitchFamily="18" charset="0"/>
                <a:ea typeface="Calibri" panose="020F0502020204030204" pitchFamily="34" charset="0"/>
                <a:cs typeface="Times New Roman" panose="02020603050405020304" pitchFamily="18" charset="0"/>
              </a:rPr>
              <a:t>Grandeur d’influence</a:t>
            </a:r>
            <a:r>
              <a:rPr lang="fr-FR" sz="2400" dirty="0">
                <a:latin typeface="Times New Roman" panose="02020603050405020304" pitchFamily="18" charset="0"/>
                <a:ea typeface="Calibri" panose="020F0502020204030204" pitchFamily="34" charset="0"/>
                <a:cs typeface="Times New Roman" panose="02020603050405020304" pitchFamily="18" charset="0"/>
              </a:rPr>
              <a:t> : grandeur pouvant influencer le résultat du mesurage. Par exemple, la détermination de la longueur d’une barre d’acier au micromètre près sera influencée par la température et la pression.</a:t>
            </a:r>
            <a:endParaRPr lang="fr-HT" sz="20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xmlns="" id="{A81B83CB-BA20-447E-8494-BB8AAF1B4E11}"/>
                  </a:ext>
                </a:extLst>
              </p:cNvPr>
              <p:cNvSpPr/>
              <p:nvPr/>
            </p:nvSpPr>
            <p:spPr>
              <a:xfrm>
                <a:off x="-2" y="5450513"/>
                <a:ext cx="9143999" cy="863250"/>
              </a:xfrm>
              <a:prstGeom prst="rect">
                <a:avLst/>
              </a:prstGeom>
            </p:spPr>
            <p:txBody>
              <a:bodyPr wrap="square">
                <a:spAutoFit/>
              </a:bodyPr>
              <a:lstStyle/>
              <a:p>
                <a:pPr marL="342900" lvl="0" indent="-342900" algn="just">
                  <a:lnSpc>
                    <a:spcPct val="107000"/>
                  </a:lnSpc>
                  <a:spcAft>
                    <a:spcPts val="800"/>
                  </a:spcAft>
                  <a:buFont typeface="Wingdings" panose="05000000000000000000" pitchFamily="2" charset="2"/>
                  <a:buChar char=""/>
                </a:pPr>
                <a:r>
                  <a:rPr lang="fr-FR" sz="2400" b="1" dirty="0">
                    <a:latin typeface="Times New Roman" panose="02020603050405020304" pitchFamily="18" charset="0"/>
                    <a:ea typeface="Calibri" panose="020F0502020204030204" pitchFamily="34" charset="0"/>
                    <a:cs typeface="Times New Roman" panose="02020603050405020304" pitchFamily="18" charset="0"/>
                  </a:rPr>
                  <a:t>Erreur de mesure</a:t>
                </a:r>
                <a:r>
                  <a:rPr lang="fr-FR" sz="2400" dirty="0">
                    <a:latin typeface="Times New Roman" panose="02020603050405020304" pitchFamily="18" charset="0"/>
                    <a:ea typeface="Calibri" panose="020F0502020204030204" pitchFamily="34" charset="0"/>
                    <a:cs typeface="Times New Roman" panose="02020603050405020304" pitchFamily="18" charset="0"/>
                  </a:rPr>
                  <a:t> : un mesurage n’étant jamais parfait, il y a toujours une erreur de mesure (</a:t>
                </a:r>
                <a14:m>
                  <m:oMath xmlns:m="http://schemas.openxmlformats.org/officeDocument/2006/math">
                    <m:r>
                      <a:rPr lang="fr-FR" sz="2400" i="1">
                        <a:latin typeface="Cambria Math" panose="02040503050406030204" pitchFamily="18" charset="0"/>
                        <a:ea typeface="Calibri" panose="020F0502020204030204" pitchFamily="34" charset="0"/>
                        <a:cs typeface="Times New Roman" panose="02020603050405020304" pitchFamily="18" charset="0"/>
                      </a:rPr>
                      <m:t>𝐸𝑟𝑟𝑒𝑢𝑟</m:t>
                    </m:r>
                    <m:r>
                      <a:rPr lang="fr-FR"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fr-HT" sz="2400" i="1">
                            <a:latin typeface="Cambria Math"/>
                            <a:ea typeface="Calibri" panose="020F0502020204030204" pitchFamily="34" charset="0"/>
                            <a:cs typeface="Times New Roman" panose="02020603050405020304" pitchFamily="18" charset="0"/>
                          </a:rPr>
                        </m:ctrlPr>
                      </m:sSubPr>
                      <m:e>
                        <m:r>
                          <a:rPr lang="fr-FR" sz="2400" i="1">
                            <a:latin typeface="Cambria Math" panose="02040503050406030204" pitchFamily="18" charset="0"/>
                            <a:ea typeface="Calibri" panose="020F0502020204030204" pitchFamily="34" charset="0"/>
                            <a:cs typeface="Times New Roman" panose="02020603050405020304" pitchFamily="18" charset="0"/>
                          </a:rPr>
                          <m:t>𝑉</m:t>
                        </m:r>
                      </m:e>
                      <m:sub>
                        <m:r>
                          <a:rPr lang="fr-FR" sz="2400" i="1">
                            <a:latin typeface="Cambria Math" panose="02040503050406030204" pitchFamily="18" charset="0"/>
                            <a:ea typeface="Calibri" panose="020F0502020204030204" pitchFamily="34" charset="0"/>
                            <a:cs typeface="Times New Roman" panose="02020603050405020304" pitchFamily="18" charset="0"/>
                          </a:rPr>
                          <m:t>𝑚𝑒𝑠𝑢𝑟</m:t>
                        </m:r>
                        <m:r>
                          <a:rPr lang="fr-FR" sz="2400" i="1">
                            <a:latin typeface="Cambria Math" panose="02040503050406030204" pitchFamily="18" charset="0"/>
                            <a:ea typeface="Calibri" panose="020F0502020204030204" pitchFamily="34" charset="0"/>
                            <a:cs typeface="Times New Roman" panose="02020603050405020304" pitchFamily="18" charset="0"/>
                          </a:rPr>
                          <m:t>é</m:t>
                        </m:r>
                        <m:r>
                          <a:rPr lang="fr-FR" sz="2400" i="1">
                            <a:latin typeface="Cambria Math" panose="02040503050406030204" pitchFamily="18" charset="0"/>
                            <a:ea typeface="Calibri" panose="020F0502020204030204" pitchFamily="34" charset="0"/>
                            <a:cs typeface="Times New Roman" panose="02020603050405020304" pitchFamily="18" charset="0"/>
                          </a:rPr>
                          <m:t>𝑒</m:t>
                        </m:r>
                      </m:sub>
                    </m:sSub>
                    <m:r>
                      <a:rPr lang="fr-FR"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fr-HT" sz="2400" i="1">
                            <a:latin typeface="Cambria Math"/>
                            <a:ea typeface="Calibri" panose="020F0502020204030204" pitchFamily="34" charset="0"/>
                            <a:cs typeface="Times New Roman" panose="02020603050405020304" pitchFamily="18" charset="0"/>
                          </a:rPr>
                        </m:ctrlPr>
                      </m:sSubPr>
                      <m:e>
                        <m:r>
                          <a:rPr lang="fr-FR" sz="2400" i="1">
                            <a:latin typeface="Cambria Math" panose="02040503050406030204" pitchFamily="18" charset="0"/>
                            <a:ea typeface="Calibri" panose="020F0502020204030204" pitchFamily="34" charset="0"/>
                            <a:cs typeface="Times New Roman" panose="02020603050405020304" pitchFamily="18" charset="0"/>
                          </a:rPr>
                          <m:t>𝑉</m:t>
                        </m:r>
                      </m:e>
                      <m:sub>
                        <m:r>
                          <a:rPr lang="fr-FR" sz="2400" i="1">
                            <a:latin typeface="Cambria Math" panose="02040503050406030204" pitchFamily="18" charset="0"/>
                            <a:ea typeface="Calibri" panose="020F0502020204030204" pitchFamily="34" charset="0"/>
                            <a:cs typeface="Times New Roman" panose="02020603050405020304" pitchFamily="18" charset="0"/>
                          </a:rPr>
                          <m:t>𝑣𝑟𝑎𝑖𝑒</m:t>
                        </m:r>
                      </m:sub>
                    </m:sSub>
                    <m:r>
                      <a:rPr lang="fr-FR" sz="2400" i="1">
                        <a:latin typeface="Cambria Math" panose="02040503050406030204" pitchFamily="18" charset="0"/>
                        <a:ea typeface="Calibri" panose="020F0502020204030204" pitchFamily="34" charset="0"/>
                        <a:cs typeface="Times New Roman" panose="02020603050405020304" pitchFamily="18" charset="0"/>
                      </a:rPr>
                      <m:t>)</m:t>
                    </m:r>
                  </m:oMath>
                </a14:m>
                <a:r>
                  <a:rPr lang="fr-FR" sz="2400" dirty="0">
                    <a:latin typeface="Times New Roman" panose="02020603050405020304" pitchFamily="18" charset="0"/>
                    <a:ea typeface="Times New Roman" panose="02020603050405020304" pitchFamily="18" charset="0"/>
                    <a:cs typeface="Times New Roman" panose="02020603050405020304" pitchFamily="18" charset="0"/>
                  </a:rPr>
                  <a:t>. </a:t>
                </a:r>
                <a:endParaRPr lang="fr-HT" sz="20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 name="Rectangle 5">
                <a:extLst>
                  <a:ext uri="{FF2B5EF4-FFF2-40B4-BE49-F238E27FC236}">
                    <a16:creationId xmlns:a16="http://schemas.microsoft.com/office/drawing/2014/main" id="{A81B83CB-BA20-447E-8494-BB8AAF1B4E11}"/>
                  </a:ext>
                </a:extLst>
              </p:cNvPr>
              <p:cNvSpPr>
                <a:spLocks noRot="1" noChangeAspect="1" noMove="1" noResize="1" noEditPoints="1" noAdjustHandles="1" noChangeArrowheads="1" noChangeShapeType="1" noTextEdit="1"/>
              </p:cNvSpPr>
              <p:nvPr/>
            </p:nvSpPr>
            <p:spPr>
              <a:xfrm>
                <a:off x="-2" y="5450513"/>
                <a:ext cx="9143999" cy="863250"/>
              </a:xfrm>
              <a:prstGeom prst="rect">
                <a:avLst/>
              </a:prstGeom>
              <a:blipFill>
                <a:blip r:embed="rId2"/>
                <a:stretch>
                  <a:fillRect l="-867" t="-5634" r="-1000" b="-14085"/>
                </a:stretch>
              </a:blipFill>
            </p:spPr>
            <p:txBody>
              <a:bodyPr/>
              <a:lstStyle/>
              <a:p>
                <a:r>
                  <a:rPr lang="fr-HT">
                    <a:noFill/>
                  </a:rPr>
                  <a:t> </a:t>
                </a:r>
              </a:p>
            </p:txBody>
          </p:sp>
        </mc:Fallback>
      </mc:AlternateContent>
      <p:sp>
        <p:nvSpPr>
          <p:cNvPr id="8" name="Espace réservé du numéro de diapositive 7">
            <a:extLst>
              <a:ext uri="{FF2B5EF4-FFF2-40B4-BE49-F238E27FC236}">
                <a16:creationId xmlns:a16="http://schemas.microsoft.com/office/drawing/2014/main" xmlns="" id="{874C200B-5E88-4E93-8594-F5A4EF4B996E}"/>
              </a:ext>
            </a:extLst>
          </p:cNvPr>
          <p:cNvSpPr>
            <a:spLocks noGrp="1"/>
          </p:cNvSpPr>
          <p:nvPr>
            <p:ph type="sldNum" sz="quarter" idx="12"/>
          </p:nvPr>
        </p:nvSpPr>
        <p:spPr/>
        <p:txBody>
          <a:bodyPr/>
          <a:lstStyle/>
          <a:p>
            <a:fld id="{26AFC765-89FB-4D41-BDFD-C70A1B65DB29}" type="slidenum">
              <a:rPr lang="fr-HT" smtClean="0"/>
              <a:t>14</a:t>
            </a:fld>
            <a:endParaRPr lang="fr-HT" dirty="0"/>
          </a:p>
        </p:txBody>
      </p:sp>
    </p:spTree>
    <p:extLst>
      <p:ext uri="{BB962C8B-B14F-4D97-AF65-F5344CB8AC3E}">
        <p14:creationId xmlns:p14="http://schemas.microsoft.com/office/powerpoint/2010/main" val="1929874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1C12D396-1E10-4DCC-A75F-63DADF4DA21B}"/>
              </a:ext>
            </a:extLst>
          </p:cNvPr>
          <p:cNvSpPr/>
          <p:nvPr/>
        </p:nvSpPr>
        <p:spPr>
          <a:xfrm>
            <a:off x="0" y="30353"/>
            <a:ext cx="9144000" cy="523220"/>
          </a:xfrm>
          <a:prstGeom prst="rect">
            <a:avLst/>
          </a:prstGeom>
          <a:solidFill>
            <a:schemeClr val="accent4">
              <a:lumMod val="40000"/>
              <a:lumOff val="60000"/>
            </a:schemeClr>
          </a:solidFill>
        </p:spPr>
        <p:txBody>
          <a:bodyPr wrap="square">
            <a:spAutoFit/>
          </a:bodyPr>
          <a:lstStyle/>
          <a:p>
            <a:r>
              <a:rPr lang="fr-HT" sz="2800" b="1" dirty="0">
                <a:latin typeface="Times-Roman"/>
              </a:rPr>
              <a:t>Partie I : Mesures et Incertitudes</a:t>
            </a:r>
            <a:endParaRPr lang="fr-HT" sz="2800" b="1" dirty="0"/>
          </a:p>
        </p:txBody>
      </p:sp>
      <p:sp>
        <p:nvSpPr>
          <p:cNvPr id="2" name="Rectangle 1">
            <a:extLst>
              <a:ext uri="{FF2B5EF4-FFF2-40B4-BE49-F238E27FC236}">
                <a16:creationId xmlns:a16="http://schemas.microsoft.com/office/drawing/2014/main" xmlns="" id="{7A513E03-3AE2-410B-A24A-9DBCDAC639B3}"/>
              </a:ext>
            </a:extLst>
          </p:cNvPr>
          <p:cNvSpPr/>
          <p:nvPr/>
        </p:nvSpPr>
        <p:spPr>
          <a:xfrm>
            <a:off x="0" y="642898"/>
            <a:ext cx="9144000" cy="1258421"/>
          </a:xfrm>
          <a:prstGeom prst="rect">
            <a:avLst/>
          </a:prstGeom>
        </p:spPr>
        <p:txBody>
          <a:bodyPr wrap="square">
            <a:spAutoFit/>
          </a:bodyPr>
          <a:lstStyle/>
          <a:p>
            <a:pPr marL="342900" lvl="0" indent="-342900" algn="just">
              <a:lnSpc>
                <a:spcPct val="107000"/>
              </a:lnSpc>
              <a:spcAft>
                <a:spcPts val="800"/>
              </a:spcAft>
              <a:buFont typeface="Wingdings" panose="05000000000000000000" pitchFamily="2" charset="2"/>
              <a:buChar char=""/>
            </a:pPr>
            <a:r>
              <a:rPr lang="fr-FR" sz="2400" b="1" dirty="0">
                <a:latin typeface="Times New Roman" panose="02020603050405020304" pitchFamily="18" charset="0"/>
                <a:ea typeface="Calibri" panose="020F0502020204030204" pitchFamily="34" charset="0"/>
                <a:cs typeface="Times New Roman" panose="02020603050405020304" pitchFamily="18" charset="0"/>
              </a:rPr>
              <a:t>Résultat du mesurage</a:t>
            </a:r>
            <a:r>
              <a:rPr lang="fr-FR" sz="2400" dirty="0">
                <a:latin typeface="Times New Roman" panose="02020603050405020304" pitchFamily="18" charset="0"/>
                <a:ea typeface="Calibri" panose="020F0502020204030204" pitchFamily="34" charset="0"/>
                <a:cs typeface="Times New Roman" panose="02020603050405020304" pitchFamily="18" charset="0"/>
              </a:rPr>
              <a:t> : ensemble des valeurs attribuées à un mesurande complété des informations sur l’incertitude de mesure qui permet d’indiquer l’intervalle des valeurs probables du mesurande.</a:t>
            </a:r>
            <a:endParaRPr lang="fr-HT" sz="20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xmlns="" id="{F73F1559-5FD6-4940-93F1-8994FF1BDB2A}"/>
                  </a:ext>
                </a:extLst>
              </p:cNvPr>
              <p:cNvSpPr/>
              <p:nvPr/>
            </p:nvSpPr>
            <p:spPr>
              <a:xfrm>
                <a:off x="2468171" y="1863247"/>
                <a:ext cx="44726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HT" sz="2400" b="1" i="1">
                          <a:latin typeface="Cambria Math" panose="02040503050406030204" pitchFamily="18" charset="0"/>
                        </a:rPr>
                        <m:t>𝑹</m:t>
                      </m:r>
                      <m:r>
                        <a:rPr lang="fr-HT" sz="2400" b="0" i="0">
                          <a:latin typeface="Cambria Math" panose="02040503050406030204" pitchFamily="18" charset="0"/>
                        </a:rPr>
                        <m:t>é</m:t>
                      </m:r>
                      <m:r>
                        <a:rPr lang="fr-HT" sz="2400" b="1" i="1">
                          <a:latin typeface="Cambria Math" panose="02040503050406030204" pitchFamily="18" charset="0"/>
                        </a:rPr>
                        <m:t>𝒔𝒖𝒍𝒕𝒂𝒕</m:t>
                      </m:r>
                      <m:r>
                        <a:rPr lang="fr-HT" sz="2400" b="0" i="0">
                          <a:latin typeface="Cambria Math" panose="02040503050406030204" pitchFamily="18" charset="0"/>
                        </a:rPr>
                        <m:t>=</m:t>
                      </m:r>
                      <m:r>
                        <a:rPr lang="fr-HT" sz="2400" b="1" i="1">
                          <a:latin typeface="Cambria Math" panose="02040503050406030204" pitchFamily="18" charset="0"/>
                        </a:rPr>
                        <m:t>𝒎𝒆𝒔𝒖𝒓𝒆</m:t>
                      </m:r>
                      <m:r>
                        <a:rPr lang="fr-HT" sz="2400" b="0" i="0">
                          <a:latin typeface="Cambria Math" panose="02040503050406030204" pitchFamily="18" charset="0"/>
                        </a:rPr>
                        <m:t>±</m:t>
                      </m:r>
                      <m:r>
                        <a:rPr lang="fr-HT" sz="2400" b="1" i="1">
                          <a:latin typeface="Cambria Math" panose="02040503050406030204" pitchFamily="18" charset="0"/>
                        </a:rPr>
                        <m:t>𝒆𝒓𝒓𝒆𝒖𝒓</m:t>
                      </m:r>
                    </m:oMath>
                  </m:oMathPara>
                </a14:m>
                <a:endParaRPr lang="fr-HT" sz="2400" dirty="0"/>
              </a:p>
            </p:txBody>
          </p:sp>
        </mc:Choice>
        <mc:Fallback xmlns="">
          <p:sp>
            <p:nvSpPr>
              <p:cNvPr id="4" name="Rectangle 3">
                <a:extLst>
                  <a:ext uri="{FF2B5EF4-FFF2-40B4-BE49-F238E27FC236}">
                    <a16:creationId xmlns:a16="http://schemas.microsoft.com/office/drawing/2014/main" id="{F73F1559-5FD6-4940-93F1-8994FF1BDB2A}"/>
                  </a:ext>
                </a:extLst>
              </p:cNvPr>
              <p:cNvSpPr>
                <a:spLocks noRot="1" noChangeAspect="1" noMove="1" noResize="1" noEditPoints="1" noAdjustHandles="1" noChangeArrowheads="1" noChangeShapeType="1" noTextEdit="1"/>
              </p:cNvSpPr>
              <p:nvPr/>
            </p:nvSpPr>
            <p:spPr>
              <a:xfrm>
                <a:off x="2468171" y="1863247"/>
                <a:ext cx="4472699" cy="461665"/>
              </a:xfrm>
              <a:prstGeom prst="rect">
                <a:avLst/>
              </a:prstGeom>
              <a:blipFill>
                <a:blip r:embed="rId2"/>
                <a:stretch>
                  <a:fillRect b="-2667"/>
                </a:stretch>
              </a:blipFill>
            </p:spPr>
            <p:txBody>
              <a:bodyPr/>
              <a:lstStyle/>
              <a:p>
                <a:r>
                  <a:rPr lang="fr-HT">
                    <a:noFill/>
                  </a:rPr>
                  <a:t> </a:t>
                </a:r>
              </a:p>
            </p:txBody>
          </p:sp>
        </mc:Fallback>
      </mc:AlternateContent>
      <p:sp>
        <p:nvSpPr>
          <p:cNvPr id="6" name="Espace réservé du numéro de diapositive 5">
            <a:extLst>
              <a:ext uri="{FF2B5EF4-FFF2-40B4-BE49-F238E27FC236}">
                <a16:creationId xmlns:a16="http://schemas.microsoft.com/office/drawing/2014/main" xmlns="" id="{D993C884-49E4-402C-8214-4DA964C1E494}"/>
              </a:ext>
            </a:extLst>
          </p:cNvPr>
          <p:cNvSpPr>
            <a:spLocks noGrp="1"/>
          </p:cNvSpPr>
          <p:nvPr>
            <p:ph type="sldNum" sz="quarter" idx="12"/>
          </p:nvPr>
        </p:nvSpPr>
        <p:spPr/>
        <p:txBody>
          <a:bodyPr/>
          <a:lstStyle/>
          <a:p>
            <a:fld id="{26AFC765-89FB-4D41-BDFD-C70A1B65DB29}" type="slidenum">
              <a:rPr lang="fr-HT" smtClean="0"/>
              <a:t>15</a:t>
            </a:fld>
            <a:endParaRPr lang="fr-HT" dirty="0"/>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xmlns="" id="{FDE358C5-CB52-44C8-B810-B2EB670D8A49}"/>
                  </a:ext>
                </a:extLst>
              </p:cNvPr>
              <p:cNvSpPr txBox="1"/>
              <p:nvPr/>
            </p:nvSpPr>
            <p:spPr>
              <a:xfrm>
                <a:off x="0" y="2383356"/>
                <a:ext cx="9144000" cy="1200329"/>
              </a:xfrm>
              <a:prstGeom prst="rect">
                <a:avLst/>
              </a:prstGeom>
              <a:noFill/>
            </p:spPr>
            <p:txBody>
              <a:bodyPr wrap="square" rtlCol="0">
                <a:spAutoFit/>
              </a:bodyPr>
              <a:lstStyle/>
              <a:p>
                <a:pPr marL="285750" indent="-285750">
                  <a:buFont typeface="Wingdings" panose="05000000000000000000" pitchFamily="2" charset="2"/>
                  <a:buChar char="Ø"/>
                </a:pPr>
                <a:r>
                  <a:rPr lang="fr-HT" sz="2400" dirty="0"/>
                  <a:t>Le résultat d’une grandeur physique X, déterminé expérimentalement s’exprime sous la forme :</a:t>
                </a:r>
              </a:p>
              <a:p>
                <a:pPr/>
                <a14:m>
                  <m:oMathPara xmlns:m="http://schemas.openxmlformats.org/officeDocument/2006/math">
                    <m:oMathParaPr>
                      <m:jc m:val="centerGroup"/>
                    </m:oMathParaPr>
                    <m:oMath xmlns:m="http://schemas.openxmlformats.org/officeDocument/2006/math">
                      <m:r>
                        <a:rPr lang="fr-HT" sz="2400" b="0" i="1" smtClean="0">
                          <a:latin typeface="Cambria Math" panose="02040503050406030204" pitchFamily="18" charset="0"/>
                        </a:rPr>
                        <m:t>𝑋</m:t>
                      </m:r>
                      <m:r>
                        <a:rPr lang="fr-HT" sz="2400" b="0" i="1" smtClean="0">
                          <a:latin typeface="Cambria Math" panose="02040503050406030204" pitchFamily="18" charset="0"/>
                          <a:ea typeface="Cambria Math" panose="02040503050406030204" pitchFamily="18" charset="0"/>
                        </a:rPr>
                        <m:t>=</m:t>
                      </m:r>
                      <m:r>
                        <a:rPr lang="fr-HT" sz="2400" b="0" i="1" smtClean="0">
                          <a:latin typeface="Cambria Math" panose="02040503050406030204" pitchFamily="18" charset="0"/>
                          <a:ea typeface="Cambria Math" panose="02040503050406030204" pitchFamily="18" charset="0"/>
                        </a:rPr>
                        <m:t>𝑥</m:t>
                      </m:r>
                      <m:r>
                        <a:rPr lang="fr-HT" sz="2400" b="0" i="1" smtClean="0">
                          <a:latin typeface="Cambria Math" panose="02040503050406030204" pitchFamily="18" charset="0"/>
                          <a:ea typeface="Cambria Math" panose="02040503050406030204" pitchFamily="18" charset="0"/>
                        </a:rPr>
                        <m:t>±∆</m:t>
                      </m:r>
                      <m:r>
                        <a:rPr lang="fr-HT" sz="2400" b="0" i="1" smtClean="0">
                          <a:latin typeface="Cambria Math" panose="02040503050406030204" pitchFamily="18" charset="0"/>
                          <a:ea typeface="Cambria Math" panose="02040503050406030204" pitchFamily="18" charset="0"/>
                        </a:rPr>
                        <m:t>𝑥</m:t>
                      </m:r>
                    </m:oMath>
                  </m:oMathPara>
                </a14:m>
                <a:endParaRPr lang="fr-HT" sz="2400" dirty="0"/>
              </a:p>
            </p:txBody>
          </p:sp>
        </mc:Choice>
        <mc:Fallback xmlns="">
          <p:sp>
            <p:nvSpPr>
              <p:cNvPr id="7" name="ZoneTexte 6">
                <a:extLst>
                  <a:ext uri="{FF2B5EF4-FFF2-40B4-BE49-F238E27FC236}">
                    <a16:creationId xmlns:a16="http://schemas.microsoft.com/office/drawing/2014/main" id="{FDE358C5-CB52-44C8-B810-B2EB670D8A49}"/>
                  </a:ext>
                </a:extLst>
              </p:cNvPr>
              <p:cNvSpPr txBox="1">
                <a:spLocks noRot="1" noChangeAspect="1" noMove="1" noResize="1" noEditPoints="1" noAdjustHandles="1" noChangeArrowheads="1" noChangeShapeType="1" noTextEdit="1"/>
              </p:cNvSpPr>
              <p:nvPr/>
            </p:nvSpPr>
            <p:spPr>
              <a:xfrm>
                <a:off x="0" y="2383356"/>
                <a:ext cx="9144000" cy="1200329"/>
              </a:xfrm>
              <a:prstGeom prst="rect">
                <a:avLst/>
              </a:prstGeom>
              <a:blipFill>
                <a:blip r:embed="rId3"/>
                <a:stretch>
                  <a:fillRect l="-867" t="-4061" r="-1133"/>
                </a:stretch>
              </a:blipFill>
            </p:spPr>
            <p:txBody>
              <a:bodyPr/>
              <a:lstStyle/>
              <a:p>
                <a:r>
                  <a:rPr lang="fr-HT">
                    <a:noFill/>
                  </a:rPr>
                  <a:t> </a:t>
                </a:r>
              </a:p>
            </p:txBody>
          </p:sp>
        </mc:Fallback>
      </mc:AlternateContent>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xmlns="" id="{A3EA2E66-6845-4590-91C6-3AE6E3007CF0}"/>
                  </a:ext>
                </a:extLst>
              </p:cNvPr>
              <p:cNvSpPr txBox="1"/>
              <p:nvPr/>
            </p:nvSpPr>
            <p:spPr>
              <a:xfrm>
                <a:off x="132520" y="3583685"/>
                <a:ext cx="9144000" cy="461665"/>
              </a:xfrm>
              <a:prstGeom prst="rect">
                <a:avLst/>
              </a:prstGeom>
              <a:noFill/>
            </p:spPr>
            <p:txBody>
              <a:bodyPr wrap="square" rtlCol="0">
                <a:spAutoFit/>
              </a:bodyPr>
              <a:lstStyle/>
              <a:p>
                <a14:m>
                  <m:oMath xmlns:m="http://schemas.openxmlformats.org/officeDocument/2006/math">
                    <m:r>
                      <a:rPr lang="fr-HT" sz="2400" i="1">
                        <a:latin typeface="Cambria Math" panose="02040503050406030204" pitchFamily="18" charset="0"/>
                        <a:ea typeface="Cambria Math" panose="02040503050406030204" pitchFamily="18" charset="0"/>
                      </a:rPr>
                      <m:t>∆</m:t>
                    </m:r>
                    <m:r>
                      <a:rPr lang="fr-HT" sz="2400" i="1">
                        <a:latin typeface="Cambria Math" panose="02040503050406030204" pitchFamily="18" charset="0"/>
                        <a:ea typeface="Cambria Math" panose="02040503050406030204" pitchFamily="18" charset="0"/>
                      </a:rPr>
                      <m:t>𝑥</m:t>
                    </m:r>
                    <m:r>
                      <a:rPr lang="fr-HT" sz="2400" i="1">
                        <a:latin typeface="Cambria Math" panose="02040503050406030204" pitchFamily="18" charset="0"/>
                        <a:ea typeface="Cambria Math" panose="02040503050406030204" pitchFamily="18" charset="0"/>
                      </a:rPr>
                      <m:t> </m:t>
                    </m:r>
                  </m:oMath>
                </a14:m>
                <a:r>
                  <a:rPr lang="fr-HT" sz="2400" dirty="0"/>
                  <a:t>étant l’incertitude absolue ou incertitude élargie</a:t>
                </a:r>
              </a:p>
            </p:txBody>
          </p:sp>
        </mc:Choice>
        <mc:Fallback xmlns="">
          <p:sp>
            <p:nvSpPr>
              <p:cNvPr id="8" name="ZoneTexte 7">
                <a:extLst>
                  <a:ext uri="{FF2B5EF4-FFF2-40B4-BE49-F238E27FC236}">
                    <a16:creationId xmlns:a16="http://schemas.microsoft.com/office/drawing/2014/main" id="{A3EA2E66-6845-4590-91C6-3AE6E3007CF0}"/>
                  </a:ext>
                </a:extLst>
              </p:cNvPr>
              <p:cNvSpPr txBox="1">
                <a:spLocks noRot="1" noChangeAspect="1" noMove="1" noResize="1" noEditPoints="1" noAdjustHandles="1" noChangeArrowheads="1" noChangeShapeType="1" noTextEdit="1"/>
              </p:cNvSpPr>
              <p:nvPr/>
            </p:nvSpPr>
            <p:spPr>
              <a:xfrm>
                <a:off x="132520" y="3583685"/>
                <a:ext cx="9144000" cy="461665"/>
              </a:xfrm>
              <a:prstGeom prst="rect">
                <a:avLst/>
              </a:prstGeom>
              <a:blipFill>
                <a:blip r:embed="rId4"/>
                <a:stretch>
                  <a:fillRect l="-200" t="-10526" b="-28947"/>
                </a:stretch>
              </a:blipFill>
            </p:spPr>
            <p:txBody>
              <a:bodyPr/>
              <a:lstStyle/>
              <a:p>
                <a:r>
                  <a:rPr lang="fr-HT">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xmlns="" id="{C052C20A-9736-4FE5-A607-D246212CCE7D}"/>
                  </a:ext>
                </a:extLst>
              </p:cNvPr>
              <p:cNvSpPr/>
              <p:nvPr/>
            </p:nvSpPr>
            <p:spPr>
              <a:xfrm>
                <a:off x="0" y="4389803"/>
                <a:ext cx="9144000" cy="830997"/>
              </a:xfrm>
              <a:prstGeom prst="rect">
                <a:avLst/>
              </a:prstGeom>
            </p:spPr>
            <p:txBody>
              <a:bodyPr wrap="square">
                <a:spAutoFit/>
              </a:bodyPr>
              <a:lstStyle/>
              <a:p>
                <a14:m>
                  <m:oMath xmlns:m="http://schemas.openxmlformats.org/officeDocument/2006/math">
                    <m:r>
                      <a:rPr lang="fr-HT" sz="2400" i="1" smtClean="0">
                        <a:latin typeface="Cambria Math" panose="02040503050406030204" pitchFamily="18" charset="0"/>
                      </a:rPr>
                      <m:t>𝑋</m:t>
                    </m:r>
                    <m:r>
                      <a:rPr lang="fr-HT" sz="2400" i="1">
                        <a:latin typeface="Cambria Math" panose="02040503050406030204" pitchFamily="18" charset="0"/>
                        <a:ea typeface="Cambria Math" panose="02040503050406030204" pitchFamily="18" charset="0"/>
                      </a:rPr>
                      <m:t>=</m:t>
                    </m:r>
                    <m:r>
                      <a:rPr lang="fr-HT" sz="2400" i="1">
                        <a:latin typeface="Cambria Math" panose="02040503050406030204" pitchFamily="18" charset="0"/>
                        <a:ea typeface="Cambria Math" panose="02040503050406030204" pitchFamily="18" charset="0"/>
                      </a:rPr>
                      <m:t>𝑥</m:t>
                    </m:r>
                    <m:r>
                      <a:rPr lang="fr-HT" sz="2400" i="1">
                        <a:latin typeface="Cambria Math" panose="02040503050406030204" pitchFamily="18" charset="0"/>
                        <a:ea typeface="Cambria Math" panose="02040503050406030204" pitchFamily="18" charset="0"/>
                      </a:rPr>
                      <m:t>±∆</m:t>
                    </m:r>
                    <m:r>
                      <a:rPr lang="fr-HT" sz="2400" i="1">
                        <a:latin typeface="Cambria Math" panose="02040503050406030204" pitchFamily="18" charset="0"/>
                        <a:ea typeface="Cambria Math" panose="02040503050406030204" pitchFamily="18" charset="0"/>
                      </a:rPr>
                      <m:t>𝑥</m:t>
                    </m:r>
                    <m:r>
                      <a:rPr lang="fr-HT" sz="2400" i="1" smtClean="0">
                        <a:latin typeface="Cambria Math" panose="02040503050406030204" pitchFamily="18" charset="0"/>
                        <a:ea typeface="Cambria Math" panose="02040503050406030204" pitchFamily="18" charset="0"/>
                      </a:rPr>
                      <m:t>=&gt;</m:t>
                    </m:r>
                    <m:r>
                      <a:rPr lang="fr-HT" sz="2400" b="0" i="1" smtClean="0">
                        <a:latin typeface="Cambria Math" panose="02040503050406030204" pitchFamily="18" charset="0"/>
                        <a:ea typeface="Cambria Math" panose="02040503050406030204" pitchFamily="18" charset="0"/>
                      </a:rPr>
                      <m:t>𝑋</m:t>
                    </m:r>
                    <m:r>
                      <a:rPr lang="fr-HT" sz="2400" b="0" i="1" smtClean="0">
                        <a:latin typeface="Cambria Math" panose="02040503050406030204" pitchFamily="18" charset="0"/>
                        <a:ea typeface="Cambria Math" panose="02040503050406030204" pitchFamily="18" charset="0"/>
                      </a:rPr>
                      <m:t>∈</m:t>
                    </m:r>
                    <m:d>
                      <m:dPr>
                        <m:begChr m:val="["/>
                        <m:endChr m:val="]"/>
                        <m:ctrlPr>
                          <a:rPr lang="fr-HT" sz="2400" b="0" i="1" smtClean="0">
                            <a:latin typeface="Cambria Math"/>
                            <a:ea typeface="Cambria Math" panose="02040503050406030204" pitchFamily="18" charset="0"/>
                          </a:rPr>
                        </m:ctrlPr>
                      </m:dPr>
                      <m:e>
                        <m:r>
                          <a:rPr lang="fr-HT" sz="2400" b="0" i="1" smtClean="0">
                            <a:latin typeface="Cambria Math" panose="02040503050406030204" pitchFamily="18" charset="0"/>
                            <a:ea typeface="Cambria Math" panose="02040503050406030204" pitchFamily="18" charset="0"/>
                          </a:rPr>
                          <m:t>𝑥</m:t>
                        </m:r>
                        <m:r>
                          <a:rPr lang="fr-HT" sz="2400" b="0" i="1" smtClean="0">
                            <a:latin typeface="Cambria Math" panose="02040503050406030204" pitchFamily="18" charset="0"/>
                            <a:ea typeface="Cambria Math" panose="02040503050406030204" pitchFamily="18" charset="0"/>
                          </a:rPr>
                          <m:t>−∆</m:t>
                        </m:r>
                        <m:r>
                          <a:rPr lang="fr-HT" sz="2400" b="0" i="1" smtClean="0">
                            <a:latin typeface="Cambria Math" panose="02040503050406030204" pitchFamily="18" charset="0"/>
                            <a:ea typeface="Cambria Math" panose="02040503050406030204" pitchFamily="18" charset="0"/>
                          </a:rPr>
                          <m:t>𝑥</m:t>
                        </m:r>
                        <m:r>
                          <a:rPr lang="fr-HT" sz="2400" b="0" i="1" smtClean="0">
                            <a:latin typeface="Cambria Math" panose="02040503050406030204" pitchFamily="18" charset="0"/>
                            <a:ea typeface="Cambria Math" panose="02040503050406030204" pitchFamily="18" charset="0"/>
                          </a:rPr>
                          <m:t> ;</m:t>
                        </m:r>
                        <m:r>
                          <a:rPr lang="fr-HT" sz="2400" b="0" i="1" smtClean="0">
                            <a:latin typeface="Cambria Math" panose="02040503050406030204" pitchFamily="18" charset="0"/>
                            <a:ea typeface="Cambria Math" panose="02040503050406030204" pitchFamily="18" charset="0"/>
                          </a:rPr>
                          <m:t>𝑥</m:t>
                        </m:r>
                        <m:r>
                          <a:rPr lang="fr-HT" sz="2400" b="0" i="1" smtClean="0">
                            <a:latin typeface="Cambria Math" panose="02040503050406030204" pitchFamily="18" charset="0"/>
                            <a:ea typeface="Cambria Math" panose="02040503050406030204" pitchFamily="18" charset="0"/>
                          </a:rPr>
                          <m:t>+∆</m:t>
                        </m:r>
                        <m:r>
                          <a:rPr lang="fr-HT" sz="2400" b="0" i="1" smtClean="0">
                            <a:latin typeface="Cambria Math" panose="02040503050406030204" pitchFamily="18" charset="0"/>
                            <a:ea typeface="Cambria Math" panose="02040503050406030204" pitchFamily="18" charset="0"/>
                          </a:rPr>
                          <m:t>𝑥</m:t>
                        </m:r>
                      </m:e>
                    </m:d>
                  </m:oMath>
                </a14:m>
                <a:r>
                  <a:rPr lang="fr-HT" sz="2400" dirty="0"/>
                  <a:t>  avec un certain niveau de confiance</a:t>
                </a:r>
              </a:p>
            </p:txBody>
          </p:sp>
        </mc:Choice>
        <mc:Fallback xmlns="">
          <p:sp>
            <p:nvSpPr>
              <p:cNvPr id="9" name="Rectangle 8">
                <a:extLst>
                  <a:ext uri="{FF2B5EF4-FFF2-40B4-BE49-F238E27FC236}">
                    <a16:creationId xmlns:a16="http://schemas.microsoft.com/office/drawing/2014/main" id="{C052C20A-9736-4FE5-A607-D246212CCE7D}"/>
                  </a:ext>
                </a:extLst>
              </p:cNvPr>
              <p:cNvSpPr>
                <a:spLocks noRot="1" noChangeAspect="1" noMove="1" noResize="1" noEditPoints="1" noAdjustHandles="1" noChangeArrowheads="1" noChangeShapeType="1" noTextEdit="1"/>
              </p:cNvSpPr>
              <p:nvPr/>
            </p:nvSpPr>
            <p:spPr>
              <a:xfrm>
                <a:off x="0" y="4389803"/>
                <a:ext cx="9144000" cy="830997"/>
              </a:xfrm>
              <a:prstGeom prst="rect">
                <a:avLst/>
              </a:prstGeom>
              <a:blipFill>
                <a:blip r:embed="rId5"/>
                <a:stretch>
                  <a:fillRect l="-1000" t="-5882" b="-16176"/>
                </a:stretch>
              </a:blipFill>
            </p:spPr>
            <p:txBody>
              <a:bodyPr/>
              <a:lstStyle/>
              <a:p>
                <a:r>
                  <a:rPr lang="fr-HT">
                    <a:noFill/>
                  </a:rPr>
                  <a:t> </a:t>
                </a:r>
              </a:p>
            </p:txBody>
          </p:sp>
        </mc:Fallback>
      </mc:AlternateContent>
    </p:spTree>
    <p:extLst>
      <p:ext uri="{BB962C8B-B14F-4D97-AF65-F5344CB8AC3E}">
        <p14:creationId xmlns:p14="http://schemas.microsoft.com/office/powerpoint/2010/main" val="611065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1C12D396-1E10-4DCC-A75F-63DADF4DA21B}"/>
              </a:ext>
            </a:extLst>
          </p:cNvPr>
          <p:cNvSpPr/>
          <p:nvPr/>
        </p:nvSpPr>
        <p:spPr>
          <a:xfrm>
            <a:off x="0" y="30353"/>
            <a:ext cx="9144000" cy="523220"/>
          </a:xfrm>
          <a:prstGeom prst="rect">
            <a:avLst/>
          </a:prstGeom>
          <a:solidFill>
            <a:schemeClr val="accent4">
              <a:lumMod val="40000"/>
              <a:lumOff val="60000"/>
            </a:schemeClr>
          </a:solidFill>
        </p:spPr>
        <p:txBody>
          <a:bodyPr wrap="square">
            <a:spAutoFit/>
          </a:bodyPr>
          <a:lstStyle/>
          <a:p>
            <a:r>
              <a:rPr lang="fr-HT" sz="2800" b="1" dirty="0">
                <a:latin typeface="Times-Roman"/>
              </a:rPr>
              <a:t>Partie I : Mesures et Incertitudes</a:t>
            </a:r>
            <a:endParaRPr lang="fr-HT" sz="2800" b="1" dirty="0"/>
          </a:p>
        </p:txBody>
      </p:sp>
      <p:sp>
        <p:nvSpPr>
          <p:cNvPr id="4" name="Espace réservé du numéro de diapositive 3">
            <a:extLst>
              <a:ext uri="{FF2B5EF4-FFF2-40B4-BE49-F238E27FC236}">
                <a16:creationId xmlns:a16="http://schemas.microsoft.com/office/drawing/2014/main" xmlns="" id="{C860CE08-DF4F-41EE-9C7C-2A5CD5E9355A}"/>
              </a:ext>
            </a:extLst>
          </p:cNvPr>
          <p:cNvSpPr>
            <a:spLocks noGrp="1"/>
          </p:cNvSpPr>
          <p:nvPr>
            <p:ph type="sldNum" sz="quarter" idx="12"/>
          </p:nvPr>
        </p:nvSpPr>
        <p:spPr/>
        <p:txBody>
          <a:bodyPr/>
          <a:lstStyle/>
          <a:p>
            <a:fld id="{26AFC765-89FB-4D41-BDFD-C70A1B65DB29}" type="slidenum">
              <a:rPr lang="fr-HT" smtClean="0"/>
              <a:t>16</a:t>
            </a:fld>
            <a:endParaRPr lang="fr-HT" dirty="0"/>
          </a:p>
        </p:txBody>
      </p:sp>
      <p:sp>
        <p:nvSpPr>
          <p:cNvPr id="2" name="Rectangle 1">
            <a:extLst>
              <a:ext uri="{FF2B5EF4-FFF2-40B4-BE49-F238E27FC236}">
                <a16:creationId xmlns:a16="http://schemas.microsoft.com/office/drawing/2014/main" xmlns="" id="{AA6049EF-7C40-4657-AF63-14DDC3369AFD}"/>
              </a:ext>
            </a:extLst>
          </p:cNvPr>
          <p:cNvSpPr/>
          <p:nvPr/>
        </p:nvSpPr>
        <p:spPr>
          <a:xfrm>
            <a:off x="0" y="646908"/>
            <a:ext cx="7566991" cy="461665"/>
          </a:xfrm>
          <a:prstGeom prst="rect">
            <a:avLst/>
          </a:prstGeom>
        </p:spPr>
        <p:txBody>
          <a:bodyPr wrap="square">
            <a:spAutoFit/>
          </a:bodyPr>
          <a:lstStyle/>
          <a:p>
            <a:pPr marL="342900" indent="-342900">
              <a:buFont typeface="Wingdings" panose="05000000000000000000" pitchFamily="2" charset="2"/>
              <a:buChar char="v"/>
            </a:pPr>
            <a:r>
              <a:rPr lang="fr-HT" sz="2400" b="1" dirty="0">
                <a:latin typeface="Calibri" panose="020F0502020204030204" pitchFamily="34" charset="0"/>
              </a:rPr>
              <a:t>Incertitude absolue </a:t>
            </a:r>
            <a:r>
              <a:rPr lang="fr-HT" sz="2400" b="1" dirty="0"/>
              <a:t>ou incertitude élargie</a:t>
            </a:r>
          </a:p>
        </p:txBody>
      </p:sp>
      <p:sp>
        <p:nvSpPr>
          <p:cNvPr id="6" name="ZoneTexte 5">
            <a:extLst>
              <a:ext uri="{FF2B5EF4-FFF2-40B4-BE49-F238E27FC236}">
                <a16:creationId xmlns:a16="http://schemas.microsoft.com/office/drawing/2014/main" xmlns="" id="{1D04D55A-088F-4EF3-B844-E7CED9DC4882}"/>
              </a:ext>
            </a:extLst>
          </p:cNvPr>
          <p:cNvSpPr txBox="1"/>
          <p:nvPr/>
        </p:nvSpPr>
        <p:spPr>
          <a:xfrm>
            <a:off x="0" y="1108573"/>
            <a:ext cx="9144000" cy="1200329"/>
          </a:xfrm>
          <a:prstGeom prst="rect">
            <a:avLst/>
          </a:prstGeom>
          <a:noFill/>
        </p:spPr>
        <p:txBody>
          <a:bodyPr wrap="square" rtlCol="0">
            <a:spAutoFit/>
          </a:bodyPr>
          <a:lstStyle/>
          <a:p>
            <a:pPr algn="just"/>
            <a:r>
              <a:rPr lang="fr-HT" sz="2400" dirty="0"/>
              <a:t>Le résultat d’une mesure ou d’un calcul est donné avec son incertitude absolue. </a:t>
            </a:r>
            <a:r>
              <a:rPr lang="fr-HT" sz="2400" b="1" i="1" dirty="0"/>
              <a:t>L’incertitude absolue contient au maximum deux chiffres significatifs </a:t>
            </a:r>
          </a:p>
        </p:txBody>
      </p:sp>
      <mc:AlternateContent xmlns:mc="http://schemas.openxmlformats.org/markup-compatibility/2006" xmlns:a14="http://schemas.microsoft.com/office/drawing/2010/main">
        <mc:Choice Requires="a14">
          <p:sp>
            <p:nvSpPr>
              <p:cNvPr id="8" name="ZoneTexte 7">
                <a:extLst>
                  <a:ext uri="{FF2B5EF4-FFF2-40B4-BE49-F238E27FC236}">
                    <a16:creationId xmlns:a16="http://schemas.microsoft.com/office/drawing/2014/main" xmlns="" id="{12FF3559-32B2-4499-87BC-D3D4D27D84AE}"/>
                  </a:ext>
                </a:extLst>
              </p:cNvPr>
              <p:cNvSpPr txBox="1"/>
              <p:nvPr/>
            </p:nvSpPr>
            <p:spPr>
              <a:xfrm>
                <a:off x="-1" y="2635834"/>
                <a:ext cx="9144000" cy="1204497"/>
              </a:xfrm>
              <a:prstGeom prst="rect">
                <a:avLst/>
              </a:prstGeom>
              <a:noFill/>
            </p:spPr>
            <p:txBody>
              <a:bodyPr wrap="square" rtlCol="0">
                <a:spAutoFit/>
              </a:bodyPr>
              <a:lstStyle/>
              <a:p>
                <a:r>
                  <a:rPr lang="fr-HT" sz="2400" dirty="0"/>
                  <a:t>Exemple : On calcul une petite distance, la calculatrice affiche </a:t>
                </a:r>
                <a14:m>
                  <m:oMath xmlns:m="http://schemas.openxmlformats.org/officeDocument/2006/math">
                    <m:r>
                      <a:rPr lang="fr-HT" sz="2400" i="1" dirty="0" smtClean="0">
                        <a:latin typeface="Cambria Math" panose="02040503050406030204" pitchFamily="18" charset="0"/>
                      </a:rPr>
                      <m:t>21,</m:t>
                    </m:r>
                    <m:r>
                      <a:rPr lang="fr-HT" sz="2400" b="0" i="1" dirty="0" smtClean="0">
                        <a:latin typeface="Cambria Math" panose="02040503050406030204" pitchFamily="18" charset="0"/>
                      </a:rPr>
                      <m:t>0257</m:t>
                    </m:r>
                    <m:r>
                      <a:rPr lang="fr-HT" sz="2400" b="0" i="1" dirty="0" smtClean="0">
                        <a:latin typeface="Cambria Math" panose="02040503050406030204" pitchFamily="18" charset="0"/>
                        <a:ea typeface="Cambria Math" panose="02040503050406030204" pitchFamily="18" charset="0"/>
                      </a:rPr>
                      <m:t>×</m:t>
                    </m:r>
                    <m:sSup>
                      <m:sSupPr>
                        <m:ctrlPr>
                          <a:rPr lang="fr-HT" sz="2400" b="0" i="1" dirty="0" smtClean="0">
                            <a:latin typeface="Cambria Math"/>
                            <a:ea typeface="Cambria Math" panose="02040503050406030204" pitchFamily="18" charset="0"/>
                          </a:rPr>
                        </m:ctrlPr>
                      </m:sSupPr>
                      <m:e>
                        <m:r>
                          <a:rPr lang="fr-HT" sz="2400" b="0" i="1" dirty="0" smtClean="0">
                            <a:latin typeface="Cambria Math" panose="02040503050406030204" pitchFamily="18" charset="0"/>
                            <a:ea typeface="Cambria Math" panose="02040503050406030204" pitchFamily="18" charset="0"/>
                          </a:rPr>
                          <m:t>10</m:t>
                        </m:r>
                      </m:e>
                      <m:sup>
                        <m:r>
                          <a:rPr lang="fr-HT" sz="2400" b="0" i="1" dirty="0" smtClean="0">
                            <a:latin typeface="Cambria Math" panose="02040503050406030204" pitchFamily="18" charset="0"/>
                            <a:ea typeface="Cambria Math" panose="02040503050406030204" pitchFamily="18" charset="0"/>
                          </a:rPr>
                          <m:t>−3</m:t>
                        </m:r>
                      </m:sup>
                    </m:sSup>
                    <m:r>
                      <a:rPr lang="fr-HT" sz="2400" b="0" i="1" dirty="0" smtClean="0">
                        <a:latin typeface="Cambria Math" panose="02040503050406030204" pitchFamily="18" charset="0"/>
                        <a:ea typeface="Cambria Math" panose="02040503050406030204" pitchFamily="18" charset="0"/>
                      </a:rPr>
                      <m:t>𝑚</m:t>
                    </m:r>
                  </m:oMath>
                </a14:m>
                <a:r>
                  <a:rPr lang="fr-HT" sz="2400" dirty="0"/>
                  <a:t> et l’incertitude absolue vaut  </a:t>
                </a:r>
                <a14:m>
                  <m:oMath xmlns:m="http://schemas.openxmlformats.org/officeDocument/2006/math">
                    <m:r>
                      <a:rPr lang="fr-HT" sz="2400" i="1">
                        <a:latin typeface="Cambria Math" panose="02040503050406030204" pitchFamily="18" charset="0"/>
                        <a:ea typeface="Cambria Math" panose="02040503050406030204" pitchFamily="18" charset="0"/>
                      </a:rPr>
                      <m:t>∆</m:t>
                    </m:r>
                    <m:r>
                      <a:rPr lang="fr-HT" sz="2400" i="1">
                        <a:latin typeface="Cambria Math" panose="02040503050406030204" pitchFamily="18" charset="0"/>
                        <a:ea typeface="Cambria Math" panose="02040503050406030204" pitchFamily="18" charset="0"/>
                      </a:rPr>
                      <m:t>𝑥</m:t>
                    </m:r>
                    <m:r>
                      <a:rPr lang="fr-HT" sz="2400" i="1" smtClean="0">
                        <a:latin typeface="Cambria Math" panose="02040503050406030204" pitchFamily="18" charset="0"/>
                        <a:ea typeface="Cambria Math" panose="02040503050406030204" pitchFamily="18" charset="0"/>
                      </a:rPr>
                      <m:t>=</m:t>
                    </m:r>
                    <m:r>
                      <a:rPr lang="fr-HT" sz="2400" b="0" i="1" smtClean="0">
                        <a:latin typeface="Cambria Math" panose="02040503050406030204" pitchFamily="18" charset="0"/>
                        <a:ea typeface="Cambria Math" panose="02040503050406030204" pitchFamily="18" charset="0"/>
                      </a:rPr>
                      <m:t>4,86×</m:t>
                    </m:r>
                    <m:sSup>
                      <m:sSupPr>
                        <m:ctrlPr>
                          <a:rPr lang="fr-HT" sz="2400" b="0" i="1" smtClean="0">
                            <a:latin typeface="Cambria Math"/>
                            <a:ea typeface="Cambria Math" panose="02040503050406030204" pitchFamily="18" charset="0"/>
                          </a:rPr>
                        </m:ctrlPr>
                      </m:sSupPr>
                      <m:e>
                        <m:r>
                          <a:rPr lang="fr-HT" sz="2400" b="0" i="1" smtClean="0">
                            <a:latin typeface="Cambria Math" panose="02040503050406030204" pitchFamily="18" charset="0"/>
                            <a:ea typeface="Cambria Math" panose="02040503050406030204" pitchFamily="18" charset="0"/>
                          </a:rPr>
                          <m:t>10</m:t>
                        </m:r>
                      </m:e>
                      <m:sup>
                        <m:r>
                          <a:rPr lang="fr-HT" sz="2400" b="0" i="1" smtClean="0">
                            <a:latin typeface="Cambria Math" panose="02040503050406030204" pitchFamily="18" charset="0"/>
                            <a:ea typeface="Cambria Math" panose="02040503050406030204" pitchFamily="18" charset="0"/>
                          </a:rPr>
                          <m:t>−5</m:t>
                        </m:r>
                      </m:sup>
                    </m:sSup>
                    <m:r>
                      <a:rPr lang="fr-HT" sz="2400" b="0" i="1" smtClean="0">
                        <a:latin typeface="Cambria Math" panose="02040503050406030204" pitchFamily="18" charset="0"/>
                        <a:ea typeface="Cambria Math" panose="02040503050406030204" pitchFamily="18" charset="0"/>
                      </a:rPr>
                      <m:t>𝑚</m:t>
                    </m:r>
                    <m:r>
                      <a:rPr lang="fr-HT" sz="2400" b="0" i="1" smtClean="0">
                        <a:latin typeface="Cambria Math" panose="02040503050406030204" pitchFamily="18" charset="0"/>
                        <a:ea typeface="Cambria Math" panose="02040503050406030204" pitchFamily="18" charset="0"/>
                      </a:rPr>
                      <m:t>.</m:t>
                    </m:r>
                  </m:oMath>
                </a14:m>
                <a:r>
                  <a:rPr lang="fr-HT" sz="2400" dirty="0"/>
                  <a:t> Exprimez correctement le résultat.</a:t>
                </a:r>
              </a:p>
            </p:txBody>
          </p:sp>
        </mc:Choice>
        <mc:Fallback xmlns="">
          <p:sp>
            <p:nvSpPr>
              <p:cNvPr id="8" name="ZoneTexte 7">
                <a:extLst>
                  <a:ext uri="{FF2B5EF4-FFF2-40B4-BE49-F238E27FC236}">
                    <a16:creationId xmlns:a16="http://schemas.microsoft.com/office/drawing/2014/main" id="{12FF3559-32B2-4499-87BC-D3D4D27D84AE}"/>
                  </a:ext>
                </a:extLst>
              </p:cNvPr>
              <p:cNvSpPr txBox="1">
                <a:spLocks noRot="1" noChangeAspect="1" noMove="1" noResize="1" noEditPoints="1" noAdjustHandles="1" noChangeArrowheads="1" noChangeShapeType="1" noTextEdit="1"/>
              </p:cNvSpPr>
              <p:nvPr/>
            </p:nvSpPr>
            <p:spPr>
              <a:xfrm>
                <a:off x="-1" y="2635834"/>
                <a:ext cx="9144000" cy="1204497"/>
              </a:xfrm>
              <a:prstGeom prst="rect">
                <a:avLst/>
              </a:prstGeom>
              <a:blipFill>
                <a:blip r:embed="rId2"/>
                <a:stretch>
                  <a:fillRect l="-1000" t="-4040" b="-10101"/>
                </a:stretch>
              </a:blipFill>
            </p:spPr>
            <p:txBody>
              <a:bodyPr/>
              <a:lstStyle/>
              <a:p>
                <a:r>
                  <a:rPr lang="fr-HT">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xmlns="" id="{80ACE0BF-121C-406D-A6D0-E414EE234597}"/>
                  </a:ext>
                </a:extLst>
              </p:cNvPr>
              <p:cNvSpPr/>
              <p:nvPr/>
            </p:nvSpPr>
            <p:spPr>
              <a:xfrm>
                <a:off x="0" y="4167263"/>
                <a:ext cx="9143999" cy="1582164"/>
              </a:xfrm>
              <a:prstGeom prst="rect">
                <a:avLst/>
              </a:prstGeom>
            </p:spPr>
            <p:txBody>
              <a:bodyPr wrap="square">
                <a:spAutoFit/>
              </a:bodyPr>
              <a:lstStyle/>
              <a:p>
                <a:r>
                  <a:rPr lang="fr-HT" sz="2400" i="1" dirty="0">
                    <a:latin typeface="Cambria Math" panose="02040503050406030204" pitchFamily="18" charset="0"/>
                    <a:ea typeface="Cambria Math" panose="02040503050406030204" pitchFamily="18" charset="0"/>
                  </a:rPr>
                  <a:t>Réponse :</a:t>
                </a:r>
              </a:p>
              <a:p>
                <a14:m>
                  <m:oMath xmlns:m="http://schemas.openxmlformats.org/officeDocument/2006/math">
                    <m:r>
                      <a:rPr lang="fr-HT" sz="2400" i="1">
                        <a:latin typeface="Cambria Math" panose="02040503050406030204" pitchFamily="18" charset="0"/>
                        <a:ea typeface="Cambria Math" panose="02040503050406030204" pitchFamily="18" charset="0"/>
                      </a:rPr>
                      <m:t>∆</m:t>
                    </m:r>
                    <m:r>
                      <a:rPr lang="fr-HT" sz="2400" i="1">
                        <a:latin typeface="Cambria Math" panose="02040503050406030204" pitchFamily="18" charset="0"/>
                        <a:ea typeface="Cambria Math" panose="02040503050406030204" pitchFamily="18" charset="0"/>
                      </a:rPr>
                      <m:t>𝑥</m:t>
                    </m:r>
                    <m:r>
                      <a:rPr lang="fr-HT" sz="2400" i="1">
                        <a:latin typeface="Cambria Math" panose="02040503050406030204" pitchFamily="18" charset="0"/>
                        <a:ea typeface="Cambria Math" panose="02040503050406030204" pitchFamily="18" charset="0"/>
                      </a:rPr>
                      <m:t>=4,86×</m:t>
                    </m:r>
                    <m:sSup>
                      <m:sSupPr>
                        <m:ctrlPr>
                          <a:rPr lang="fr-HT" sz="2400" i="1">
                            <a:latin typeface="Cambria Math"/>
                            <a:ea typeface="Cambria Math" panose="02040503050406030204" pitchFamily="18" charset="0"/>
                          </a:rPr>
                        </m:ctrlPr>
                      </m:sSupPr>
                      <m:e>
                        <m:r>
                          <a:rPr lang="fr-HT" sz="2400" i="1">
                            <a:latin typeface="Cambria Math" panose="02040503050406030204" pitchFamily="18" charset="0"/>
                            <a:ea typeface="Cambria Math" panose="02040503050406030204" pitchFamily="18" charset="0"/>
                          </a:rPr>
                          <m:t>10</m:t>
                        </m:r>
                      </m:e>
                      <m:sup>
                        <m:r>
                          <a:rPr lang="fr-HT" sz="2400" i="1">
                            <a:latin typeface="Cambria Math" panose="02040503050406030204" pitchFamily="18" charset="0"/>
                            <a:ea typeface="Cambria Math" panose="02040503050406030204" pitchFamily="18" charset="0"/>
                          </a:rPr>
                          <m:t>−5</m:t>
                        </m:r>
                      </m:sup>
                    </m:sSup>
                    <m:r>
                      <a:rPr lang="fr-HT" sz="2400" i="1">
                        <a:latin typeface="Cambria Math" panose="02040503050406030204" pitchFamily="18" charset="0"/>
                        <a:ea typeface="Cambria Math" panose="02040503050406030204" pitchFamily="18" charset="0"/>
                      </a:rPr>
                      <m:t>𝑚</m:t>
                    </m:r>
                    <m:r>
                      <a:rPr lang="fr-HT" sz="2400" i="1" smtClean="0">
                        <a:latin typeface="Cambria Math" panose="02040503050406030204" pitchFamily="18" charset="0"/>
                        <a:ea typeface="Cambria Math" panose="02040503050406030204" pitchFamily="18" charset="0"/>
                      </a:rPr>
                      <m:t>=</m:t>
                    </m:r>
                    <m:r>
                      <a:rPr lang="fr-HT" sz="2400" b="0" i="1" smtClean="0">
                        <a:latin typeface="Cambria Math" panose="02040503050406030204" pitchFamily="18" charset="0"/>
                        <a:ea typeface="Cambria Math" panose="02040503050406030204" pitchFamily="18" charset="0"/>
                      </a:rPr>
                      <m:t>0,0486×</m:t>
                    </m:r>
                    <m:sSup>
                      <m:sSupPr>
                        <m:ctrlPr>
                          <a:rPr lang="fr-HT" sz="2400" b="0" i="1" smtClean="0">
                            <a:latin typeface="Cambria Math"/>
                            <a:ea typeface="Cambria Math" panose="02040503050406030204" pitchFamily="18" charset="0"/>
                          </a:rPr>
                        </m:ctrlPr>
                      </m:sSupPr>
                      <m:e>
                        <m:r>
                          <a:rPr lang="fr-HT" sz="2400" b="0" i="1" smtClean="0">
                            <a:latin typeface="Cambria Math" panose="02040503050406030204" pitchFamily="18" charset="0"/>
                            <a:ea typeface="Cambria Math" panose="02040503050406030204" pitchFamily="18" charset="0"/>
                          </a:rPr>
                          <m:t>10</m:t>
                        </m:r>
                      </m:e>
                      <m:sup>
                        <m:r>
                          <a:rPr lang="fr-HT" sz="2400" b="0" i="1" smtClean="0">
                            <a:latin typeface="Cambria Math" panose="02040503050406030204" pitchFamily="18" charset="0"/>
                            <a:ea typeface="Cambria Math" panose="02040503050406030204" pitchFamily="18" charset="0"/>
                          </a:rPr>
                          <m:t>−3</m:t>
                        </m:r>
                      </m:sup>
                    </m:sSup>
                    <m:r>
                      <a:rPr lang="fr-HT" sz="2400" b="0" i="1" smtClean="0">
                        <a:latin typeface="Cambria Math" panose="02040503050406030204" pitchFamily="18" charset="0"/>
                        <a:ea typeface="Cambria Math" panose="02040503050406030204" pitchFamily="18" charset="0"/>
                      </a:rPr>
                      <m:t>𝑚</m:t>
                    </m:r>
                  </m:oMath>
                </a14:m>
                <a:r>
                  <a:rPr lang="fr-HT" sz="2400" dirty="0"/>
                  <a:t> , avec 2 chiffres significatifs, </a:t>
                </a:r>
                <a14:m>
                  <m:oMath xmlns:m="http://schemas.openxmlformats.org/officeDocument/2006/math">
                    <m:r>
                      <a:rPr lang="fr-HT" sz="2400" i="1">
                        <a:latin typeface="Cambria Math" panose="02040503050406030204" pitchFamily="18" charset="0"/>
                        <a:ea typeface="Cambria Math" panose="02040503050406030204" pitchFamily="18" charset="0"/>
                      </a:rPr>
                      <m:t>∆</m:t>
                    </m:r>
                    <m:r>
                      <a:rPr lang="fr-HT" sz="2400" i="1">
                        <a:latin typeface="Cambria Math" panose="02040503050406030204" pitchFamily="18" charset="0"/>
                        <a:ea typeface="Cambria Math" panose="02040503050406030204" pitchFamily="18" charset="0"/>
                      </a:rPr>
                      <m:t>𝑥</m:t>
                    </m:r>
                    <m:r>
                      <a:rPr lang="fr-HT" sz="2400" i="1">
                        <a:latin typeface="Cambria Math" panose="02040503050406030204" pitchFamily="18" charset="0"/>
                        <a:ea typeface="Cambria Math" panose="02040503050406030204" pitchFamily="18" charset="0"/>
                      </a:rPr>
                      <m:t>=0,049×</m:t>
                    </m:r>
                    <m:sSup>
                      <m:sSupPr>
                        <m:ctrlPr>
                          <a:rPr lang="fr-HT" sz="2400" i="1">
                            <a:latin typeface="Cambria Math"/>
                            <a:ea typeface="Cambria Math" panose="02040503050406030204" pitchFamily="18" charset="0"/>
                          </a:rPr>
                        </m:ctrlPr>
                      </m:sSupPr>
                      <m:e>
                        <m:r>
                          <a:rPr lang="fr-HT" sz="2400" i="1">
                            <a:latin typeface="Cambria Math" panose="02040503050406030204" pitchFamily="18" charset="0"/>
                            <a:ea typeface="Cambria Math" panose="02040503050406030204" pitchFamily="18" charset="0"/>
                          </a:rPr>
                          <m:t>10</m:t>
                        </m:r>
                      </m:e>
                      <m:sup>
                        <m:r>
                          <a:rPr lang="fr-HT" sz="2400" i="1">
                            <a:latin typeface="Cambria Math" panose="02040503050406030204" pitchFamily="18" charset="0"/>
                            <a:ea typeface="Cambria Math" panose="02040503050406030204" pitchFamily="18" charset="0"/>
                          </a:rPr>
                          <m:t>−3</m:t>
                        </m:r>
                      </m:sup>
                    </m:sSup>
                    <m:r>
                      <a:rPr lang="fr-HT" sz="2400" i="1">
                        <a:latin typeface="Cambria Math" panose="02040503050406030204" pitchFamily="18" charset="0"/>
                        <a:ea typeface="Cambria Math" panose="02040503050406030204" pitchFamily="18" charset="0"/>
                      </a:rPr>
                      <m:t>𝑚</m:t>
                    </m:r>
                  </m:oMath>
                </a14:m>
                <a:endParaRPr lang="fr-HT" sz="240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fr-HT" sz="2400" i="1" smtClean="0">
                          <a:latin typeface="Cambria Math" panose="02040503050406030204" pitchFamily="18" charset="0"/>
                          <a:ea typeface="Cambria Math" panose="02040503050406030204" pitchFamily="18" charset="0"/>
                        </a:rPr>
                        <m:t>=&gt;</m:t>
                      </m:r>
                      <m:r>
                        <a:rPr lang="fr-HT" sz="2400" b="1" i="1" smtClean="0">
                          <a:solidFill>
                            <a:srgbClr val="FF0000"/>
                          </a:solidFill>
                          <a:latin typeface="Cambria Math" panose="02040503050406030204" pitchFamily="18" charset="0"/>
                          <a:ea typeface="Cambria Math" panose="02040503050406030204" pitchFamily="18" charset="0"/>
                        </a:rPr>
                        <m:t>𝑿</m:t>
                      </m:r>
                      <m:r>
                        <a:rPr lang="fr-HT" sz="2400" b="1" i="1" smtClean="0">
                          <a:solidFill>
                            <a:srgbClr val="FF0000"/>
                          </a:solidFill>
                          <a:latin typeface="Cambria Math" panose="02040503050406030204" pitchFamily="18" charset="0"/>
                          <a:ea typeface="Cambria Math" panose="02040503050406030204" pitchFamily="18" charset="0"/>
                        </a:rPr>
                        <m:t>=</m:t>
                      </m:r>
                      <m:d>
                        <m:dPr>
                          <m:ctrlPr>
                            <a:rPr lang="fr-HT" sz="2400" b="1" i="1" smtClean="0">
                              <a:solidFill>
                                <a:srgbClr val="FF0000"/>
                              </a:solidFill>
                              <a:latin typeface="Cambria Math"/>
                              <a:ea typeface="Cambria Math" panose="02040503050406030204" pitchFamily="18" charset="0"/>
                            </a:rPr>
                          </m:ctrlPr>
                        </m:dPr>
                        <m:e>
                          <m:r>
                            <a:rPr lang="fr-HT" sz="2400" b="1" i="1">
                              <a:solidFill>
                                <a:srgbClr val="FF0000"/>
                              </a:solidFill>
                              <a:latin typeface="Cambria Math" panose="02040503050406030204" pitchFamily="18" charset="0"/>
                              <a:ea typeface="Cambria Math" panose="02040503050406030204" pitchFamily="18" charset="0"/>
                            </a:rPr>
                            <m:t>𝟐𝟏</m:t>
                          </m:r>
                          <m:r>
                            <a:rPr lang="fr-HT" sz="2400" b="1" i="1">
                              <a:solidFill>
                                <a:srgbClr val="FF0000"/>
                              </a:solidFill>
                              <a:latin typeface="Cambria Math" panose="02040503050406030204" pitchFamily="18" charset="0"/>
                              <a:ea typeface="Cambria Math" panose="02040503050406030204" pitchFamily="18" charset="0"/>
                            </a:rPr>
                            <m:t>,</m:t>
                          </m:r>
                          <m:r>
                            <a:rPr lang="fr-HT" sz="2400" b="1" i="1">
                              <a:solidFill>
                                <a:srgbClr val="FF0000"/>
                              </a:solidFill>
                              <a:latin typeface="Cambria Math" panose="02040503050406030204" pitchFamily="18" charset="0"/>
                              <a:ea typeface="Cambria Math" panose="02040503050406030204" pitchFamily="18" charset="0"/>
                            </a:rPr>
                            <m:t>𝟎𝟐𝟔</m:t>
                          </m:r>
                          <m:r>
                            <a:rPr lang="fr-HT" sz="2400" b="1" i="1">
                              <a:solidFill>
                                <a:srgbClr val="FF0000"/>
                              </a:solidFill>
                              <a:latin typeface="Cambria Math" panose="02040503050406030204" pitchFamily="18" charset="0"/>
                              <a:ea typeface="Cambria Math" panose="02040503050406030204" pitchFamily="18" charset="0"/>
                            </a:rPr>
                            <m:t>±</m:t>
                          </m:r>
                          <m:r>
                            <a:rPr lang="fr-HT" sz="2400" b="1" i="1">
                              <a:solidFill>
                                <a:srgbClr val="FF0000"/>
                              </a:solidFill>
                              <a:latin typeface="Cambria Math" panose="02040503050406030204" pitchFamily="18" charset="0"/>
                              <a:ea typeface="Cambria Math" panose="02040503050406030204" pitchFamily="18" charset="0"/>
                            </a:rPr>
                            <m:t>𝟎</m:t>
                          </m:r>
                          <m:r>
                            <a:rPr lang="fr-HT" sz="2400" b="1" i="1">
                              <a:solidFill>
                                <a:srgbClr val="FF0000"/>
                              </a:solidFill>
                              <a:latin typeface="Cambria Math" panose="02040503050406030204" pitchFamily="18" charset="0"/>
                              <a:ea typeface="Cambria Math" panose="02040503050406030204" pitchFamily="18" charset="0"/>
                            </a:rPr>
                            <m:t>,</m:t>
                          </m:r>
                          <m:r>
                            <a:rPr lang="fr-HT" sz="2400" b="1" i="1">
                              <a:solidFill>
                                <a:srgbClr val="FF0000"/>
                              </a:solidFill>
                              <a:latin typeface="Cambria Math" panose="02040503050406030204" pitchFamily="18" charset="0"/>
                              <a:ea typeface="Cambria Math" panose="02040503050406030204" pitchFamily="18" charset="0"/>
                            </a:rPr>
                            <m:t>𝟎𝟒𝟗</m:t>
                          </m:r>
                        </m:e>
                      </m:d>
                      <m:r>
                        <a:rPr lang="fr-HT" sz="2400" b="1" i="1" smtClean="0">
                          <a:solidFill>
                            <a:srgbClr val="FF0000"/>
                          </a:solidFill>
                          <a:latin typeface="Cambria Math" panose="02040503050406030204" pitchFamily="18" charset="0"/>
                          <a:ea typeface="Cambria Math" panose="02040503050406030204" pitchFamily="18" charset="0"/>
                        </a:rPr>
                        <m:t>×</m:t>
                      </m:r>
                      <m:sSup>
                        <m:sSupPr>
                          <m:ctrlPr>
                            <a:rPr lang="fr-HT" sz="2400" b="1" i="1" smtClean="0">
                              <a:solidFill>
                                <a:srgbClr val="FF0000"/>
                              </a:solidFill>
                              <a:latin typeface="Cambria Math"/>
                              <a:ea typeface="Cambria Math" panose="02040503050406030204" pitchFamily="18" charset="0"/>
                            </a:rPr>
                          </m:ctrlPr>
                        </m:sSupPr>
                        <m:e>
                          <m:r>
                            <a:rPr lang="fr-HT" sz="2400" b="1" i="1" smtClean="0">
                              <a:solidFill>
                                <a:srgbClr val="FF0000"/>
                              </a:solidFill>
                              <a:latin typeface="Cambria Math" panose="02040503050406030204" pitchFamily="18" charset="0"/>
                              <a:ea typeface="Cambria Math" panose="02040503050406030204" pitchFamily="18" charset="0"/>
                            </a:rPr>
                            <m:t>𝟏𝟎</m:t>
                          </m:r>
                        </m:e>
                        <m:sup>
                          <m:r>
                            <a:rPr lang="fr-HT" sz="2400" b="1" i="1" smtClean="0">
                              <a:solidFill>
                                <a:srgbClr val="FF0000"/>
                              </a:solidFill>
                              <a:latin typeface="Cambria Math" panose="02040503050406030204" pitchFamily="18" charset="0"/>
                              <a:ea typeface="Cambria Math" panose="02040503050406030204" pitchFamily="18" charset="0"/>
                            </a:rPr>
                            <m:t>−</m:t>
                          </m:r>
                          <m:r>
                            <a:rPr lang="fr-HT" sz="2400" b="1" i="1" smtClean="0">
                              <a:solidFill>
                                <a:srgbClr val="FF0000"/>
                              </a:solidFill>
                              <a:latin typeface="Cambria Math" panose="02040503050406030204" pitchFamily="18" charset="0"/>
                              <a:ea typeface="Cambria Math" panose="02040503050406030204" pitchFamily="18" charset="0"/>
                            </a:rPr>
                            <m:t>𝟑</m:t>
                          </m:r>
                        </m:sup>
                      </m:sSup>
                      <m:r>
                        <a:rPr lang="fr-HT" sz="2400" b="1" i="1" smtClean="0">
                          <a:solidFill>
                            <a:srgbClr val="FF0000"/>
                          </a:solidFill>
                          <a:latin typeface="Cambria Math" panose="02040503050406030204" pitchFamily="18" charset="0"/>
                          <a:ea typeface="Cambria Math" panose="02040503050406030204" pitchFamily="18" charset="0"/>
                        </a:rPr>
                        <m:t>𝒎</m:t>
                      </m:r>
                    </m:oMath>
                  </m:oMathPara>
                </a14:m>
                <a:endParaRPr lang="fr-HT" sz="2400" b="1" dirty="0"/>
              </a:p>
            </p:txBody>
          </p:sp>
        </mc:Choice>
        <mc:Fallback xmlns="">
          <p:sp>
            <p:nvSpPr>
              <p:cNvPr id="9" name="Rectangle 8">
                <a:extLst>
                  <a:ext uri="{FF2B5EF4-FFF2-40B4-BE49-F238E27FC236}">
                    <a16:creationId xmlns:a16="http://schemas.microsoft.com/office/drawing/2014/main" id="{80ACE0BF-121C-406D-A6D0-E414EE234597}"/>
                  </a:ext>
                </a:extLst>
              </p:cNvPr>
              <p:cNvSpPr>
                <a:spLocks noRot="1" noChangeAspect="1" noMove="1" noResize="1" noEditPoints="1" noAdjustHandles="1" noChangeArrowheads="1" noChangeShapeType="1" noTextEdit="1"/>
              </p:cNvSpPr>
              <p:nvPr/>
            </p:nvSpPr>
            <p:spPr>
              <a:xfrm>
                <a:off x="0" y="4167263"/>
                <a:ext cx="9143999" cy="1582164"/>
              </a:xfrm>
              <a:prstGeom prst="rect">
                <a:avLst/>
              </a:prstGeom>
              <a:blipFill>
                <a:blip r:embed="rId3"/>
                <a:stretch>
                  <a:fillRect l="-1000" t="-3089"/>
                </a:stretch>
              </a:blipFill>
            </p:spPr>
            <p:txBody>
              <a:bodyPr/>
              <a:lstStyle/>
              <a:p>
                <a:r>
                  <a:rPr lang="fr-HT">
                    <a:noFill/>
                  </a:rPr>
                  <a:t> </a:t>
                </a:r>
              </a:p>
            </p:txBody>
          </p:sp>
        </mc:Fallback>
      </mc:AlternateContent>
    </p:spTree>
    <p:extLst>
      <p:ext uri="{BB962C8B-B14F-4D97-AF65-F5344CB8AC3E}">
        <p14:creationId xmlns:p14="http://schemas.microsoft.com/office/powerpoint/2010/main" val="3886046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1C12D396-1E10-4DCC-A75F-63DADF4DA21B}"/>
              </a:ext>
            </a:extLst>
          </p:cNvPr>
          <p:cNvSpPr/>
          <p:nvPr/>
        </p:nvSpPr>
        <p:spPr>
          <a:xfrm>
            <a:off x="0" y="30353"/>
            <a:ext cx="9144000" cy="523220"/>
          </a:xfrm>
          <a:prstGeom prst="rect">
            <a:avLst/>
          </a:prstGeom>
          <a:solidFill>
            <a:schemeClr val="accent4">
              <a:lumMod val="40000"/>
              <a:lumOff val="60000"/>
            </a:schemeClr>
          </a:solidFill>
        </p:spPr>
        <p:txBody>
          <a:bodyPr wrap="square">
            <a:spAutoFit/>
          </a:bodyPr>
          <a:lstStyle/>
          <a:p>
            <a:r>
              <a:rPr lang="fr-HT" sz="2800" b="1" dirty="0">
                <a:latin typeface="Times-Roman"/>
              </a:rPr>
              <a:t>Partie I : Mesures et Incertitudes</a:t>
            </a:r>
            <a:endParaRPr lang="fr-HT" sz="2800" b="1" dirty="0"/>
          </a:p>
        </p:txBody>
      </p:sp>
      <p:sp>
        <p:nvSpPr>
          <p:cNvPr id="4" name="Espace réservé du numéro de diapositive 3">
            <a:extLst>
              <a:ext uri="{FF2B5EF4-FFF2-40B4-BE49-F238E27FC236}">
                <a16:creationId xmlns:a16="http://schemas.microsoft.com/office/drawing/2014/main" xmlns="" id="{F5608C3B-AB86-4AB8-BE31-AEECEC94079D}"/>
              </a:ext>
            </a:extLst>
          </p:cNvPr>
          <p:cNvSpPr>
            <a:spLocks noGrp="1"/>
          </p:cNvSpPr>
          <p:nvPr>
            <p:ph type="sldNum" sz="quarter" idx="12"/>
          </p:nvPr>
        </p:nvSpPr>
        <p:spPr/>
        <p:txBody>
          <a:bodyPr/>
          <a:lstStyle/>
          <a:p>
            <a:fld id="{26AFC765-89FB-4D41-BDFD-C70A1B65DB29}" type="slidenum">
              <a:rPr lang="fr-HT" smtClean="0"/>
              <a:t>17</a:t>
            </a:fld>
            <a:endParaRPr lang="fr-HT" dirty="0"/>
          </a:p>
        </p:txBody>
      </p:sp>
      <p:sp>
        <p:nvSpPr>
          <p:cNvPr id="5" name="Rectangle 4">
            <a:extLst>
              <a:ext uri="{FF2B5EF4-FFF2-40B4-BE49-F238E27FC236}">
                <a16:creationId xmlns:a16="http://schemas.microsoft.com/office/drawing/2014/main" xmlns="" id="{D6632366-56A1-46EF-BDE2-59DB7A94F310}"/>
              </a:ext>
            </a:extLst>
          </p:cNvPr>
          <p:cNvSpPr/>
          <p:nvPr/>
        </p:nvSpPr>
        <p:spPr>
          <a:xfrm>
            <a:off x="0" y="553573"/>
            <a:ext cx="7566991" cy="461665"/>
          </a:xfrm>
          <a:prstGeom prst="rect">
            <a:avLst/>
          </a:prstGeom>
        </p:spPr>
        <p:txBody>
          <a:bodyPr wrap="square">
            <a:spAutoFit/>
          </a:bodyPr>
          <a:lstStyle/>
          <a:p>
            <a:pPr marL="342900" indent="-342900">
              <a:buFont typeface="Wingdings" panose="05000000000000000000" pitchFamily="2" charset="2"/>
              <a:buChar char="v"/>
            </a:pPr>
            <a:r>
              <a:rPr lang="fr-HT" sz="2400" b="1" dirty="0">
                <a:latin typeface="Calibri" panose="020F0502020204030204" pitchFamily="34" charset="0"/>
              </a:rPr>
              <a:t>Incertitude relative</a:t>
            </a:r>
            <a:endParaRPr lang="fr-HT" sz="2400" b="1" dirty="0"/>
          </a:p>
        </p:txBody>
      </p:sp>
      <p:sp>
        <p:nvSpPr>
          <p:cNvPr id="2" name="Rectangle 1">
            <a:extLst>
              <a:ext uri="{FF2B5EF4-FFF2-40B4-BE49-F238E27FC236}">
                <a16:creationId xmlns:a16="http://schemas.microsoft.com/office/drawing/2014/main" xmlns="" id="{BEFAE769-13BB-483C-9D8A-8D8A8308C768}"/>
              </a:ext>
            </a:extLst>
          </p:cNvPr>
          <p:cNvSpPr/>
          <p:nvPr/>
        </p:nvSpPr>
        <p:spPr>
          <a:xfrm>
            <a:off x="0" y="1015238"/>
            <a:ext cx="9144000" cy="830997"/>
          </a:xfrm>
          <a:prstGeom prst="rect">
            <a:avLst/>
          </a:prstGeom>
        </p:spPr>
        <p:txBody>
          <a:bodyPr wrap="square">
            <a:spAutoFit/>
          </a:bodyPr>
          <a:lstStyle/>
          <a:p>
            <a:pPr algn="just"/>
            <a:r>
              <a:rPr lang="fr-HT" sz="2400" dirty="0">
                <a:solidFill>
                  <a:srgbClr val="000000"/>
                </a:solidFill>
                <a:latin typeface="Calibri" panose="020F0502020204030204" pitchFamily="34" charset="0"/>
              </a:rPr>
              <a:t>L’incertitude relative permet d'estimer la précision sur le résultat obtenu. </a:t>
            </a:r>
            <a:endParaRPr lang="fr-HT" sz="2400" dirty="0"/>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xmlns="" id="{E9723030-173F-4C83-BD8B-BD539681ADDD}"/>
                  </a:ext>
                </a:extLst>
              </p:cNvPr>
              <p:cNvSpPr txBox="1"/>
              <p:nvPr/>
            </p:nvSpPr>
            <p:spPr>
              <a:xfrm>
                <a:off x="1577008" y="1739027"/>
                <a:ext cx="6029740" cy="626069"/>
              </a:xfrm>
              <a:prstGeom prst="rect">
                <a:avLst/>
              </a:prstGeom>
              <a:noFill/>
            </p:spPr>
            <p:txBody>
              <a:bodyPr wrap="square" rtlCol="0">
                <a:spAutoFit/>
              </a:bodyPr>
              <a:lstStyle/>
              <a:p>
                <a14:m>
                  <m:oMath xmlns:m="http://schemas.openxmlformats.org/officeDocument/2006/math">
                    <m:sSub>
                      <m:sSubPr>
                        <m:ctrlPr>
                          <a:rPr lang="fr-HT" sz="2400" i="1" smtClean="0">
                            <a:latin typeface="Cambria Math"/>
                          </a:rPr>
                        </m:ctrlPr>
                      </m:sSubPr>
                      <m:e>
                        <m:r>
                          <a:rPr lang="fr-HT" sz="2400" b="0" i="1" smtClean="0">
                            <a:latin typeface="Cambria Math" panose="02040503050406030204" pitchFamily="18" charset="0"/>
                          </a:rPr>
                          <m:t>𝐼</m:t>
                        </m:r>
                      </m:e>
                      <m:sub>
                        <m:r>
                          <a:rPr lang="fr-HT" sz="2400" b="0" i="1" smtClean="0">
                            <a:latin typeface="Cambria Math" panose="02040503050406030204" pitchFamily="18" charset="0"/>
                          </a:rPr>
                          <m:t>𝑅</m:t>
                        </m:r>
                      </m:sub>
                    </m:sSub>
                    <m:r>
                      <a:rPr lang="fr-HT" sz="2400" i="1" smtClean="0">
                        <a:latin typeface="Cambria Math" panose="02040503050406030204" pitchFamily="18" charset="0"/>
                        <a:ea typeface="Cambria Math" panose="02040503050406030204" pitchFamily="18" charset="0"/>
                      </a:rPr>
                      <m:t>=</m:t>
                    </m:r>
                    <m:f>
                      <m:fPr>
                        <m:ctrlPr>
                          <a:rPr lang="fr-HT" sz="2400" i="1" smtClean="0">
                            <a:latin typeface="Cambria Math"/>
                            <a:ea typeface="Cambria Math" panose="02040503050406030204" pitchFamily="18" charset="0"/>
                          </a:rPr>
                        </m:ctrlPr>
                      </m:fPr>
                      <m:num>
                        <m:r>
                          <a:rPr lang="fr-HT" sz="2400" i="1" smtClean="0">
                            <a:latin typeface="Cambria Math" panose="02040503050406030204" pitchFamily="18" charset="0"/>
                            <a:ea typeface="Cambria Math" panose="02040503050406030204" pitchFamily="18" charset="0"/>
                          </a:rPr>
                          <m:t>∆</m:t>
                        </m:r>
                        <m:r>
                          <a:rPr lang="fr-HT" sz="2400" b="0" i="1" smtClean="0">
                            <a:latin typeface="Cambria Math" panose="02040503050406030204" pitchFamily="18" charset="0"/>
                            <a:ea typeface="Cambria Math" panose="02040503050406030204" pitchFamily="18" charset="0"/>
                          </a:rPr>
                          <m:t>𝑥</m:t>
                        </m:r>
                      </m:num>
                      <m:den>
                        <m:r>
                          <a:rPr lang="fr-HT" sz="2400" b="0" i="1" smtClean="0">
                            <a:latin typeface="Cambria Math" panose="02040503050406030204" pitchFamily="18" charset="0"/>
                            <a:ea typeface="Cambria Math" panose="02040503050406030204" pitchFamily="18" charset="0"/>
                          </a:rPr>
                          <m:t>𝑥</m:t>
                        </m:r>
                      </m:den>
                    </m:f>
                    <m:r>
                      <a:rPr lang="fr-HT" sz="2400" b="0" i="1" smtClean="0">
                        <a:latin typeface="Cambria Math" panose="02040503050406030204" pitchFamily="18" charset="0"/>
                        <a:ea typeface="Cambria Math" panose="02040503050406030204" pitchFamily="18" charset="0"/>
                      </a:rPr>
                      <m:t> </m:t>
                    </m:r>
                  </m:oMath>
                </a14:m>
                <a:r>
                  <a:rPr lang="fr-HT" sz="2400" dirty="0"/>
                  <a:t> et est donnée en pourcentage</a:t>
                </a:r>
              </a:p>
            </p:txBody>
          </p:sp>
        </mc:Choice>
        <mc:Fallback xmlns="">
          <p:sp>
            <p:nvSpPr>
              <p:cNvPr id="7" name="ZoneTexte 6">
                <a:extLst>
                  <a:ext uri="{FF2B5EF4-FFF2-40B4-BE49-F238E27FC236}">
                    <a16:creationId xmlns:a16="http://schemas.microsoft.com/office/drawing/2014/main" id="{E9723030-173F-4C83-BD8B-BD539681ADDD}"/>
                  </a:ext>
                </a:extLst>
              </p:cNvPr>
              <p:cNvSpPr txBox="1">
                <a:spLocks noRot="1" noChangeAspect="1" noMove="1" noResize="1" noEditPoints="1" noAdjustHandles="1" noChangeArrowheads="1" noChangeShapeType="1" noTextEdit="1"/>
              </p:cNvSpPr>
              <p:nvPr/>
            </p:nvSpPr>
            <p:spPr>
              <a:xfrm>
                <a:off x="1577008" y="1739027"/>
                <a:ext cx="6029740" cy="626069"/>
              </a:xfrm>
              <a:prstGeom prst="rect">
                <a:avLst/>
              </a:prstGeom>
              <a:blipFill>
                <a:blip r:embed="rId2"/>
                <a:stretch>
                  <a:fillRect b="-8738"/>
                </a:stretch>
              </a:blipFill>
            </p:spPr>
            <p:txBody>
              <a:bodyPr/>
              <a:lstStyle/>
              <a:p>
                <a:r>
                  <a:rPr lang="fr-HT">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xmlns="" id="{B18EF039-9E25-48C6-8120-67C3FED0C7E0}"/>
                  </a:ext>
                </a:extLst>
              </p:cNvPr>
              <p:cNvSpPr/>
              <p:nvPr/>
            </p:nvSpPr>
            <p:spPr>
              <a:xfrm>
                <a:off x="0" y="2519129"/>
                <a:ext cx="9143999" cy="1752916"/>
              </a:xfrm>
              <a:prstGeom prst="rect">
                <a:avLst/>
              </a:prstGeom>
            </p:spPr>
            <p:txBody>
              <a:bodyPr wrap="square">
                <a:spAutoFit/>
              </a:bodyPr>
              <a:lstStyle/>
              <a:p>
                <a:r>
                  <a:rPr lang="fr-HT" sz="2400" i="1" dirty="0">
                    <a:latin typeface="Cambria Math" panose="02040503050406030204" pitchFamily="18" charset="0"/>
                    <a:ea typeface="Cambria Math" panose="02040503050406030204" pitchFamily="18" charset="0"/>
                  </a:rPr>
                  <a:t>Exemple : La longueur d’une barre est :</a:t>
                </a:r>
              </a:p>
              <a:p>
                <a:pPr/>
                <a14:m>
                  <m:oMathPara xmlns:m="http://schemas.openxmlformats.org/officeDocument/2006/math">
                    <m:oMathParaPr>
                      <m:jc m:val="centerGroup"/>
                    </m:oMathParaPr>
                    <m:oMath xmlns:m="http://schemas.openxmlformats.org/officeDocument/2006/math">
                      <m:r>
                        <a:rPr lang="fr-HT" sz="2400" b="0" i="1" smtClean="0">
                          <a:solidFill>
                            <a:schemeClr val="tx1"/>
                          </a:solidFill>
                          <a:latin typeface="Cambria Math" panose="02040503050406030204" pitchFamily="18" charset="0"/>
                          <a:ea typeface="Cambria Math" panose="02040503050406030204" pitchFamily="18" charset="0"/>
                        </a:rPr>
                        <m:t>𝐿</m:t>
                      </m:r>
                      <m:r>
                        <a:rPr lang="fr-HT" sz="2400" b="0" i="1" smtClean="0">
                          <a:solidFill>
                            <a:schemeClr val="tx1"/>
                          </a:solidFill>
                          <a:latin typeface="Cambria Math" panose="02040503050406030204" pitchFamily="18" charset="0"/>
                          <a:ea typeface="Cambria Math" panose="02040503050406030204" pitchFamily="18" charset="0"/>
                        </a:rPr>
                        <m:t>=</m:t>
                      </m:r>
                      <m:d>
                        <m:dPr>
                          <m:ctrlPr>
                            <a:rPr lang="fr-HT" sz="2400" i="1" smtClean="0">
                              <a:solidFill>
                                <a:schemeClr val="tx1"/>
                              </a:solidFill>
                              <a:latin typeface="Cambria Math"/>
                              <a:ea typeface="Cambria Math" panose="02040503050406030204" pitchFamily="18" charset="0"/>
                            </a:rPr>
                          </m:ctrlPr>
                        </m:dPr>
                        <m:e>
                          <m:r>
                            <a:rPr lang="fr-HT" sz="2400" b="0" i="1" smtClean="0">
                              <a:solidFill>
                                <a:schemeClr val="tx1"/>
                              </a:solidFill>
                              <a:latin typeface="Cambria Math" panose="02040503050406030204" pitchFamily="18" charset="0"/>
                              <a:ea typeface="Cambria Math" panose="02040503050406030204" pitchFamily="18" charset="0"/>
                            </a:rPr>
                            <m:t>18</m:t>
                          </m:r>
                          <m:r>
                            <a:rPr lang="fr-HT" sz="2400" b="0" i="1">
                              <a:solidFill>
                                <a:schemeClr val="tx1"/>
                              </a:solidFill>
                              <a:latin typeface="Cambria Math" panose="02040503050406030204" pitchFamily="18" charset="0"/>
                              <a:ea typeface="Cambria Math" panose="02040503050406030204" pitchFamily="18" charset="0"/>
                            </a:rPr>
                            <m:t>,0±0,4</m:t>
                          </m:r>
                        </m:e>
                      </m:d>
                      <m:r>
                        <a:rPr lang="fr-HT" sz="2400" b="0" i="1" smtClean="0">
                          <a:solidFill>
                            <a:schemeClr val="tx1"/>
                          </a:solidFill>
                          <a:latin typeface="Cambria Math" panose="02040503050406030204" pitchFamily="18" charset="0"/>
                          <a:ea typeface="Cambria Math" panose="02040503050406030204" pitchFamily="18" charset="0"/>
                        </a:rPr>
                        <m:t>𝑚</m:t>
                      </m:r>
                    </m:oMath>
                  </m:oMathPara>
                </a14:m>
                <a:endParaRPr lang="fr-HT" sz="2400" dirty="0">
                  <a:solidFill>
                    <a:schemeClr val="tx1"/>
                  </a:solidFill>
                </a:endParaRPr>
              </a:p>
              <a:p>
                <a:r>
                  <a:rPr lang="fr-HT" sz="2400" dirty="0"/>
                  <a:t>L’incertitude relative vaut : </a:t>
                </a:r>
                <a14:m>
                  <m:oMath xmlns:m="http://schemas.openxmlformats.org/officeDocument/2006/math">
                    <m:sSub>
                      <m:sSubPr>
                        <m:ctrlPr>
                          <a:rPr lang="fr-HT" sz="2400" i="1">
                            <a:latin typeface="Cambria Math"/>
                          </a:rPr>
                        </m:ctrlPr>
                      </m:sSubPr>
                      <m:e>
                        <m:r>
                          <a:rPr lang="fr-HT" sz="2400" i="1">
                            <a:latin typeface="Cambria Math" panose="02040503050406030204" pitchFamily="18" charset="0"/>
                          </a:rPr>
                          <m:t>𝐼</m:t>
                        </m:r>
                      </m:e>
                      <m:sub>
                        <m:r>
                          <a:rPr lang="fr-HT" sz="2400" i="1">
                            <a:latin typeface="Cambria Math" panose="02040503050406030204" pitchFamily="18" charset="0"/>
                          </a:rPr>
                          <m:t>𝑅</m:t>
                        </m:r>
                      </m:sub>
                    </m:sSub>
                    <m:r>
                      <a:rPr lang="fr-HT" sz="2400" i="1">
                        <a:latin typeface="Cambria Math" panose="02040503050406030204" pitchFamily="18" charset="0"/>
                        <a:ea typeface="Cambria Math" panose="02040503050406030204" pitchFamily="18" charset="0"/>
                      </a:rPr>
                      <m:t>=</m:t>
                    </m:r>
                    <m:f>
                      <m:fPr>
                        <m:ctrlPr>
                          <a:rPr lang="fr-HT" sz="2400" i="1">
                            <a:latin typeface="Cambria Math"/>
                            <a:ea typeface="Cambria Math" panose="02040503050406030204" pitchFamily="18" charset="0"/>
                          </a:rPr>
                        </m:ctrlPr>
                      </m:fPr>
                      <m:num>
                        <m:r>
                          <a:rPr lang="fr-HT" sz="2400" b="0" i="1" smtClean="0">
                            <a:latin typeface="Cambria Math" panose="02040503050406030204" pitchFamily="18" charset="0"/>
                            <a:ea typeface="Cambria Math" panose="02040503050406030204" pitchFamily="18" charset="0"/>
                          </a:rPr>
                          <m:t>0,4</m:t>
                        </m:r>
                      </m:num>
                      <m:den>
                        <m:r>
                          <a:rPr lang="fr-HT" sz="2400" b="0" i="1" smtClean="0">
                            <a:latin typeface="Cambria Math" panose="02040503050406030204" pitchFamily="18" charset="0"/>
                            <a:ea typeface="Cambria Math" panose="02040503050406030204" pitchFamily="18" charset="0"/>
                          </a:rPr>
                          <m:t>18</m:t>
                        </m:r>
                        <m:r>
                          <a:rPr lang="fr-HT" sz="2400" i="1">
                            <a:latin typeface="Cambria Math" panose="02040503050406030204" pitchFamily="18" charset="0"/>
                            <a:ea typeface="Cambria Math" panose="02040503050406030204" pitchFamily="18" charset="0"/>
                          </a:rPr>
                          <m:t>,0</m:t>
                        </m:r>
                      </m:den>
                    </m:f>
                    <m:r>
                      <a:rPr lang="fr-HT" sz="2400" i="1" smtClean="0">
                        <a:latin typeface="Cambria Math" panose="02040503050406030204" pitchFamily="18" charset="0"/>
                        <a:ea typeface="Cambria Math" panose="02040503050406030204" pitchFamily="18" charset="0"/>
                      </a:rPr>
                      <m:t>=</m:t>
                    </m:r>
                    <m:r>
                      <a:rPr lang="fr-HT" sz="2400" b="0" i="1" smtClean="0">
                        <a:latin typeface="Cambria Math" panose="02040503050406030204" pitchFamily="18" charset="0"/>
                        <a:ea typeface="Cambria Math" panose="02040503050406030204" pitchFamily="18" charset="0"/>
                      </a:rPr>
                      <m:t>0,02222=2,222 %</m:t>
                    </m:r>
                    <m:r>
                      <a:rPr lang="fr-HT" sz="2400" i="1">
                        <a:latin typeface="Cambria Math" panose="02040503050406030204" pitchFamily="18" charset="0"/>
                        <a:ea typeface="Cambria Math" panose="02040503050406030204" pitchFamily="18" charset="0"/>
                      </a:rPr>
                      <m:t> </m:t>
                    </m:r>
                  </m:oMath>
                </a14:m>
                <a:endParaRPr lang="fr-HT" sz="2400" dirty="0">
                  <a:ea typeface="Cambria Math" panose="02040503050406030204" pitchFamily="18" charset="0"/>
                </a:endParaRPr>
              </a:p>
              <a:p>
                <a:r>
                  <a:rPr lang="fr-HT" sz="2400" dirty="0">
                    <a:solidFill>
                      <a:schemeClr val="tx1"/>
                    </a:solidFill>
                  </a:rPr>
                  <a:t>Le résultat </a:t>
                </a:r>
                <a:r>
                  <a:rPr lang="fr-HT" sz="2400" dirty="0"/>
                  <a:t>s’ écrit </a:t>
                </a:r>
                <a:r>
                  <a:rPr lang="fr-HT" sz="2400" dirty="0">
                    <a:solidFill>
                      <a:schemeClr val="tx1"/>
                    </a:solidFill>
                  </a:rPr>
                  <a:t>: </a:t>
                </a:r>
                <a14:m>
                  <m:oMath xmlns:m="http://schemas.openxmlformats.org/officeDocument/2006/math">
                    <m:r>
                      <a:rPr lang="fr-HT" sz="2400" b="1" i="1" smtClean="0">
                        <a:solidFill>
                          <a:srgbClr val="FF0000"/>
                        </a:solidFill>
                        <a:latin typeface="Cambria Math" panose="02040503050406030204" pitchFamily="18" charset="0"/>
                        <a:ea typeface="Cambria Math" panose="02040503050406030204" pitchFamily="18" charset="0"/>
                      </a:rPr>
                      <m:t>𝑳</m:t>
                    </m:r>
                    <m:r>
                      <a:rPr lang="fr-HT" sz="2400" b="1" i="1" smtClean="0">
                        <a:solidFill>
                          <a:srgbClr val="FF0000"/>
                        </a:solidFill>
                        <a:latin typeface="Cambria Math" panose="02040503050406030204" pitchFamily="18" charset="0"/>
                        <a:ea typeface="Cambria Math" panose="02040503050406030204" pitchFamily="18" charset="0"/>
                      </a:rPr>
                      <m:t>=</m:t>
                    </m:r>
                    <m:r>
                      <a:rPr lang="fr-HT" sz="2400" b="1" i="0" smtClean="0">
                        <a:solidFill>
                          <a:srgbClr val="FF0000"/>
                        </a:solidFill>
                        <a:latin typeface="Cambria Math" panose="02040503050406030204" pitchFamily="18" charset="0"/>
                        <a:ea typeface="Cambria Math" panose="02040503050406030204" pitchFamily="18" charset="0"/>
                      </a:rPr>
                      <m:t>𝟏𝟖</m:t>
                    </m:r>
                    <m:r>
                      <a:rPr lang="fr-HT" sz="2400" b="1" i="0" smtClean="0">
                        <a:solidFill>
                          <a:srgbClr val="FF0000"/>
                        </a:solidFill>
                        <a:latin typeface="Cambria Math" panose="02040503050406030204" pitchFamily="18" charset="0"/>
                        <a:ea typeface="Cambria Math" panose="02040503050406030204" pitchFamily="18" charset="0"/>
                      </a:rPr>
                      <m:t>,</m:t>
                    </m:r>
                    <m:r>
                      <a:rPr lang="fr-HT" sz="2400" b="1" i="0" smtClean="0">
                        <a:solidFill>
                          <a:srgbClr val="FF0000"/>
                        </a:solidFill>
                        <a:latin typeface="Cambria Math" panose="02040503050406030204" pitchFamily="18" charset="0"/>
                        <a:ea typeface="Cambria Math" panose="02040503050406030204" pitchFamily="18" charset="0"/>
                      </a:rPr>
                      <m:t>𝟎𝐦</m:t>
                    </m:r>
                    <m:r>
                      <a:rPr lang="fr-HT" sz="2400" b="1" i="1" smtClean="0">
                        <a:solidFill>
                          <a:srgbClr val="FF0000"/>
                        </a:solidFill>
                        <a:latin typeface="Cambria Math" panose="02040503050406030204" pitchFamily="18" charset="0"/>
                        <a:ea typeface="Cambria Math" panose="02040503050406030204" pitchFamily="18" charset="0"/>
                      </a:rPr>
                      <m:t>±</m:t>
                    </m:r>
                    <m:r>
                      <a:rPr lang="fr-HT" sz="2400" b="1" i="1" smtClean="0">
                        <a:solidFill>
                          <a:srgbClr val="FF0000"/>
                        </a:solidFill>
                        <a:latin typeface="Cambria Math" panose="02040503050406030204" pitchFamily="18" charset="0"/>
                        <a:ea typeface="Cambria Math" panose="02040503050406030204" pitchFamily="18" charset="0"/>
                      </a:rPr>
                      <m:t>𝟐</m:t>
                    </m:r>
                    <m:r>
                      <a:rPr lang="fr-HT" sz="2400" b="1" i="1" smtClean="0">
                        <a:solidFill>
                          <a:srgbClr val="FF0000"/>
                        </a:solidFill>
                        <a:latin typeface="Cambria Math" panose="02040503050406030204" pitchFamily="18" charset="0"/>
                        <a:ea typeface="Cambria Math" panose="02040503050406030204" pitchFamily="18" charset="0"/>
                      </a:rPr>
                      <m:t>,</m:t>
                    </m:r>
                    <m:r>
                      <a:rPr lang="fr-HT" sz="2400" b="1" i="1" smtClean="0">
                        <a:solidFill>
                          <a:srgbClr val="FF0000"/>
                        </a:solidFill>
                        <a:latin typeface="Cambria Math" panose="02040503050406030204" pitchFamily="18" charset="0"/>
                        <a:ea typeface="Cambria Math" panose="02040503050406030204" pitchFamily="18" charset="0"/>
                      </a:rPr>
                      <m:t>𝟐</m:t>
                    </m:r>
                    <m:r>
                      <a:rPr lang="fr-HT" sz="2400" b="1" i="1" smtClean="0">
                        <a:solidFill>
                          <a:srgbClr val="FF0000"/>
                        </a:solidFill>
                        <a:latin typeface="Cambria Math" panose="02040503050406030204" pitchFamily="18" charset="0"/>
                        <a:ea typeface="Cambria Math" panose="02040503050406030204" pitchFamily="18" charset="0"/>
                      </a:rPr>
                      <m:t>%</m:t>
                    </m:r>
                  </m:oMath>
                </a14:m>
                <a:endParaRPr lang="fr-HT" sz="2400" b="1" dirty="0">
                  <a:solidFill>
                    <a:schemeClr val="tx1"/>
                  </a:solidFill>
                </a:endParaRPr>
              </a:p>
            </p:txBody>
          </p:sp>
        </mc:Choice>
        <mc:Fallback xmlns="">
          <p:sp>
            <p:nvSpPr>
              <p:cNvPr id="8" name="Rectangle 7">
                <a:extLst>
                  <a:ext uri="{FF2B5EF4-FFF2-40B4-BE49-F238E27FC236}">
                    <a16:creationId xmlns:a16="http://schemas.microsoft.com/office/drawing/2014/main" id="{B18EF039-9E25-48C6-8120-67C3FED0C7E0}"/>
                  </a:ext>
                </a:extLst>
              </p:cNvPr>
              <p:cNvSpPr>
                <a:spLocks noRot="1" noChangeAspect="1" noMove="1" noResize="1" noEditPoints="1" noAdjustHandles="1" noChangeArrowheads="1" noChangeShapeType="1" noTextEdit="1"/>
              </p:cNvSpPr>
              <p:nvPr/>
            </p:nvSpPr>
            <p:spPr>
              <a:xfrm>
                <a:off x="0" y="2519129"/>
                <a:ext cx="9143999" cy="1752916"/>
              </a:xfrm>
              <a:prstGeom prst="rect">
                <a:avLst/>
              </a:prstGeom>
              <a:blipFill>
                <a:blip r:embed="rId3"/>
                <a:stretch>
                  <a:fillRect l="-1000" t="-2778" b="-6944"/>
                </a:stretch>
              </a:blipFill>
            </p:spPr>
            <p:txBody>
              <a:bodyPr/>
              <a:lstStyle/>
              <a:p>
                <a:r>
                  <a:rPr lang="fr-HT">
                    <a:noFill/>
                  </a:rPr>
                  <a:t> </a:t>
                </a:r>
              </a:p>
            </p:txBody>
          </p:sp>
        </mc:Fallback>
      </mc:AlternateContent>
      <p:sp>
        <p:nvSpPr>
          <p:cNvPr id="9" name="ZoneTexte 8">
            <a:extLst>
              <a:ext uri="{FF2B5EF4-FFF2-40B4-BE49-F238E27FC236}">
                <a16:creationId xmlns:a16="http://schemas.microsoft.com/office/drawing/2014/main" xmlns="" id="{DD5DBEEE-09DC-403B-A71E-37E48E7C7D89}"/>
              </a:ext>
            </a:extLst>
          </p:cNvPr>
          <p:cNvSpPr txBox="1"/>
          <p:nvPr/>
        </p:nvSpPr>
        <p:spPr>
          <a:xfrm>
            <a:off x="0" y="4272045"/>
            <a:ext cx="9143999" cy="830997"/>
          </a:xfrm>
          <a:prstGeom prst="rect">
            <a:avLst/>
          </a:prstGeom>
          <a:noFill/>
        </p:spPr>
        <p:txBody>
          <a:bodyPr wrap="square" rtlCol="0">
            <a:spAutoFit/>
          </a:bodyPr>
          <a:lstStyle/>
          <a:p>
            <a:r>
              <a:rPr lang="fr-HT" sz="2400" i="1" dirty="0"/>
              <a:t>Remarque : L’incertitude relative peut être obtenue  par comparaison d’un résultat expérimental avec une valeur théorique</a:t>
            </a:r>
          </a:p>
        </p:txBody>
      </p:sp>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xmlns="" id="{5069AC0C-19BF-48EB-BE0C-97B4C2094DA7}"/>
                  </a:ext>
                </a:extLst>
              </p:cNvPr>
              <p:cNvSpPr txBox="1"/>
              <p:nvPr/>
            </p:nvSpPr>
            <p:spPr>
              <a:xfrm>
                <a:off x="-1" y="5261113"/>
                <a:ext cx="9144000" cy="11242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HT" sz="2400" i="1" smtClean="0">
                              <a:latin typeface="Cambria Math"/>
                            </a:rPr>
                          </m:ctrlPr>
                        </m:sSubPr>
                        <m:e>
                          <m:r>
                            <a:rPr lang="fr-HT" sz="2400" b="0" i="1" smtClean="0">
                              <a:latin typeface="Cambria Math" panose="02040503050406030204" pitchFamily="18" charset="0"/>
                            </a:rPr>
                            <m:t>𝐼</m:t>
                          </m:r>
                        </m:e>
                        <m:sub>
                          <m:r>
                            <a:rPr lang="fr-HT" sz="2400" b="0" i="1" smtClean="0">
                              <a:latin typeface="Cambria Math" panose="02040503050406030204" pitchFamily="18" charset="0"/>
                            </a:rPr>
                            <m:t>𝑅</m:t>
                          </m:r>
                        </m:sub>
                      </m:sSub>
                      <m:r>
                        <a:rPr lang="fr-HT" sz="2400" i="1" smtClean="0">
                          <a:latin typeface="Cambria Math" panose="02040503050406030204" pitchFamily="18" charset="0"/>
                          <a:ea typeface="Cambria Math" panose="02040503050406030204" pitchFamily="18" charset="0"/>
                        </a:rPr>
                        <m:t>=</m:t>
                      </m:r>
                      <m:f>
                        <m:fPr>
                          <m:ctrlPr>
                            <a:rPr lang="fr-HT" sz="2400" i="1" smtClean="0">
                              <a:latin typeface="Cambria Math"/>
                              <a:ea typeface="Cambria Math" panose="02040503050406030204" pitchFamily="18" charset="0"/>
                            </a:rPr>
                          </m:ctrlPr>
                        </m:fPr>
                        <m:num>
                          <m:d>
                            <m:dPr>
                              <m:begChr m:val="|"/>
                              <m:endChr m:val="|"/>
                              <m:ctrlPr>
                                <a:rPr lang="fr-HT" sz="2400" i="1" smtClean="0">
                                  <a:latin typeface="Cambria Math"/>
                                  <a:ea typeface="Cambria Math" panose="02040503050406030204" pitchFamily="18" charset="0"/>
                                </a:rPr>
                              </m:ctrlPr>
                            </m:dPr>
                            <m:e>
                              <m:sSub>
                                <m:sSubPr>
                                  <m:ctrlPr>
                                    <a:rPr lang="fr-HT" sz="2400" i="1" smtClean="0">
                                      <a:latin typeface="Cambria Math"/>
                                      <a:ea typeface="Cambria Math" panose="02040503050406030204" pitchFamily="18" charset="0"/>
                                    </a:rPr>
                                  </m:ctrlPr>
                                </m:sSubPr>
                                <m:e>
                                  <m:r>
                                    <a:rPr lang="fr-HT" sz="2400" b="0" i="1" smtClean="0">
                                      <a:latin typeface="Cambria Math" panose="02040503050406030204" pitchFamily="18" charset="0"/>
                                      <a:ea typeface="Cambria Math" panose="02040503050406030204" pitchFamily="18" charset="0"/>
                                    </a:rPr>
                                    <m:t>𝑥</m:t>
                                  </m:r>
                                </m:e>
                                <m:sub>
                                  <m:r>
                                    <a:rPr lang="fr-HT" sz="2400" b="0" i="1" smtClean="0">
                                      <a:latin typeface="Cambria Math" panose="02040503050406030204" pitchFamily="18" charset="0"/>
                                      <a:ea typeface="Cambria Math" panose="02040503050406030204" pitchFamily="18" charset="0"/>
                                    </a:rPr>
                                    <m:t>𝑡h</m:t>
                                  </m:r>
                                  <m:r>
                                    <m:rPr>
                                      <m:nor/>
                                    </m:rPr>
                                    <a:rPr lang="fr-HT" sz="2400" i="1" dirty="0"/>
                                    <m:t>é</m:t>
                                  </m:r>
                                  <m:r>
                                    <a:rPr lang="fr-HT" sz="2400" b="0" i="1" smtClean="0">
                                      <a:latin typeface="Cambria Math" panose="02040503050406030204" pitchFamily="18" charset="0"/>
                                      <a:ea typeface="Cambria Math" panose="02040503050406030204" pitchFamily="18" charset="0"/>
                                    </a:rPr>
                                    <m:t>𝑜𝑟𝑖𝑞𝑢𝑒</m:t>
                                  </m:r>
                                </m:sub>
                              </m:sSub>
                              <m:r>
                                <a:rPr lang="fr-HT" sz="2400" b="0" i="1" smtClean="0">
                                  <a:latin typeface="Cambria Math" panose="02040503050406030204" pitchFamily="18" charset="0"/>
                                  <a:ea typeface="Cambria Math" panose="02040503050406030204" pitchFamily="18" charset="0"/>
                                </a:rPr>
                                <m:t>−</m:t>
                              </m:r>
                              <m:sSub>
                                <m:sSubPr>
                                  <m:ctrlPr>
                                    <a:rPr lang="fr-HT" sz="2400" b="0" i="1" smtClean="0">
                                      <a:latin typeface="Cambria Math"/>
                                      <a:ea typeface="Cambria Math" panose="02040503050406030204" pitchFamily="18" charset="0"/>
                                    </a:rPr>
                                  </m:ctrlPr>
                                </m:sSubPr>
                                <m:e>
                                  <m:r>
                                    <a:rPr lang="fr-HT" sz="2400" b="0" i="1" smtClean="0">
                                      <a:latin typeface="Cambria Math" panose="02040503050406030204" pitchFamily="18" charset="0"/>
                                      <a:ea typeface="Cambria Math" panose="02040503050406030204" pitchFamily="18" charset="0"/>
                                    </a:rPr>
                                    <m:t>𝑥</m:t>
                                  </m:r>
                                </m:e>
                                <m:sub>
                                  <m:r>
                                    <a:rPr lang="fr-HT" sz="2400" b="0" i="1" smtClean="0">
                                      <a:latin typeface="Cambria Math" panose="02040503050406030204" pitchFamily="18" charset="0"/>
                                      <a:ea typeface="Cambria Math" panose="02040503050406030204" pitchFamily="18" charset="0"/>
                                    </a:rPr>
                                    <m:t>𝑒𝑥𝑝</m:t>
                                  </m:r>
                                  <m:r>
                                    <m:rPr>
                                      <m:nor/>
                                    </m:rPr>
                                    <a:rPr lang="fr-HT" sz="2400" i="1" dirty="0"/>
                                    <m:t>é</m:t>
                                  </m:r>
                                  <m:r>
                                    <a:rPr lang="fr-HT" sz="2400" b="0" i="1" smtClean="0">
                                      <a:latin typeface="Cambria Math" panose="02040503050406030204" pitchFamily="18" charset="0"/>
                                      <a:ea typeface="Cambria Math" panose="02040503050406030204" pitchFamily="18" charset="0"/>
                                    </a:rPr>
                                    <m:t>𝑟𝑖𝑚𝑒𝑛𝑡𝑎𝑙</m:t>
                                  </m:r>
                                </m:sub>
                              </m:sSub>
                            </m:e>
                          </m:d>
                        </m:num>
                        <m:den>
                          <m:sSub>
                            <m:sSubPr>
                              <m:ctrlPr>
                                <a:rPr lang="fr-HT" sz="2400" i="1" smtClean="0">
                                  <a:latin typeface="Cambria Math"/>
                                  <a:ea typeface="Cambria Math" panose="02040503050406030204" pitchFamily="18" charset="0"/>
                                </a:rPr>
                              </m:ctrlPr>
                            </m:sSubPr>
                            <m:e>
                              <m:r>
                                <a:rPr lang="fr-HT" sz="2400" b="0" i="1" smtClean="0">
                                  <a:latin typeface="Cambria Math" panose="02040503050406030204" pitchFamily="18" charset="0"/>
                                  <a:ea typeface="Cambria Math" panose="02040503050406030204" pitchFamily="18" charset="0"/>
                                </a:rPr>
                                <m:t>𝑥</m:t>
                              </m:r>
                            </m:e>
                            <m:sub>
                              <m:r>
                                <a:rPr lang="fr-HT" sz="2400" b="0" i="1" smtClean="0">
                                  <a:latin typeface="Cambria Math" panose="02040503050406030204" pitchFamily="18" charset="0"/>
                                  <a:ea typeface="Cambria Math" panose="02040503050406030204" pitchFamily="18" charset="0"/>
                                </a:rPr>
                                <m:t>𝑡h</m:t>
                              </m:r>
                              <m:r>
                                <m:rPr>
                                  <m:nor/>
                                </m:rPr>
                                <a:rPr lang="fr-HT" sz="2400" i="1" dirty="0"/>
                                <m:t>é</m:t>
                              </m:r>
                              <m:r>
                                <a:rPr lang="fr-HT" sz="2400" b="0" i="1" smtClean="0">
                                  <a:latin typeface="Cambria Math" panose="02040503050406030204" pitchFamily="18" charset="0"/>
                                  <a:ea typeface="Cambria Math" panose="02040503050406030204" pitchFamily="18" charset="0"/>
                                </a:rPr>
                                <m:t>𝑜𝑟𝑖𝑞𝑢𝑒</m:t>
                              </m:r>
                            </m:sub>
                          </m:sSub>
                        </m:den>
                      </m:f>
                    </m:oMath>
                  </m:oMathPara>
                </a14:m>
                <a:endParaRPr lang="fr-HT" sz="2400" dirty="0"/>
              </a:p>
            </p:txBody>
          </p:sp>
        </mc:Choice>
        <mc:Fallback xmlns="">
          <p:sp>
            <p:nvSpPr>
              <p:cNvPr id="10" name="ZoneTexte 9">
                <a:extLst>
                  <a:ext uri="{FF2B5EF4-FFF2-40B4-BE49-F238E27FC236}">
                    <a16:creationId xmlns:a16="http://schemas.microsoft.com/office/drawing/2014/main" id="{5069AC0C-19BF-48EB-BE0C-97B4C2094DA7}"/>
                  </a:ext>
                </a:extLst>
              </p:cNvPr>
              <p:cNvSpPr txBox="1">
                <a:spLocks noRot="1" noChangeAspect="1" noMove="1" noResize="1" noEditPoints="1" noAdjustHandles="1" noChangeArrowheads="1" noChangeShapeType="1" noTextEdit="1"/>
              </p:cNvSpPr>
              <p:nvPr/>
            </p:nvSpPr>
            <p:spPr>
              <a:xfrm>
                <a:off x="-1" y="5261113"/>
                <a:ext cx="9144000" cy="1124282"/>
              </a:xfrm>
              <a:prstGeom prst="rect">
                <a:avLst/>
              </a:prstGeom>
              <a:blipFill>
                <a:blip r:embed="rId4"/>
                <a:stretch>
                  <a:fillRect/>
                </a:stretch>
              </a:blipFill>
            </p:spPr>
            <p:txBody>
              <a:bodyPr/>
              <a:lstStyle/>
              <a:p>
                <a:r>
                  <a:rPr lang="fr-HT">
                    <a:noFill/>
                  </a:rPr>
                  <a:t> </a:t>
                </a:r>
              </a:p>
            </p:txBody>
          </p:sp>
        </mc:Fallback>
      </mc:AlternateContent>
    </p:spTree>
    <p:extLst>
      <p:ext uri="{BB962C8B-B14F-4D97-AF65-F5344CB8AC3E}">
        <p14:creationId xmlns:p14="http://schemas.microsoft.com/office/powerpoint/2010/main" val="2599609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1C12D396-1E10-4DCC-A75F-63DADF4DA21B}"/>
              </a:ext>
            </a:extLst>
          </p:cNvPr>
          <p:cNvSpPr/>
          <p:nvPr/>
        </p:nvSpPr>
        <p:spPr>
          <a:xfrm>
            <a:off x="0" y="30353"/>
            <a:ext cx="9144000" cy="523220"/>
          </a:xfrm>
          <a:prstGeom prst="rect">
            <a:avLst/>
          </a:prstGeom>
          <a:solidFill>
            <a:schemeClr val="accent4">
              <a:lumMod val="40000"/>
              <a:lumOff val="60000"/>
            </a:schemeClr>
          </a:solidFill>
        </p:spPr>
        <p:txBody>
          <a:bodyPr wrap="square">
            <a:spAutoFit/>
          </a:bodyPr>
          <a:lstStyle/>
          <a:p>
            <a:r>
              <a:rPr lang="fr-HT" sz="2800" b="1" dirty="0">
                <a:latin typeface="Times-Roman"/>
              </a:rPr>
              <a:t>Partie I : Mesures et Incertitudes</a:t>
            </a:r>
            <a:endParaRPr lang="fr-HT" sz="2800" b="1" dirty="0"/>
          </a:p>
        </p:txBody>
      </p:sp>
      <p:sp>
        <p:nvSpPr>
          <p:cNvPr id="4" name="Espace réservé du numéro de diapositive 3">
            <a:extLst>
              <a:ext uri="{FF2B5EF4-FFF2-40B4-BE49-F238E27FC236}">
                <a16:creationId xmlns:a16="http://schemas.microsoft.com/office/drawing/2014/main" xmlns="" id="{F5608C3B-AB86-4AB8-BE31-AEECEC94079D}"/>
              </a:ext>
            </a:extLst>
          </p:cNvPr>
          <p:cNvSpPr>
            <a:spLocks noGrp="1"/>
          </p:cNvSpPr>
          <p:nvPr>
            <p:ph type="sldNum" sz="quarter" idx="12"/>
          </p:nvPr>
        </p:nvSpPr>
        <p:spPr/>
        <p:txBody>
          <a:bodyPr/>
          <a:lstStyle/>
          <a:p>
            <a:fld id="{26AFC765-89FB-4D41-BDFD-C70A1B65DB29}" type="slidenum">
              <a:rPr lang="fr-HT" smtClean="0"/>
              <a:t>18</a:t>
            </a:fld>
            <a:endParaRPr lang="fr-HT" dirty="0"/>
          </a:p>
        </p:txBody>
      </p:sp>
      <p:sp>
        <p:nvSpPr>
          <p:cNvPr id="5" name="Rectangle 4">
            <a:extLst>
              <a:ext uri="{FF2B5EF4-FFF2-40B4-BE49-F238E27FC236}">
                <a16:creationId xmlns:a16="http://schemas.microsoft.com/office/drawing/2014/main" xmlns="" id="{D6632366-56A1-46EF-BDE2-59DB7A94F310}"/>
              </a:ext>
            </a:extLst>
          </p:cNvPr>
          <p:cNvSpPr/>
          <p:nvPr/>
        </p:nvSpPr>
        <p:spPr>
          <a:xfrm>
            <a:off x="0" y="553573"/>
            <a:ext cx="7566991" cy="461665"/>
          </a:xfrm>
          <a:prstGeom prst="rect">
            <a:avLst/>
          </a:prstGeom>
        </p:spPr>
        <p:txBody>
          <a:bodyPr wrap="square">
            <a:spAutoFit/>
          </a:bodyPr>
          <a:lstStyle/>
          <a:p>
            <a:pPr marL="342900" indent="-342900">
              <a:buFont typeface="Wingdings" panose="05000000000000000000" pitchFamily="2" charset="2"/>
              <a:buChar char="v"/>
            </a:pPr>
            <a:r>
              <a:rPr lang="fr-HT" sz="2400" b="1" dirty="0">
                <a:latin typeface="Calibri" panose="020F0502020204030204" pitchFamily="34" charset="0"/>
              </a:rPr>
              <a:t>Origine des incertitudes</a:t>
            </a:r>
            <a:endParaRPr lang="fr-HT" sz="2400" b="1" dirty="0"/>
          </a:p>
        </p:txBody>
      </p:sp>
      <p:sp>
        <p:nvSpPr>
          <p:cNvPr id="11" name="Rectangle 10">
            <a:extLst>
              <a:ext uri="{FF2B5EF4-FFF2-40B4-BE49-F238E27FC236}">
                <a16:creationId xmlns:a16="http://schemas.microsoft.com/office/drawing/2014/main" xmlns="" id="{81D793BD-66F5-44A6-8607-CCD3C1C6977F}"/>
              </a:ext>
            </a:extLst>
          </p:cNvPr>
          <p:cNvSpPr/>
          <p:nvPr/>
        </p:nvSpPr>
        <p:spPr>
          <a:xfrm>
            <a:off x="0" y="1011738"/>
            <a:ext cx="9144000" cy="461665"/>
          </a:xfrm>
          <a:prstGeom prst="rect">
            <a:avLst/>
          </a:prstGeom>
        </p:spPr>
        <p:txBody>
          <a:bodyPr wrap="square">
            <a:spAutoFit/>
          </a:bodyPr>
          <a:lstStyle/>
          <a:p>
            <a:pPr marL="342900" indent="-342900">
              <a:buFont typeface="Wingdings" panose="05000000000000000000" pitchFamily="2" charset="2"/>
              <a:buChar char="Ø"/>
            </a:pPr>
            <a:r>
              <a:rPr lang="fr-HT" sz="2400" b="1" dirty="0">
                <a:latin typeface="Calibri" panose="020F0502020204030204" pitchFamily="34" charset="0"/>
              </a:rPr>
              <a:t>Incertitudes dues aux constructions des appareils</a:t>
            </a:r>
            <a:endParaRPr lang="fr-HT" sz="2400" b="1" dirty="0"/>
          </a:p>
        </p:txBody>
      </p:sp>
      <p:sp>
        <p:nvSpPr>
          <p:cNvPr id="6" name="Rectangle 5">
            <a:extLst>
              <a:ext uri="{FF2B5EF4-FFF2-40B4-BE49-F238E27FC236}">
                <a16:creationId xmlns:a16="http://schemas.microsoft.com/office/drawing/2014/main" xmlns="" id="{F2535CA7-5E5A-4628-8DCC-FE4C860620F3}"/>
              </a:ext>
            </a:extLst>
          </p:cNvPr>
          <p:cNvSpPr/>
          <p:nvPr/>
        </p:nvSpPr>
        <p:spPr>
          <a:xfrm>
            <a:off x="-2" y="1396302"/>
            <a:ext cx="9144000" cy="830997"/>
          </a:xfrm>
          <a:prstGeom prst="rect">
            <a:avLst/>
          </a:prstGeom>
        </p:spPr>
        <p:txBody>
          <a:bodyPr wrap="square">
            <a:spAutoFit/>
          </a:bodyPr>
          <a:lstStyle/>
          <a:p>
            <a:r>
              <a:rPr lang="fr-HT" sz="2400" dirty="0"/>
              <a:t>Aucun appareil n’est parfait ! Les résultats qu’il donne sont assortis d’une erreur. Il y a deux cas :</a:t>
            </a:r>
          </a:p>
        </p:txBody>
      </p:sp>
      <p:sp>
        <p:nvSpPr>
          <p:cNvPr id="12" name="Rectangle 11">
            <a:extLst>
              <a:ext uri="{FF2B5EF4-FFF2-40B4-BE49-F238E27FC236}">
                <a16:creationId xmlns:a16="http://schemas.microsoft.com/office/drawing/2014/main" xmlns="" id="{354C613F-B3DD-4BEE-BE39-A11D1507381A}"/>
              </a:ext>
            </a:extLst>
          </p:cNvPr>
          <p:cNvSpPr/>
          <p:nvPr/>
        </p:nvSpPr>
        <p:spPr>
          <a:xfrm>
            <a:off x="-1" y="2275983"/>
            <a:ext cx="9143999" cy="1938992"/>
          </a:xfrm>
          <a:prstGeom prst="rect">
            <a:avLst/>
          </a:prstGeom>
        </p:spPr>
        <p:txBody>
          <a:bodyPr wrap="square">
            <a:spAutoFit/>
          </a:bodyPr>
          <a:lstStyle/>
          <a:p>
            <a:pPr marL="342900" indent="-342900" algn="just">
              <a:buFont typeface="Wingdings" panose="05000000000000000000" pitchFamily="2" charset="2"/>
              <a:buChar char="q"/>
            </a:pPr>
            <a:r>
              <a:rPr lang="fr-HT" sz="2400" dirty="0"/>
              <a:t>Pour les appareils analogiques, s’il figure sur l’appareil un chiffre </a:t>
            </a:r>
            <a:r>
              <a:rPr lang="fr-HT" sz="2400" b="1" i="1" dirty="0"/>
              <a:t>C</a:t>
            </a:r>
            <a:r>
              <a:rPr lang="fr-HT" sz="2400" dirty="0"/>
              <a:t> appelé classe, alors l’incertitude de construction est égale à C% du calibre utilise ; s’il ne figure rien, on se reporte à la notice de l’appareil</a:t>
            </a:r>
          </a:p>
          <a:p>
            <a:pPr algn="just"/>
            <a:r>
              <a:rPr lang="fr-HT" sz="2400" dirty="0"/>
              <a:t>(ou bien on prend par défaut une classe de 2).</a:t>
            </a:r>
          </a:p>
        </p:txBody>
      </p:sp>
      <p:sp>
        <p:nvSpPr>
          <p:cNvPr id="2" name="Rectangle 1"/>
          <p:cNvSpPr/>
          <p:nvPr/>
        </p:nvSpPr>
        <p:spPr>
          <a:xfrm>
            <a:off x="115910" y="4095481"/>
            <a:ext cx="4185634" cy="400110"/>
          </a:xfrm>
          <a:prstGeom prst="rect">
            <a:avLst/>
          </a:prstGeom>
        </p:spPr>
        <p:txBody>
          <a:bodyPr wrap="square">
            <a:spAutoFit/>
          </a:bodyPr>
          <a:lstStyle/>
          <a:p>
            <a:pPr marL="342900" indent="-342900">
              <a:buFont typeface="Wingdings" panose="05000000000000000000" pitchFamily="2" charset="2"/>
              <a:buChar char="Ø"/>
            </a:pPr>
            <a:r>
              <a:rPr lang="fr-HT" sz="2000" b="1" dirty="0">
                <a:latin typeface="Calibri" panose="020F0502020204030204" pitchFamily="34" charset="0"/>
              </a:rPr>
              <a:t>Incertitudes de lecture</a:t>
            </a:r>
            <a:endParaRPr lang="fr-HT" sz="2000" b="1" dirty="0"/>
          </a:p>
        </p:txBody>
      </p:sp>
      <p:sp>
        <p:nvSpPr>
          <p:cNvPr id="7" name="Rectangle 6"/>
          <p:cNvSpPr/>
          <p:nvPr/>
        </p:nvSpPr>
        <p:spPr>
          <a:xfrm>
            <a:off x="115910" y="4520001"/>
            <a:ext cx="9028089" cy="2308324"/>
          </a:xfrm>
          <a:prstGeom prst="rect">
            <a:avLst/>
          </a:prstGeom>
        </p:spPr>
        <p:txBody>
          <a:bodyPr wrap="square">
            <a:spAutoFit/>
          </a:bodyPr>
          <a:lstStyle/>
          <a:p>
            <a:pPr algn="just"/>
            <a:r>
              <a:rPr lang="fr-HT" sz="2400" dirty="0"/>
              <a:t>L’incertitude de lecture sur une échelle graduée (distance, angle. . . ) est estimable en la prenant égale à la valeur correspondant à une demi-graduation (sensibilité de l’œil  moyen</a:t>
            </a:r>
            <a:r>
              <a:rPr lang="fr-HT" sz="2400" smtClean="0"/>
              <a:t>). </a:t>
            </a:r>
            <a:endParaRPr lang="fr-HT" sz="2400" dirty="0" smtClean="0"/>
          </a:p>
          <a:p>
            <a:pPr algn="just"/>
            <a:endParaRPr lang="fr-HT" sz="2400" dirty="0" smtClean="0"/>
          </a:p>
          <a:p>
            <a:pPr algn="just"/>
            <a:r>
              <a:rPr lang="fr-HT" sz="2400" dirty="0" smtClean="0"/>
              <a:t> </a:t>
            </a:r>
          </a:p>
          <a:p>
            <a:pPr algn="just"/>
            <a:endParaRPr lang="fr-HT" sz="2400" dirty="0"/>
          </a:p>
        </p:txBody>
      </p:sp>
    </p:spTree>
    <p:extLst>
      <p:ext uri="{BB962C8B-B14F-4D97-AF65-F5344CB8AC3E}">
        <p14:creationId xmlns:p14="http://schemas.microsoft.com/office/powerpoint/2010/main" val="1084762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6AFC765-89FB-4D41-BDFD-C70A1B65DB29}" type="slidenum">
              <a:rPr lang="fr-HT" smtClean="0"/>
              <a:t>19</a:t>
            </a:fld>
            <a:endParaRPr lang="fr-HT" dirty="0"/>
          </a:p>
        </p:txBody>
      </p:sp>
      <p:sp>
        <p:nvSpPr>
          <p:cNvPr id="3" name="Title 1"/>
          <p:cNvSpPr txBox="1">
            <a:spLocks/>
          </p:cNvSpPr>
          <p:nvPr/>
        </p:nvSpPr>
        <p:spPr>
          <a:xfrm>
            <a:off x="467544" y="260648"/>
            <a:ext cx="8208912" cy="504056"/>
          </a:xfrm>
          <a:prstGeom prst="rect">
            <a:avLst/>
          </a:prstGeom>
          <a:solidFill>
            <a:schemeClr val="tx2">
              <a:lumMod val="20000"/>
              <a:lumOff val="80000"/>
            </a:schemeClr>
          </a:solidFill>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smtClean="0">
                <a:latin typeface="Times New Roman" panose="02020603050405020304" pitchFamily="18" charset="0"/>
                <a:cs typeface="Times New Roman" panose="02020603050405020304" pitchFamily="18" charset="0"/>
              </a:rPr>
              <a:t>Exercices</a:t>
            </a:r>
            <a:endParaRPr lang="fr-FR" sz="3200" dirty="0">
              <a:latin typeface="Times New Roman" panose="02020603050405020304" pitchFamily="18" charset="0"/>
              <a:cs typeface="Times New Roman" panose="02020603050405020304" pitchFamily="18" charset="0"/>
            </a:endParaRPr>
          </a:p>
        </p:txBody>
      </p:sp>
      <p:sp>
        <p:nvSpPr>
          <p:cNvPr id="4" name="Content Placeholder 2"/>
          <p:cNvSpPr txBox="1">
            <a:spLocks/>
          </p:cNvSpPr>
          <p:nvPr/>
        </p:nvSpPr>
        <p:spPr>
          <a:xfrm>
            <a:off x="457200" y="836712"/>
            <a:ext cx="8480738" cy="571863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000" b="1" dirty="0" smtClean="0">
                <a:solidFill>
                  <a:srgbClr val="FF0000"/>
                </a:solidFill>
                <a:latin typeface="Times New Roman" panose="02020603050405020304" pitchFamily="18" charset="0"/>
                <a:cs typeface="Times New Roman" panose="02020603050405020304" pitchFamily="18" charset="0"/>
              </a:rPr>
              <a:t>Exercice </a:t>
            </a:r>
            <a:r>
              <a:rPr lang="fr-FR" sz="2000" b="1" dirty="0">
                <a:solidFill>
                  <a:srgbClr val="FF0000"/>
                </a:solidFill>
                <a:latin typeface="Times New Roman" panose="02020603050405020304" pitchFamily="18" charset="0"/>
                <a:cs typeface="Times New Roman" panose="02020603050405020304" pitchFamily="18" charset="0"/>
              </a:rPr>
              <a:t>1</a:t>
            </a:r>
            <a:r>
              <a:rPr lang="fr-FR" sz="2000" b="1" dirty="0" smtClean="0">
                <a:solidFill>
                  <a:srgbClr val="FF0000"/>
                </a:solidFill>
                <a:latin typeface="Times New Roman" panose="02020603050405020304" pitchFamily="18" charset="0"/>
                <a:cs typeface="Times New Roman" panose="02020603050405020304" pitchFamily="18" charset="0"/>
              </a:rPr>
              <a:t>. </a:t>
            </a:r>
          </a:p>
          <a:p>
            <a:pPr marL="0" indent="0" algn="just">
              <a:buFont typeface="Arial" panose="020B0604020202020204" pitchFamily="34" charset="0"/>
              <a:buNone/>
            </a:pPr>
            <a:r>
              <a:rPr lang="fr-FR" sz="2000" dirty="0" smtClean="0">
                <a:latin typeface="Times New Roman" panose="02020603050405020304" pitchFamily="18" charset="0"/>
                <a:cs typeface="Times New Roman" panose="02020603050405020304" pitchFamily="18" charset="0"/>
              </a:rPr>
              <a:t>1- Utiliser la dimension des grandeurs fondamentales pour trouver la dimension des grandeurs physiques suivantes. </a:t>
            </a:r>
          </a:p>
          <a:p>
            <a:pPr marL="0" indent="0">
              <a:buFont typeface="Arial" panose="020B0604020202020204" pitchFamily="34" charset="0"/>
              <a:buNone/>
            </a:pPr>
            <a:r>
              <a:rPr lang="fr-FR" sz="2000" dirty="0" smtClean="0">
                <a:latin typeface="Times New Roman" panose="02020603050405020304" pitchFamily="18" charset="0"/>
                <a:cs typeface="Times New Roman" panose="02020603050405020304" pitchFamily="18" charset="0"/>
              </a:rPr>
              <a:t>(a) La vitesse d’un mobile (b) L’aire d’un rectangle (c) Le volume de la salle de cours </a:t>
            </a:r>
          </a:p>
          <a:p>
            <a:pPr marL="0" indent="0">
              <a:buFont typeface="Arial" panose="020B0604020202020204" pitchFamily="34" charset="0"/>
              <a:buNone/>
            </a:pPr>
            <a:r>
              <a:rPr lang="fr-FR" sz="2000" dirty="0" smtClean="0">
                <a:latin typeface="Times New Roman" panose="02020603050405020304" pitchFamily="18" charset="0"/>
                <a:cs typeface="Times New Roman" panose="02020603050405020304" pitchFamily="18" charset="0"/>
              </a:rPr>
              <a:t>(d) La masse volumique d’un objet </a:t>
            </a:r>
          </a:p>
          <a:p>
            <a:pPr marL="0" indent="0">
              <a:buFont typeface="Arial" panose="020B0604020202020204" pitchFamily="34" charset="0"/>
              <a:buNone/>
            </a:pPr>
            <a:r>
              <a:rPr lang="fr-FR" sz="2000" dirty="0" smtClean="0">
                <a:latin typeface="Times New Roman" panose="02020603050405020304" pitchFamily="18" charset="0"/>
                <a:cs typeface="Times New Roman" panose="02020603050405020304" pitchFamily="18" charset="0"/>
              </a:rPr>
              <a:t>(e) L’accélération d’une particule en mouvement uniformément accéléré </a:t>
            </a:r>
          </a:p>
          <a:p>
            <a:pPr marL="0" indent="0">
              <a:buFont typeface="Arial" panose="020B0604020202020204" pitchFamily="34" charset="0"/>
              <a:buNone/>
            </a:pPr>
            <a:r>
              <a:rPr lang="fr-FR" sz="2000" dirty="0" smtClean="0">
                <a:latin typeface="Times New Roman" panose="02020603050405020304" pitchFamily="18" charset="0"/>
                <a:cs typeface="Times New Roman" panose="02020603050405020304" pitchFamily="18" charset="0"/>
              </a:rPr>
              <a:t>2- L’expression mathématique de la seconde loi de Newton est donnée par la relation suivante:  F=</a:t>
            </a:r>
            <a:r>
              <a:rPr lang="fr-FR" sz="2000" dirty="0" err="1" smtClean="0">
                <a:latin typeface="Times New Roman" panose="02020603050405020304" pitchFamily="18" charset="0"/>
                <a:cs typeface="Times New Roman" panose="02020603050405020304" pitchFamily="18" charset="0"/>
              </a:rPr>
              <a:t>m.a</a:t>
            </a:r>
            <a:r>
              <a:rPr lang="fr-FR" sz="2000" dirty="0" smtClean="0">
                <a:latin typeface="Times New Roman" panose="02020603050405020304" pitchFamily="18" charset="0"/>
                <a:cs typeface="Times New Roman" panose="02020603050405020304" pitchFamily="18" charset="0"/>
              </a:rPr>
              <a:t>, avec m la masse en, a l’accélération en          et la force en Newton. Quelle est donc la dimension de la Force ? Exprimer dans le système international le Newton.</a:t>
            </a:r>
          </a:p>
          <a:p>
            <a:pPr marL="0" indent="0">
              <a:buNone/>
            </a:pPr>
            <a:r>
              <a:rPr lang="fr-FR" sz="2000" b="1" dirty="0">
                <a:solidFill>
                  <a:srgbClr val="FF0000"/>
                </a:solidFill>
                <a:latin typeface="Times New Roman" panose="02020603050405020304" pitchFamily="18" charset="0"/>
                <a:cs typeface="Times New Roman" panose="02020603050405020304" pitchFamily="18" charset="0"/>
              </a:rPr>
              <a:t>Exercice 2 </a:t>
            </a:r>
            <a:endParaRPr lang="fr-FR" sz="2000" dirty="0">
              <a:solidFill>
                <a:srgbClr val="FF0000"/>
              </a:solidFill>
              <a:latin typeface="Times New Roman" panose="02020603050405020304" pitchFamily="18" charset="0"/>
              <a:cs typeface="Times New Roman" panose="02020603050405020304" pitchFamily="18" charset="0"/>
            </a:endParaRPr>
          </a:p>
          <a:p>
            <a:pPr marL="0" indent="0">
              <a:buNone/>
            </a:pPr>
            <a:r>
              <a:rPr lang="fr-FR" sz="2000" b="1" dirty="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Pour mesurer l’épaisseur d’un cylindre creux, vous mesurez le diamètre intérieur </a:t>
            </a:r>
            <a:r>
              <a:rPr lang="fr-FR" sz="2000" i="1" dirty="0">
                <a:latin typeface="Times New Roman" panose="02020603050405020304" pitchFamily="18" charset="0"/>
                <a:cs typeface="Times New Roman" panose="02020603050405020304" pitchFamily="18" charset="0"/>
              </a:rPr>
              <a:t>D</a:t>
            </a:r>
            <a:r>
              <a:rPr lang="fr-FR" sz="2000" dirty="0">
                <a:latin typeface="Times New Roman" panose="02020603050405020304" pitchFamily="18" charset="0"/>
                <a:cs typeface="Times New Roman" panose="02020603050405020304" pitchFamily="18" charset="0"/>
              </a:rPr>
              <a:t>1 et le diamètre extérieur </a:t>
            </a:r>
            <a:r>
              <a:rPr lang="fr-FR" sz="2000" i="1" dirty="0">
                <a:latin typeface="Times New Roman" panose="02020603050405020304" pitchFamily="18" charset="0"/>
                <a:cs typeface="Times New Roman" panose="02020603050405020304" pitchFamily="18" charset="0"/>
              </a:rPr>
              <a:t>D</a:t>
            </a:r>
            <a:r>
              <a:rPr lang="fr-FR" sz="2000" dirty="0">
                <a:latin typeface="Times New Roman" panose="02020603050405020304" pitchFamily="18" charset="0"/>
                <a:cs typeface="Times New Roman" panose="02020603050405020304" pitchFamily="18" charset="0"/>
              </a:rPr>
              <a:t>2</a:t>
            </a:r>
            <a:r>
              <a:rPr lang="fr-FR" sz="2000" i="1" dirty="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et vous trouvez 𝐷1=  19,5 ±  0,1 mm et 𝐷</a:t>
            </a:r>
            <a:r>
              <a:rPr lang="fr-FR" sz="2000" i="1" baseline="-25000" dirty="0">
                <a:latin typeface="Times New Roman" panose="02020603050405020304" pitchFamily="18" charset="0"/>
                <a:cs typeface="Times New Roman" panose="02020603050405020304" pitchFamily="18" charset="0"/>
              </a:rPr>
              <a:t>2</a:t>
            </a:r>
            <a:r>
              <a:rPr lang="fr-FR" sz="2000" dirty="0">
                <a:latin typeface="Times New Roman" panose="02020603050405020304" pitchFamily="18" charset="0"/>
                <a:cs typeface="Times New Roman" panose="02020603050405020304" pitchFamily="18" charset="0"/>
              </a:rPr>
              <a:t>=  26,7 ±  0,1 𝑚𝑚. Donnez le résultat de la mesure et sa précision</a:t>
            </a:r>
            <a:r>
              <a:rPr lang="fr-FR" sz="2000" i="1" dirty="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(incertitude relative).</a:t>
            </a:r>
          </a:p>
          <a:p>
            <a:pPr marL="0" indent="0">
              <a:buFont typeface="Arial" panose="020B0604020202020204" pitchFamily="34" charset="0"/>
              <a:buNone/>
            </a:pP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3645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6AFC765-89FB-4D41-BDFD-C70A1B65DB29}" type="slidenum">
              <a:rPr lang="fr-HT" smtClean="0"/>
              <a:t>20</a:t>
            </a:fld>
            <a:endParaRPr lang="fr-HT" dirty="0"/>
          </a:p>
        </p:txBody>
      </p:sp>
      <p:sp>
        <p:nvSpPr>
          <p:cNvPr id="3" name="Rectangle 2"/>
          <p:cNvSpPr/>
          <p:nvPr/>
        </p:nvSpPr>
        <p:spPr>
          <a:xfrm>
            <a:off x="399244" y="899348"/>
            <a:ext cx="8332631" cy="3477875"/>
          </a:xfrm>
          <a:prstGeom prst="rect">
            <a:avLst/>
          </a:prstGeom>
        </p:spPr>
        <p:txBody>
          <a:bodyPr wrap="square">
            <a:spAutoFit/>
          </a:bodyPr>
          <a:lstStyle/>
          <a:p>
            <a:r>
              <a:rPr lang="fr-FR" sz="2000" b="1" dirty="0" smtClean="0">
                <a:solidFill>
                  <a:srgbClr val="FF0000"/>
                </a:solidFill>
                <a:latin typeface="Times New Roman" panose="02020603050405020304" pitchFamily="18" charset="0"/>
                <a:cs typeface="Times New Roman" panose="02020603050405020304" pitchFamily="18" charset="0"/>
              </a:rPr>
              <a:t>Exercice 3</a:t>
            </a:r>
            <a:endParaRPr lang="fr-FR" sz="2000" dirty="0">
              <a:solidFill>
                <a:srgbClr val="FF0000"/>
              </a:solidFill>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Calculez l’aire </a:t>
            </a:r>
            <a:r>
              <a:rPr lang="fr-FR" sz="2000" i="1" dirty="0">
                <a:latin typeface="Times New Roman" panose="02020603050405020304" pitchFamily="18" charset="0"/>
                <a:cs typeface="Times New Roman" panose="02020603050405020304" pitchFamily="18" charset="0"/>
              </a:rPr>
              <a:t>S </a:t>
            </a:r>
            <a:r>
              <a:rPr lang="fr-FR" sz="2000" dirty="0">
                <a:latin typeface="Times New Roman" panose="02020603050405020304" pitchFamily="18" charset="0"/>
                <a:cs typeface="Times New Roman" panose="02020603050405020304" pitchFamily="18" charset="0"/>
              </a:rPr>
              <a:t>d’un cercle dont le rayon vaut 𝑅 =  5,21 ±  0,1 cm. Quelle est la précision (du résultat obtenu</a:t>
            </a:r>
            <a:r>
              <a:rPr lang="fr-FR" sz="2000" dirty="0" smtClean="0">
                <a:latin typeface="Times New Roman" panose="02020603050405020304" pitchFamily="18" charset="0"/>
                <a:cs typeface="Times New Roman" panose="02020603050405020304" pitchFamily="18" charset="0"/>
              </a:rPr>
              <a:t>?</a:t>
            </a:r>
          </a:p>
          <a:p>
            <a:endParaRPr lang="fr-FR" sz="2000" dirty="0">
              <a:latin typeface="Times New Roman" panose="02020603050405020304" pitchFamily="18" charset="0"/>
              <a:cs typeface="Times New Roman" panose="02020603050405020304" pitchFamily="18" charset="0"/>
            </a:endParaRPr>
          </a:p>
          <a:p>
            <a:r>
              <a:rPr lang="fr-FR" sz="2000" b="1" dirty="0">
                <a:solidFill>
                  <a:srgbClr val="FF0000"/>
                </a:solidFill>
                <a:latin typeface="Times New Roman" panose="02020603050405020304" pitchFamily="18" charset="0"/>
                <a:cs typeface="Times New Roman" panose="02020603050405020304" pitchFamily="18" charset="0"/>
              </a:rPr>
              <a:t>Exercice </a:t>
            </a:r>
            <a:r>
              <a:rPr lang="fr-FR" sz="2000" b="1" dirty="0" smtClean="0">
                <a:solidFill>
                  <a:srgbClr val="FF0000"/>
                </a:solidFill>
                <a:latin typeface="Times New Roman" panose="02020603050405020304" pitchFamily="18" charset="0"/>
                <a:cs typeface="Times New Roman" panose="02020603050405020304" pitchFamily="18" charset="0"/>
              </a:rPr>
              <a:t>4 </a:t>
            </a:r>
            <a:endParaRPr lang="fr-FR" sz="2000" dirty="0">
              <a:solidFill>
                <a:srgbClr val="FF0000"/>
              </a:solidFill>
              <a:latin typeface="Times New Roman" panose="02020603050405020304" pitchFamily="18" charset="0"/>
              <a:cs typeface="Times New Roman" panose="02020603050405020304" pitchFamily="18" charset="0"/>
            </a:endParaRPr>
          </a:p>
          <a:p>
            <a:r>
              <a:rPr lang="fr-FR" sz="2000" dirty="0">
                <a:latin typeface="Times New Roman" panose="02020603050405020304" pitchFamily="18" charset="0"/>
                <a:cs typeface="Times New Roman" panose="02020603050405020304" pitchFamily="18" charset="0"/>
              </a:rPr>
              <a:t> Vous mesurez la longueur, la largeur et la hauteur d’une salle et vous obtenez les valeurs suivantes : longueur 10,2 ±  0,1 𝑚 largeur 7,70 ±  0,08 𝑚 hauteur 3,17 ±  0,04 𝑚 Calculez et donnez les résultats avec leurs incertitudes absolues :  </a:t>
            </a:r>
          </a:p>
          <a:p>
            <a:r>
              <a:rPr lang="fr-FR" sz="2000" b="1" dirty="0">
                <a:latin typeface="Times New Roman" panose="02020603050405020304" pitchFamily="18" charset="0"/>
                <a:cs typeface="Times New Roman" panose="02020603050405020304" pitchFamily="18" charset="0"/>
              </a:rPr>
              <a:t>a- </a:t>
            </a:r>
            <a:r>
              <a:rPr lang="fr-FR" sz="2000" dirty="0">
                <a:latin typeface="Times New Roman" panose="02020603050405020304" pitchFamily="18" charset="0"/>
                <a:cs typeface="Times New Roman" panose="02020603050405020304" pitchFamily="18" charset="0"/>
              </a:rPr>
              <a:t>le périmètre</a:t>
            </a:r>
          </a:p>
          <a:p>
            <a:r>
              <a:rPr lang="fr-FR" sz="2000" b="1" dirty="0">
                <a:latin typeface="Times New Roman" panose="02020603050405020304" pitchFamily="18" charset="0"/>
                <a:cs typeface="Times New Roman" panose="02020603050405020304" pitchFamily="18" charset="0"/>
              </a:rPr>
              <a:t>b- </a:t>
            </a:r>
            <a:r>
              <a:rPr lang="fr-FR" sz="2000" dirty="0">
                <a:latin typeface="Times New Roman" panose="02020603050405020304" pitchFamily="18" charset="0"/>
                <a:cs typeface="Times New Roman" panose="02020603050405020304" pitchFamily="18" charset="0"/>
              </a:rPr>
              <a:t>la surface du sol</a:t>
            </a:r>
          </a:p>
          <a:p>
            <a:r>
              <a:rPr lang="fr-FR" sz="2000" b="1" dirty="0">
                <a:latin typeface="Times New Roman" panose="02020603050405020304" pitchFamily="18" charset="0"/>
                <a:cs typeface="Times New Roman" panose="02020603050405020304" pitchFamily="18" charset="0"/>
              </a:rPr>
              <a:t>c- </a:t>
            </a:r>
            <a:r>
              <a:rPr lang="fr-FR" sz="2000" dirty="0">
                <a:latin typeface="Times New Roman" panose="02020603050405020304" pitchFamily="18" charset="0"/>
                <a:cs typeface="Times New Roman" panose="02020603050405020304" pitchFamily="18" charset="0"/>
              </a:rPr>
              <a:t>le volume de la salle.</a:t>
            </a:r>
          </a:p>
        </p:txBody>
      </p:sp>
      <p:sp>
        <p:nvSpPr>
          <p:cNvPr id="4" name="Title 1"/>
          <p:cNvSpPr txBox="1">
            <a:spLocks/>
          </p:cNvSpPr>
          <p:nvPr/>
        </p:nvSpPr>
        <p:spPr>
          <a:xfrm>
            <a:off x="467544" y="260648"/>
            <a:ext cx="8208912" cy="504056"/>
          </a:xfrm>
          <a:prstGeom prst="rect">
            <a:avLst/>
          </a:prstGeom>
          <a:solidFill>
            <a:schemeClr val="tx2">
              <a:lumMod val="20000"/>
              <a:lumOff val="80000"/>
            </a:schemeClr>
          </a:solidFill>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dirty="0" smtClean="0">
                <a:latin typeface="Times New Roman" panose="02020603050405020304" pitchFamily="18" charset="0"/>
                <a:cs typeface="Times New Roman" panose="02020603050405020304" pitchFamily="18" charset="0"/>
              </a:rPr>
              <a:t>Exercices</a:t>
            </a:r>
            <a:endParaRPr lang="fr-F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60475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26AFC765-89FB-4D41-BDFD-C70A1B65DB29}" type="slidenum">
              <a:rPr lang="fr-HT" smtClean="0"/>
              <a:t>21</a:t>
            </a:fld>
            <a:endParaRPr lang="fr-HT" dirty="0"/>
          </a:p>
        </p:txBody>
      </p:sp>
      <p:sp>
        <p:nvSpPr>
          <p:cNvPr id="3" name="TextBox 2"/>
          <p:cNvSpPr txBox="1"/>
          <p:nvPr/>
        </p:nvSpPr>
        <p:spPr>
          <a:xfrm>
            <a:off x="1674253" y="2730321"/>
            <a:ext cx="5550794" cy="1569660"/>
          </a:xfrm>
          <a:prstGeom prst="rect">
            <a:avLst/>
          </a:prstGeom>
          <a:solidFill>
            <a:schemeClr val="accent2"/>
          </a:solidFill>
          <a:ln>
            <a:solidFill>
              <a:schemeClr val="accent1"/>
            </a:solidFill>
          </a:ln>
        </p:spPr>
        <p:txBody>
          <a:bodyPr wrap="square" rtlCol="0">
            <a:spAutoFit/>
          </a:bodyPr>
          <a:lstStyle/>
          <a:p>
            <a:pPr algn="ctr"/>
            <a:r>
              <a:rPr lang="fr-FR" sz="9600" dirty="0" smtClean="0"/>
              <a:t>Merci</a:t>
            </a:r>
            <a:endParaRPr lang="fr-FR" sz="9600" dirty="0"/>
          </a:p>
        </p:txBody>
      </p:sp>
    </p:spTree>
    <p:extLst>
      <p:ext uri="{BB962C8B-B14F-4D97-AF65-F5344CB8AC3E}">
        <p14:creationId xmlns:p14="http://schemas.microsoft.com/office/powerpoint/2010/main" val="3213761398"/>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18731</TotalTime>
  <Words>1859</Words>
  <Application>Microsoft Office PowerPoint</Application>
  <PresentationFormat>On-screen Show (4:3)</PresentationFormat>
  <Paragraphs>232</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Thème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Jean Rony MEDY</dc:creator>
  <cp:lastModifiedBy>Reginald</cp:lastModifiedBy>
  <cp:revision>121</cp:revision>
  <dcterms:created xsi:type="dcterms:W3CDTF">2018-11-26T23:40:18Z</dcterms:created>
  <dcterms:modified xsi:type="dcterms:W3CDTF">2024-01-15T16:37:20Z</dcterms:modified>
</cp:coreProperties>
</file>